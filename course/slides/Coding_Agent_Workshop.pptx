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a6d8237eb34c98" /><Relationship Type="http://schemas.openxmlformats.org/officeDocument/2006/relationships/extended-properties" Target="/docProps/app.xml" Id="R9f7326af41ce4b78" /><Relationship Type="http://schemas.openxmlformats.org/officeDocument/2006/relationships/officeDocument" Target="/ppt/presentation.xml" Id="Raa0ea84b35e8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a21912e43643c6"/>
  </p:sldMasterIdLst>
  <p:notesMasterIdLst>
    <p:notesMasterId xmlns:r="http://schemas.openxmlformats.org/officeDocument/2006/relationships" r:id="Rcc8e3c60700044cb"/>
  </p:notesMasterIdLst>
  <p:sldIdLst>
    <p:sldId xmlns:r="http://schemas.openxmlformats.org/officeDocument/2006/relationships" id="256" r:id="Rb448d3d50ef74aea"/>
    <p:sldId xmlns:r="http://schemas.openxmlformats.org/officeDocument/2006/relationships" id="257" r:id="Rfb422c7fb0744b1d"/>
    <p:sldId xmlns:r="http://schemas.openxmlformats.org/officeDocument/2006/relationships" id="258" r:id="Rb0d173ed935c4289"/>
    <p:sldId xmlns:r="http://schemas.openxmlformats.org/officeDocument/2006/relationships" id="259" r:id="R89c1591976b945e1"/>
    <p:sldId xmlns:r="http://schemas.openxmlformats.org/officeDocument/2006/relationships" id="260" r:id="R27b56817b62e4fbe"/>
    <p:sldId xmlns:r="http://schemas.openxmlformats.org/officeDocument/2006/relationships" id="261" r:id="R3082fe3f11214d69"/>
    <p:sldId xmlns:r="http://schemas.openxmlformats.org/officeDocument/2006/relationships" id="262" r:id="R666fd5b6d0b24701"/>
    <p:sldId xmlns:r="http://schemas.openxmlformats.org/officeDocument/2006/relationships" id="263" r:id="R6a362b5a5746469c"/>
    <p:sldId xmlns:r="http://schemas.openxmlformats.org/officeDocument/2006/relationships" id="264" r:id="R8adc9c106b0c4614"/>
    <p:sldId xmlns:r="http://schemas.openxmlformats.org/officeDocument/2006/relationships" id="265" r:id="R8ab197d8b48a4f45"/>
    <p:sldId xmlns:r="http://schemas.openxmlformats.org/officeDocument/2006/relationships" id="266" r:id="Rd18dadae500e4f85"/>
    <p:sldId xmlns:r="http://schemas.openxmlformats.org/officeDocument/2006/relationships" id="267" r:id="R7e4dc44667cc45fb"/>
    <p:sldId xmlns:r="http://schemas.openxmlformats.org/officeDocument/2006/relationships" id="268" r:id="R8d2bc22b339141cc"/>
    <p:sldId xmlns:r="http://schemas.openxmlformats.org/officeDocument/2006/relationships" id="269" r:id="Rdde4c0d502c440d7"/>
    <p:sldId xmlns:r="http://schemas.openxmlformats.org/officeDocument/2006/relationships" id="270" r:id="Rea2d58a6e39046e0"/>
    <p:sldId xmlns:r="http://schemas.openxmlformats.org/officeDocument/2006/relationships" id="271" r:id="Radb3d9c7e1d04d50"/>
    <p:sldId xmlns:r="http://schemas.openxmlformats.org/officeDocument/2006/relationships" id="272" r:id="R362b64de083a498d"/>
    <p:sldId xmlns:r="http://schemas.openxmlformats.org/officeDocument/2006/relationships" id="273" r:id="R202f518faec647cb"/>
    <p:sldId xmlns:r="http://schemas.openxmlformats.org/officeDocument/2006/relationships" id="274" r:id="R585f8b43acde44be"/>
    <p:sldId xmlns:r="http://schemas.openxmlformats.org/officeDocument/2006/relationships" id="275" r:id="Refec2b67d6ad44e0"/>
    <p:sldId xmlns:r="http://schemas.openxmlformats.org/officeDocument/2006/relationships" id="276" r:id="Rf224373e83104b1e"/>
    <p:sldId xmlns:r="http://schemas.openxmlformats.org/officeDocument/2006/relationships" id="277" r:id="Rabdded1e1d2e4bd5"/>
    <p:sldId xmlns:r="http://schemas.openxmlformats.org/officeDocument/2006/relationships" id="278" r:id="R261303302b104269"/>
    <p:sldId xmlns:r="http://schemas.openxmlformats.org/officeDocument/2006/relationships" id="279" r:id="Rd22f123b83c7432b"/>
    <p:sldId xmlns:r="http://schemas.openxmlformats.org/officeDocument/2006/relationships" id="280" r:id="R23a60f701fb043b4"/>
    <p:sldId xmlns:r="http://schemas.openxmlformats.org/officeDocument/2006/relationships" id="281" r:id="Rd7c5f3a1c4aa4b58"/>
    <p:sldId xmlns:r="http://schemas.openxmlformats.org/officeDocument/2006/relationships" id="282" r:id="Rbed433034fe44e30"/>
    <p:sldId xmlns:r="http://schemas.openxmlformats.org/officeDocument/2006/relationships" id="283" r:id="R665879ea0e7c4ed4"/>
    <p:sldId xmlns:r="http://schemas.openxmlformats.org/officeDocument/2006/relationships" id="284" r:id="R8bf1c644eda04a71"/>
    <p:sldId xmlns:r="http://schemas.openxmlformats.org/officeDocument/2006/relationships" id="285" r:id="R9371390729d745ca"/>
    <p:sldId xmlns:r="http://schemas.openxmlformats.org/officeDocument/2006/relationships" id="286" r:id="Re8f711c2ef7141d6"/>
    <p:sldId xmlns:r="http://schemas.openxmlformats.org/officeDocument/2006/relationships" id="287" r:id="Rbd6141fd31404ce4"/>
    <p:sldId xmlns:r="http://schemas.openxmlformats.org/officeDocument/2006/relationships" id="288" r:id="Rb4d6d4783d0847aa"/>
    <p:sldId xmlns:r="http://schemas.openxmlformats.org/officeDocument/2006/relationships" id="289" r:id="Rbab9a87acebd4a0a"/>
    <p:sldId xmlns:r="http://schemas.openxmlformats.org/officeDocument/2006/relationships" id="290" r:id="Rd2d486773fb74295"/>
    <p:sldId xmlns:r="http://schemas.openxmlformats.org/officeDocument/2006/relationships" id="291" r:id="R0fd957dfaf824829"/>
    <p:sldId xmlns:r="http://schemas.openxmlformats.org/officeDocument/2006/relationships" id="292" r:id="R8f10e2f66c184308"/>
    <p:sldId xmlns:r="http://schemas.openxmlformats.org/officeDocument/2006/relationships" id="293" r:id="Re4deea4635484859"/>
    <p:sldId xmlns:r="http://schemas.openxmlformats.org/officeDocument/2006/relationships" id="294" r:id="R254d44b773334e27"/>
    <p:sldId xmlns:r="http://schemas.openxmlformats.org/officeDocument/2006/relationships" id="295" r:id="R3aad3fb2e8214a4a"/>
    <p:sldId xmlns:r="http://schemas.openxmlformats.org/officeDocument/2006/relationships" id="296" r:id="Ra339329d6f6040d4"/>
    <p:sldId xmlns:r="http://schemas.openxmlformats.org/officeDocument/2006/relationships" id="297" r:id="R1ac6c1f4df6f467a"/>
    <p:sldId xmlns:r="http://schemas.openxmlformats.org/officeDocument/2006/relationships" id="298" r:id="R5a7a2e7a60834a79"/>
    <p:sldId xmlns:r="http://schemas.openxmlformats.org/officeDocument/2006/relationships" id="299" r:id="R8f503cf8e0a54a36"/>
    <p:sldId xmlns:r="http://schemas.openxmlformats.org/officeDocument/2006/relationships" id="300" r:id="R810d085c98484f81"/>
    <p:sldId xmlns:r="http://schemas.openxmlformats.org/officeDocument/2006/relationships" id="301" r:id="R88944f85eb7d43cc"/>
    <p:sldId xmlns:r="http://schemas.openxmlformats.org/officeDocument/2006/relationships" id="302" r:id="R56f333f002874f0b"/>
    <p:sldId xmlns:r="http://schemas.openxmlformats.org/officeDocument/2006/relationships" id="303" r:id="R5ad6e4a2413242ed"/>
    <p:sldId xmlns:r="http://schemas.openxmlformats.org/officeDocument/2006/relationships" id="304" r:id="R4dddda7b5cf941f7"/>
    <p:sldId xmlns:r="http://schemas.openxmlformats.org/officeDocument/2006/relationships" id="305" r:id="R0c95bda4f8f54339"/>
    <p:sldId xmlns:r="http://schemas.openxmlformats.org/officeDocument/2006/relationships" id="306" r:id="R597333620aa7447d"/>
    <p:sldId xmlns:r="http://schemas.openxmlformats.org/officeDocument/2006/relationships" id="307" r:id="Re3782be62a094681"/>
    <p:sldId xmlns:r="http://schemas.openxmlformats.org/officeDocument/2006/relationships" id="308" r:id="R8324042678914f07"/>
    <p:sldId xmlns:r="http://schemas.openxmlformats.org/officeDocument/2006/relationships" id="309" r:id="Ra4c5b0c740a841a5"/>
    <p:sldId xmlns:r="http://schemas.openxmlformats.org/officeDocument/2006/relationships" id="310" r:id="R02932b7fedfd41ef"/>
    <p:sldId xmlns:r="http://schemas.openxmlformats.org/officeDocument/2006/relationships" id="311" r:id="R7941f694fa2a408e"/>
    <p:sldId xmlns:r="http://schemas.openxmlformats.org/officeDocument/2006/relationships" id="312" r:id="R4e305ae074b14c39"/>
    <p:sldId xmlns:r="http://schemas.openxmlformats.org/officeDocument/2006/relationships" id="313" r:id="R8013d6174aa242c3"/>
    <p:sldId xmlns:r="http://schemas.openxmlformats.org/officeDocument/2006/relationships" id="314" r:id="R78d71cea4d624c73"/>
    <p:sldId xmlns:r="http://schemas.openxmlformats.org/officeDocument/2006/relationships" id="315" r:id="R606e36f206f54138"/>
    <p:sldId xmlns:r="http://schemas.openxmlformats.org/officeDocument/2006/relationships" id="316" r:id="R60b319ed72524c8a"/>
    <p:sldId xmlns:r="http://schemas.openxmlformats.org/officeDocument/2006/relationships" id="317" r:id="R38531848e6244744"/>
    <p:sldId xmlns:r="http://schemas.openxmlformats.org/officeDocument/2006/relationships" id="318" r:id="R05e59017ccaf4ab6"/>
    <p:sldId xmlns:r="http://schemas.openxmlformats.org/officeDocument/2006/relationships" id="319" r:id="R887b9016fa764ad5"/>
    <p:sldId xmlns:r="http://schemas.openxmlformats.org/officeDocument/2006/relationships" id="320" r:id="R10d749dde9284fde"/>
    <p:sldId xmlns:r="http://schemas.openxmlformats.org/officeDocument/2006/relationships" id="321" r:id="R49fde2b12050425b"/>
    <p:sldId xmlns:r="http://schemas.openxmlformats.org/officeDocument/2006/relationships" id="322" r:id="Ra24bbac2c6cb4216"/>
    <p:sldId xmlns:r="http://schemas.openxmlformats.org/officeDocument/2006/relationships" id="323" r:id="R630993b40bed41d2"/>
    <p:sldId xmlns:r="http://schemas.openxmlformats.org/officeDocument/2006/relationships" id="324" r:id="R9e74bf8663c1480c"/>
    <p:sldId xmlns:r="http://schemas.openxmlformats.org/officeDocument/2006/relationships" id="325" r:id="Rdc854321473d4a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1bd2b995c4766" /><Relationship Type="http://schemas.openxmlformats.org/officeDocument/2006/relationships/slideMaster" Target="/ppt/slideMasters/slideMaster1.xml" Id="Re9a21912e43643c6" /><Relationship Type="http://schemas.openxmlformats.org/officeDocument/2006/relationships/notesMaster" Target="/ppt/notesMasters/notesMaster1.xml" Id="Rcc8e3c60700044cb" /><Relationship Type="http://schemas.openxmlformats.org/officeDocument/2006/relationships/presProps" Target="/ppt/presProps.xml" Id="R7b654d847b0a4b71" /><Relationship Type="http://schemas.openxmlformats.org/officeDocument/2006/relationships/tableStyles" Target="/ppt/tableStyles.xml" Id="Rb569d8ee4b654be4" /><Relationship Type="http://schemas.openxmlformats.org/officeDocument/2006/relationships/slide" Target="/ppt/slides/slide1.xml" Id="Rb448d3d50ef74aea" /><Relationship Type="http://schemas.openxmlformats.org/officeDocument/2006/relationships/slide" Target="/ppt/slides/slide2.xml" Id="Rfb422c7fb0744b1d" /><Relationship Type="http://schemas.openxmlformats.org/officeDocument/2006/relationships/slide" Target="/ppt/slides/slide3.xml" Id="Rb0d173ed935c4289" /><Relationship Type="http://schemas.openxmlformats.org/officeDocument/2006/relationships/slide" Target="/ppt/slides/slide4.xml" Id="R89c1591976b945e1" /><Relationship Type="http://schemas.openxmlformats.org/officeDocument/2006/relationships/slide" Target="/ppt/slides/slide5.xml" Id="R27b56817b62e4fbe" /><Relationship Type="http://schemas.openxmlformats.org/officeDocument/2006/relationships/slide" Target="/ppt/slides/slide6.xml" Id="R3082fe3f11214d69" /><Relationship Type="http://schemas.openxmlformats.org/officeDocument/2006/relationships/slide" Target="/ppt/slides/slide7.xml" Id="R666fd5b6d0b24701" /><Relationship Type="http://schemas.openxmlformats.org/officeDocument/2006/relationships/slide" Target="/ppt/slides/slide8.xml" Id="R6a362b5a5746469c" /><Relationship Type="http://schemas.openxmlformats.org/officeDocument/2006/relationships/slide" Target="/ppt/slides/slide9.xml" Id="R8adc9c106b0c4614" /><Relationship Type="http://schemas.openxmlformats.org/officeDocument/2006/relationships/slide" Target="/ppt/slides/slide10.xml" Id="R8ab197d8b48a4f45" /><Relationship Type="http://schemas.openxmlformats.org/officeDocument/2006/relationships/slide" Target="/ppt/slides/slide11.xml" Id="Rd18dadae500e4f85" /><Relationship Type="http://schemas.openxmlformats.org/officeDocument/2006/relationships/slide" Target="/ppt/slides/slide12.xml" Id="R7e4dc44667cc45fb" /><Relationship Type="http://schemas.openxmlformats.org/officeDocument/2006/relationships/slide" Target="/ppt/slides/slide13.xml" Id="R8d2bc22b339141cc" /><Relationship Type="http://schemas.openxmlformats.org/officeDocument/2006/relationships/slide" Target="/ppt/slides/slide14.xml" Id="Rdde4c0d502c440d7" /><Relationship Type="http://schemas.openxmlformats.org/officeDocument/2006/relationships/slide" Target="/ppt/slides/slide15.xml" Id="Rea2d58a6e39046e0" /><Relationship Type="http://schemas.openxmlformats.org/officeDocument/2006/relationships/slide" Target="/ppt/slides/slide16.xml" Id="Radb3d9c7e1d04d50" /><Relationship Type="http://schemas.openxmlformats.org/officeDocument/2006/relationships/slide" Target="/ppt/slides/slide17.xml" Id="R362b64de083a498d" /><Relationship Type="http://schemas.openxmlformats.org/officeDocument/2006/relationships/slide" Target="/ppt/slides/slide18.xml" Id="R202f518faec647cb" /><Relationship Type="http://schemas.openxmlformats.org/officeDocument/2006/relationships/slide" Target="/ppt/slides/slide19.xml" Id="R585f8b43acde44be" /><Relationship Type="http://schemas.openxmlformats.org/officeDocument/2006/relationships/slide" Target="/ppt/slides/slide20.xml" Id="Refec2b67d6ad44e0" /><Relationship Type="http://schemas.openxmlformats.org/officeDocument/2006/relationships/slide" Target="/ppt/slides/slide21.xml" Id="Rf224373e83104b1e" /><Relationship Type="http://schemas.openxmlformats.org/officeDocument/2006/relationships/slide" Target="/ppt/slides/slide22.xml" Id="Rabdded1e1d2e4bd5" /><Relationship Type="http://schemas.openxmlformats.org/officeDocument/2006/relationships/slide" Target="/ppt/slides/slide23.xml" Id="R261303302b104269" /><Relationship Type="http://schemas.openxmlformats.org/officeDocument/2006/relationships/slide" Target="/ppt/slides/slide24.xml" Id="Rd22f123b83c7432b" /><Relationship Type="http://schemas.openxmlformats.org/officeDocument/2006/relationships/slide" Target="/ppt/slides/slide25.xml" Id="R23a60f701fb043b4" /><Relationship Type="http://schemas.openxmlformats.org/officeDocument/2006/relationships/slide" Target="/ppt/slides/slide26.xml" Id="Rd7c5f3a1c4aa4b58" /><Relationship Type="http://schemas.openxmlformats.org/officeDocument/2006/relationships/slide" Target="/ppt/slides/slide27.xml" Id="Rbed433034fe44e30" /><Relationship Type="http://schemas.openxmlformats.org/officeDocument/2006/relationships/slide" Target="/ppt/slides/slide28.xml" Id="R665879ea0e7c4ed4" /><Relationship Type="http://schemas.openxmlformats.org/officeDocument/2006/relationships/slide" Target="/ppt/slides/slide29.xml" Id="R8bf1c644eda04a71" /><Relationship Type="http://schemas.openxmlformats.org/officeDocument/2006/relationships/slide" Target="/ppt/slides/slide30.xml" Id="R9371390729d745ca" /><Relationship Type="http://schemas.openxmlformats.org/officeDocument/2006/relationships/slide" Target="/ppt/slides/slide31.xml" Id="Re8f711c2ef7141d6" /><Relationship Type="http://schemas.openxmlformats.org/officeDocument/2006/relationships/slide" Target="/ppt/slides/slide32.xml" Id="Rbd6141fd31404ce4" /><Relationship Type="http://schemas.openxmlformats.org/officeDocument/2006/relationships/slide" Target="/ppt/slides/slide33.xml" Id="Rb4d6d4783d0847aa" /><Relationship Type="http://schemas.openxmlformats.org/officeDocument/2006/relationships/slide" Target="/ppt/slides/slide34.xml" Id="Rbab9a87acebd4a0a" /><Relationship Type="http://schemas.openxmlformats.org/officeDocument/2006/relationships/slide" Target="/ppt/slides/slide35.xml" Id="Rd2d486773fb74295" /><Relationship Type="http://schemas.openxmlformats.org/officeDocument/2006/relationships/slide" Target="/ppt/slides/slide36.xml" Id="R0fd957dfaf824829" /><Relationship Type="http://schemas.openxmlformats.org/officeDocument/2006/relationships/slide" Target="/ppt/slides/slide37.xml" Id="R8f10e2f66c184308" /><Relationship Type="http://schemas.openxmlformats.org/officeDocument/2006/relationships/slide" Target="/ppt/slides/slide38.xml" Id="Re4deea4635484859" /><Relationship Type="http://schemas.openxmlformats.org/officeDocument/2006/relationships/slide" Target="/ppt/slides/slide39.xml" Id="R254d44b773334e27" /><Relationship Type="http://schemas.openxmlformats.org/officeDocument/2006/relationships/slide" Target="/ppt/slides/slide40.xml" Id="R3aad3fb2e8214a4a" /><Relationship Type="http://schemas.openxmlformats.org/officeDocument/2006/relationships/slide" Target="/ppt/slides/slide41.xml" Id="Ra339329d6f6040d4" /><Relationship Type="http://schemas.openxmlformats.org/officeDocument/2006/relationships/slide" Target="/ppt/slides/slide42.xml" Id="R1ac6c1f4df6f467a" /><Relationship Type="http://schemas.openxmlformats.org/officeDocument/2006/relationships/slide" Target="/ppt/slides/slide43.xml" Id="R5a7a2e7a60834a79" /><Relationship Type="http://schemas.openxmlformats.org/officeDocument/2006/relationships/slide" Target="/ppt/slides/slide44.xml" Id="R8f503cf8e0a54a36" /><Relationship Type="http://schemas.openxmlformats.org/officeDocument/2006/relationships/slide" Target="/ppt/slides/slide45.xml" Id="R810d085c98484f81" /><Relationship Type="http://schemas.openxmlformats.org/officeDocument/2006/relationships/slide" Target="/ppt/slides/slide46.xml" Id="R88944f85eb7d43cc" /><Relationship Type="http://schemas.openxmlformats.org/officeDocument/2006/relationships/slide" Target="/ppt/slides/slide47.xml" Id="R56f333f002874f0b" /><Relationship Type="http://schemas.openxmlformats.org/officeDocument/2006/relationships/slide" Target="/ppt/slides/slide48.xml" Id="R5ad6e4a2413242ed" /><Relationship Type="http://schemas.openxmlformats.org/officeDocument/2006/relationships/slide" Target="/ppt/slides/slide49.xml" Id="R4dddda7b5cf941f7" /><Relationship Type="http://schemas.openxmlformats.org/officeDocument/2006/relationships/slide" Target="/ppt/slides/slide50.xml" Id="R0c95bda4f8f54339" /><Relationship Type="http://schemas.openxmlformats.org/officeDocument/2006/relationships/slide" Target="/ppt/slides/slide51.xml" Id="R597333620aa7447d" /><Relationship Type="http://schemas.openxmlformats.org/officeDocument/2006/relationships/slide" Target="/ppt/slides/slide52.xml" Id="Re3782be62a094681" /><Relationship Type="http://schemas.openxmlformats.org/officeDocument/2006/relationships/slide" Target="/ppt/slides/slide53.xml" Id="R8324042678914f07" /><Relationship Type="http://schemas.openxmlformats.org/officeDocument/2006/relationships/slide" Target="/ppt/slides/slide54.xml" Id="Ra4c5b0c740a841a5" /><Relationship Type="http://schemas.openxmlformats.org/officeDocument/2006/relationships/slide" Target="/ppt/slides/slide55.xml" Id="R02932b7fedfd41ef" /><Relationship Type="http://schemas.openxmlformats.org/officeDocument/2006/relationships/slide" Target="/ppt/slides/slide56.xml" Id="R7941f694fa2a408e" /><Relationship Type="http://schemas.openxmlformats.org/officeDocument/2006/relationships/slide" Target="/ppt/slides/slide57.xml" Id="R4e305ae074b14c39" /><Relationship Type="http://schemas.openxmlformats.org/officeDocument/2006/relationships/slide" Target="/ppt/slides/slide58.xml" Id="R8013d6174aa242c3" /><Relationship Type="http://schemas.openxmlformats.org/officeDocument/2006/relationships/slide" Target="/ppt/slides/slide59.xml" Id="R78d71cea4d624c73" /><Relationship Type="http://schemas.openxmlformats.org/officeDocument/2006/relationships/slide" Target="/ppt/slides/slide60.xml" Id="R606e36f206f54138" /><Relationship Type="http://schemas.openxmlformats.org/officeDocument/2006/relationships/slide" Target="/ppt/slides/slide61.xml" Id="R60b319ed72524c8a" /><Relationship Type="http://schemas.openxmlformats.org/officeDocument/2006/relationships/slide" Target="/ppt/slides/slide62.xml" Id="R38531848e6244744" /><Relationship Type="http://schemas.openxmlformats.org/officeDocument/2006/relationships/slide" Target="/ppt/slides/slide63.xml" Id="R05e59017ccaf4ab6" /><Relationship Type="http://schemas.openxmlformats.org/officeDocument/2006/relationships/slide" Target="/ppt/slides/slide64.xml" Id="R887b9016fa764ad5" /><Relationship Type="http://schemas.openxmlformats.org/officeDocument/2006/relationships/slide" Target="/ppt/slides/slide65.xml" Id="R10d749dde9284fde" /><Relationship Type="http://schemas.openxmlformats.org/officeDocument/2006/relationships/slide" Target="/ppt/slides/slide66.xml" Id="R49fde2b12050425b" /><Relationship Type="http://schemas.openxmlformats.org/officeDocument/2006/relationships/slide" Target="/ppt/slides/slide67.xml" Id="Ra24bbac2c6cb4216" /><Relationship Type="http://schemas.openxmlformats.org/officeDocument/2006/relationships/slide" Target="/ppt/slides/slide68.xml" Id="R630993b40bed41d2" /><Relationship Type="http://schemas.openxmlformats.org/officeDocument/2006/relationships/slide" Target="/ppt/slides/slide69.xml" Id="R9e74bf8663c1480c" /><Relationship Type="http://schemas.openxmlformats.org/officeDocument/2006/relationships/slide" Target="/ppt/slides/slide70.xml" Id="Rdc854321473d4a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230c272b84a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147054be114680" /><Relationship Type="http://schemas.openxmlformats.org/officeDocument/2006/relationships/notesMaster" Target="/ppt/notesMasters/notesMaster1.xml" Id="R08b2b2ce39bf43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c08745150b4ca5" /><Relationship Type="http://schemas.openxmlformats.org/officeDocument/2006/relationships/notesMaster" Target="/ppt/notesMasters/notesMaster1.xml" Id="R6163462b26c84f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2e66f29a004460" /><Relationship Type="http://schemas.openxmlformats.org/officeDocument/2006/relationships/notesMaster" Target="/ppt/notesMasters/notesMaster1.xml" Id="Rca280b041dc048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093fdf15674bb7" /><Relationship Type="http://schemas.openxmlformats.org/officeDocument/2006/relationships/notesMaster" Target="/ppt/notesMasters/notesMaster1.xml" Id="Rff107b493e354c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47c5fc5e6f4771" /><Relationship Type="http://schemas.openxmlformats.org/officeDocument/2006/relationships/notesMaster" Target="/ppt/notesMasters/notesMaster1.xml" Id="R7bafdc06568649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eb7488db2c463a" /><Relationship Type="http://schemas.openxmlformats.org/officeDocument/2006/relationships/notesMaster" Target="/ppt/notesMasters/notesMaster1.xml" Id="Re76b7a93ed384c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fa007a591640f8" /><Relationship Type="http://schemas.openxmlformats.org/officeDocument/2006/relationships/notesMaster" Target="/ppt/notesMasters/notesMaster1.xml" Id="Rde9b08ad2e0344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f48909930d4e8e" /><Relationship Type="http://schemas.openxmlformats.org/officeDocument/2006/relationships/notesMaster" Target="/ppt/notesMasters/notesMaster1.xml" Id="R81cd9d1d804943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5c7d41100f417b" /><Relationship Type="http://schemas.openxmlformats.org/officeDocument/2006/relationships/notesMaster" Target="/ppt/notesMasters/notesMaster1.xml" Id="Rc0f349b0165744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4945d19cdd48b9" /><Relationship Type="http://schemas.openxmlformats.org/officeDocument/2006/relationships/notesMaster" Target="/ppt/notesMasters/notesMaster1.xml" Id="Rb97824c6cb8244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226b7004d04ab5" /><Relationship Type="http://schemas.openxmlformats.org/officeDocument/2006/relationships/notesMaster" Target="/ppt/notesMasters/notesMaster1.xml" Id="R216bda75b73541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ab5a786d194b74" /><Relationship Type="http://schemas.openxmlformats.org/officeDocument/2006/relationships/notesMaster" Target="/ppt/notesMasters/notesMaster1.xml" Id="Rb1456d59987049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9c1a1ec4a549d4" /><Relationship Type="http://schemas.openxmlformats.org/officeDocument/2006/relationships/notesMaster" Target="/ppt/notesMasters/notesMaster1.xml" Id="R77a8690e0f234f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fd38dcb5284c76" /><Relationship Type="http://schemas.openxmlformats.org/officeDocument/2006/relationships/notesMaster" Target="/ppt/notesMasters/notesMaster1.xml" Id="R27afb552d2ad4e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d468d5478943fb" /><Relationship Type="http://schemas.openxmlformats.org/officeDocument/2006/relationships/notesMaster" Target="/ppt/notesMasters/notesMaster1.xml" Id="Rfea599a13a7d4d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2f03f7d8d5489e" /><Relationship Type="http://schemas.openxmlformats.org/officeDocument/2006/relationships/notesMaster" Target="/ppt/notesMasters/notesMaster1.xml" Id="R9ed9f77bb10046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118e42f0cf4d19" /><Relationship Type="http://schemas.openxmlformats.org/officeDocument/2006/relationships/notesMaster" Target="/ppt/notesMasters/notesMaster1.xml" Id="R5e059055aad04e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0dac61d428476e" /><Relationship Type="http://schemas.openxmlformats.org/officeDocument/2006/relationships/notesMaster" Target="/ppt/notesMasters/notesMaster1.xml" Id="R99df757626174b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ea85a96d4d4f78" /><Relationship Type="http://schemas.openxmlformats.org/officeDocument/2006/relationships/notesMaster" Target="/ppt/notesMasters/notesMaster1.xml" Id="R4c3443b4c56b4c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e8a267f3fe4b2b" /><Relationship Type="http://schemas.openxmlformats.org/officeDocument/2006/relationships/notesMaster" Target="/ppt/notesMasters/notesMaster1.xml" Id="Rb24b554db604456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dbd647ee784631" /><Relationship Type="http://schemas.openxmlformats.org/officeDocument/2006/relationships/notesMaster" Target="/ppt/notesMasters/notesMaster1.xml" Id="R282b23355b084a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89862036e54aee" /><Relationship Type="http://schemas.openxmlformats.org/officeDocument/2006/relationships/notesMaster" Target="/ppt/notesMasters/notesMaster1.xml" Id="Ra9d1d6423ef242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d5c3997dbc4685" /><Relationship Type="http://schemas.openxmlformats.org/officeDocument/2006/relationships/notesMaster" Target="/ppt/notesMasters/notesMaster1.xml" Id="R70d66b5a514a471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422d8a5f3f41b5" /><Relationship Type="http://schemas.openxmlformats.org/officeDocument/2006/relationships/notesMaster" Target="/ppt/notesMasters/notesMaster1.xml" Id="R1f0f3439ad134d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7ae5a2e0b1c4638" /><Relationship Type="http://schemas.openxmlformats.org/officeDocument/2006/relationships/notesMaster" Target="/ppt/notesMasters/notesMaster1.xml" Id="R4c0985bdc65146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410c5df3a944dd" /><Relationship Type="http://schemas.openxmlformats.org/officeDocument/2006/relationships/notesMaster" Target="/ppt/notesMasters/notesMaster1.xml" Id="R90642116a9024af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2c5dedfba744d32" /><Relationship Type="http://schemas.openxmlformats.org/officeDocument/2006/relationships/notesMaster" Target="/ppt/notesMasters/notesMaster1.xml" Id="Ra5d3d7e6a3864e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3223696a7454058" /><Relationship Type="http://schemas.openxmlformats.org/officeDocument/2006/relationships/notesMaster" Target="/ppt/notesMasters/notesMaster1.xml" Id="R0fa88055b3ef463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dd525c814a744d4" /><Relationship Type="http://schemas.openxmlformats.org/officeDocument/2006/relationships/notesMaster" Target="/ppt/notesMasters/notesMaster1.xml" Id="Rdb2eebdcb7d947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aa1f1b005914ca5" /><Relationship Type="http://schemas.openxmlformats.org/officeDocument/2006/relationships/notesMaster" Target="/ppt/notesMasters/notesMaster1.xml" Id="Rb296f596dc32424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509e727bddb43af" /><Relationship Type="http://schemas.openxmlformats.org/officeDocument/2006/relationships/notesMaster" Target="/ppt/notesMasters/notesMaster1.xml" Id="Refa7598c0a4c4b5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227f251ea2e40f9" /><Relationship Type="http://schemas.openxmlformats.org/officeDocument/2006/relationships/notesMaster" Target="/ppt/notesMasters/notesMaster1.xml" Id="R3a50023895994c0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de48e741c9d4185" /><Relationship Type="http://schemas.openxmlformats.org/officeDocument/2006/relationships/notesMaster" Target="/ppt/notesMasters/notesMaster1.xml" Id="Re86ce22ca6cc423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134d913046849e3" /><Relationship Type="http://schemas.openxmlformats.org/officeDocument/2006/relationships/notesMaster" Target="/ppt/notesMasters/notesMaster1.xml" Id="R978a04251877481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da3209be37148a7" /><Relationship Type="http://schemas.openxmlformats.org/officeDocument/2006/relationships/notesMaster" Target="/ppt/notesMasters/notesMaster1.xml" Id="Rc812c5de3b5a4f5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4c1697c340a4d5a" /><Relationship Type="http://schemas.openxmlformats.org/officeDocument/2006/relationships/notesMaster" Target="/ppt/notesMasters/notesMaster1.xml" Id="Rf60d52d45df04db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83862b986664e4c" /><Relationship Type="http://schemas.openxmlformats.org/officeDocument/2006/relationships/notesMaster" Target="/ppt/notesMasters/notesMaster1.xml" Id="R8a5e86e414a3496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e1d461fea7a44fd" /><Relationship Type="http://schemas.openxmlformats.org/officeDocument/2006/relationships/notesMaster" Target="/ppt/notesMasters/notesMaster1.xml" Id="R1de9d5e30a4b4f7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d0586e204f6420f" /><Relationship Type="http://schemas.openxmlformats.org/officeDocument/2006/relationships/notesMaster" Target="/ppt/notesMasters/notesMaster1.xml" Id="Rb0a3bc211f304c4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e0320d8f24b4a20" /><Relationship Type="http://schemas.openxmlformats.org/officeDocument/2006/relationships/notesMaster" Target="/ppt/notesMasters/notesMaster1.xml" Id="R40ff4fa96c6b435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c780c9232b94b77" /><Relationship Type="http://schemas.openxmlformats.org/officeDocument/2006/relationships/notesMaster" Target="/ppt/notesMasters/notesMaster1.xml" Id="Re7a3edf57cb647d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0042bfa5e714e96" /><Relationship Type="http://schemas.openxmlformats.org/officeDocument/2006/relationships/notesMaster" Target="/ppt/notesMasters/notesMaster1.xml" Id="R24f03846406e458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af8314eaf5146e1" /><Relationship Type="http://schemas.openxmlformats.org/officeDocument/2006/relationships/notesMaster" Target="/ppt/notesMasters/notesMaster1.xml" Id="R7e54eacbf6b14d5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4a52954a971441c" /><Relationship Type="http://schemas.openxmlformats.org/officeDocument/2006/relationships/notesMaster" Target="/ppt/notesMasters/notesMaster1.xml" Id="R03f40ced5ecb4b2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7e7478095334fa2" /><Relationship Type="http://schemas.openxmlformats.org/officeDocument/2006/relationships/notesMaster" Target="/ppt/notesMasters/notesMaster1.xml" Id="R30350588eb4c44a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ce5354bb2324581" /><Relationship Type="http://schemas.openxmlformats.org/officeDocument/2006/relationships/notesMaster" Target="/ppt/notesMasters/notesMaster1.xml" Id="R518990173268460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625d36c495c4c6f" /><Relationship Type="http://schemas.openxmlformats.org/officeDocument/2006/relationships/notesMaster" Target="/ppt/notesMasters/notesMaster1.xml" Id="R62c8c60ec37746a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ccac856fc424b8b" /><Relationship Type="http://schemas.openxmlformats.org/officeDocument/2006/relationships/notesMaster" Target="/ppt/notesMasters/notesMaster1.xml" Id="Rfe4e1077c6f64e5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eb541bf2c0f4a25" /><Relationship Type="http://schemas.openxmlformats.org/officeDocument/2006/relationships/notesMaster" Target="/ppt/notesMasters/notesMaster1.xml" Id="Rf2e62b6ebb914d8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7a09d55155d4160" /><Relationship Type="http://schemas.openxmlformats.org/officeDocument/2006/relationships/notesMaster" Target="/ppt/notesMasters/notesMaster1.xml" Id="Rbbc2293fe5524b5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af35412beab49e7" /><Relationship Type="http://schemas.openxmlformats.org/officeDocument/2006/relationships/notesMaster" Target="/ppt/notesMasters/notesMaster1.xml" Id="R4ac4fcf5626f4af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305209b77cc403d" /><Relationship Type="http://schemas.openxmlformats.org/officeDocument/2006/relationships/notesMaster" Target="/ppt/notesMasters/notesMaster1.xml" Id="R38bb5e84068c4ca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747e33708f94996" /><Relationship Type="http://schemas.openxmlformats.org/officeDocument/2006/relationships/notesMaster" Target="/ppt/notesMasters/notesMaster1.xml" Id="Rb78bbe08e9f4469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9773b855f4f49aa" /><Relationship Type="http://schemas.openxmlformats.org/officeDocument/2006/relationships/notesMaster" Target="/ppt/notesMasters/notesMaster1.xml" Id="R85dcf6c1df9d494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e933f5dae1b4e28" /><Relationship Type="http://schemas.openxmlformats.org/officeDocument/2006/relationships/notesMaster" Target="/ppt/notesMasters/notesMaster1.xml" Id="R89d018346fa74b5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eb125a30d0b472f" /><Relationship Type="http://schemas.openxmlformats.org/officeDocument/2006/relationships/notesMaster" Target="/ppt/notesMasters/notesMaster1.xml" Id="R0504787c9a82461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bf85f914766443e" /><Relationship Type="http://schemas.openxmlformats.org/officeDocument/2006/relationships/notesMaster" Target="/ppt/notesMasters/notesMaster1.xml" Id="Rfdfd20ab05394ad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8c0701e8a0d4388" /><Relationship Type="http://schemas.openxmlformats.org/officeDocument/2006/relationships/notesMaster" Target="/ppt/notesMasters/notesMaster1.xml" Id="R9036a8bb227741c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2a222963ca243e3" /><Relationship Type="http://schemas.openxmlformats.org/officeDocument/2006/relationships/notesMaster" Target="/ppt/notesMasters/notesMaster1.xml" Id="Rfd1a5ef04e6d4fe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9d57fb2f5eb423f" /><Relationship Type="http://schemas.openxmlformats.org/officeDocument/2006/relationships/notesMaster" Target="/ppt/notesMasters/notesMaster1.xml" Id="R00b2846a56a8405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7234417aeab427b" /><Relationship Type="http://schemas.openxmlformats.org/officeDocument/2006/relationships/notesMaster" Target="/ppt/notesMasters/notesMaster1.xml" Id="R4bd26f32b3c545f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fdb0d8499cc420a" /><Relationship Type="http://schemas.openxmlformats.org/officeDocument/2006/relationships/notesMaster" Target="/ppt/notesMasters/notesMaster1.xml" Id="R310e7592f23e4b0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6afed4dc96f4570" /><Relationship Type="http://schemas.openxmlformats.org/officeDocument/2006/relationships/notesMaster" Target="/ppt/notesMasters/notesMaster1.xml" Id="Rdd9246a9f8b8434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3a33e479de04d7e" /><Relationship Type="http://schemas.openxmlformats.org/officeDocument/2006/relationships/notesMaster" Target="/ppt/notesMasters/notesMaster1.xml" Id="R1862ef8fe6af46f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44569dcd1854286" /><Relationship Type="http://schemas.openxmlformats.org/officeDocument/2006/relationships/notesMaster" Target="/ppt/notesMasters/notesMaster1.xml" Id="R17ba7c9b14c6497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bc70ef6131a457d" /><Relationship Type="http://schemas.openxmlformats.org/officeDocument/2006/relationships/notesMaster" Target="/ppt/notesMasters/notesMaster1.xml" Id="R1a46386ca132453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427cf6a35d240ff" /><Relationship Type="http://schemas.openxmlformats.org/officeDocument/2006/relationships/notesMaster" Target="/ppt/notesMasters/notesMaster1.xml" Id="Re858de59ce4a48e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7b378e5cd3547df" /><Relationship Type="http://schemas.openxmlformats.org/officeDocument/2006/relationships/notesMaster" Target="/ppt/notesMasters/notesMaster1.xml" Id="Rf3ce11af52e740d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6fb51cf841234f21" /><Relationship Type="http://schemas.openxmlformats.org/officeDocument/2006/relationships/notesMaster" Target="/ppt/notesMasters/notesMaster1.xml" Id="R6c2a1ddceba9425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9de426614a24f23" /><Relationship Type="http://schemas.openxmlformats.org/officeDocument/2006/relationships/notesMaster" Target="/ppt/notesMasters/notesMaster1.xml" Id="R10c24899f3b540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end state: a repair trace whose claims can be checked.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https://openrouter.ai/docs/quickstart</a:t>
            </a:r>
          </a:p>
          <a:p xmlns:a="http://schemas.openxmlformats.org/drawingml/2006/main">
            <a:r>
              <a:t>- https://openrouter.ai/docs/guides/overview/models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a show-of-hands vote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https://openrouter.ai/docs/quickstart</a:t>
            </a:r>
          </a:p>
          <a:p xmlns:a="http://schemas.openxmlformats.org/drawingml/2006/main">
            <a:r>
              <a:t>- https://openrouter.ai/docs/guides/overview/models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one request across both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https://openrouter.ai/docs/quickstart</a:t>
            </a:r>
          </a:p>
          <a:p xmlns:a="http://schemas.openxmlformats.org/drawingml/2006/main">
            <a:r>
              <a:t>- https://openrouter.ai/docs/guides/overview/models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live access is an extension, not a prerequisite.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https://openrouter.ai/docs/quickstart</a:t>
            </a:r>
          </a:p>
          <a:p xmlns:a="http://schemas.openxmlformats.org/drawingml/2006/main">
            <a:r>
              <a:t>- https://openrouter.ai/docs/guides/overview/models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fields in order; do not explain the implementation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https://openrouter.ai/docs/quickstart</a:t>
            </a:r>
          </a:p>
          <a:p xmlns:a="http://schemas.openxmlformats.org/drawingml/2006/main">
            <a:r>
              <a:t>- https://openrouter.ai/docs/guides/overview/models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name the layer before proposing a fix.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https://openrouter.ai/docs/quickstart</a:t>
            </a:r>
          </a:p>
          <a:p xmlns:a="http://schemas.openxmlformats.org/drawingml/2006/main">
            <a:r>
              <a:t>- https://openrouter.ai/docs/guides/overview/models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the file before class, but never send its contents.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https://www.nature.com/articles/s41586-026-10549-w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serialized request and ask learners to locate the secret bytes.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https://www.nature.com/articles/s41586-026-10549-w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semantic reference from operating-system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https://www.nature.com/articles/s41586-026-10549-w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learners classify three statements from the demo transcript.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https://www.nature.com/articles/s41586-026-10549-w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two-call experiment with the scripted client.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https://www.nature.com/articles/s41586-026-10549-w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one message at a time and ask what breaks if it is removed.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https://www.nature.com/articles/s41586-026-10549-w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verb to a concrete trace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https://www.nature.com/articles/s41586-026-10549-w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trace: learners circle the first tool-result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https://www.nature.com/articles/s41586-026-10549-w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Vote first; reveal by comparing two deterministic traces.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https://developers.openai.com/api/docs/guides/latest-model</a:t>
            </a:r>
          </a:p>
          <a:p xmlns:a="http://schemas.openxmlformats.org/drawingml/2006/main">
            <a:r>
              <a:t>- https://openrouter.ai/docs/agent-sdk/call-model/message-formats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color verbally per role; the deck uses chapter accent for the active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https://developers.openai.com/api/docs/guides/latest-model</a:t>
            </a:r>
          </a:p>
          <a:p xmlns:a="http://schemas.openxmlformats.org/drawingml/2006/main">
            <a:r>
              <a:t>- https://openrouter.ai/docs/agent-sdk/call-model/message-formats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each block to a trace assertion.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https://developers.openai.com/api/docs/guides/latest-model</a:t>
            </a:r>
          </a:p>
          <a:p xmlns:a="http://schemas.openxmlformats.org/drawingml/2006/main">
            <a:r>
              <a:t>- https://openrouter.ai/docs/agent-sdk/call-model/message-formats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right-side phrase can be tested automatically.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https://developers.openai.com/api/docs/guides/latest-model</a:t>
            </a:r>
          </a:p>
          <a:p xmlns:a="http://schemas.openxmlformats.org/drawingml/2006/main">
            <a:r>
              <a:t>- https://openrouter.ai/docs/agent-sdk/call-model/message-formats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provider/model configuration fixed during the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https://developers.openai.com/api/docs/guides/latest-model</a:t>
            </a:r>
          </a:p>
          <a:p xmlns:a="http://schemas.openxmlformats.org/drawingml/2006/main">
            <a:r>
              <a:t>- https://openrouter.ai/docs/agent-sdk/call-model/message-formats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collapse the result into a prose quality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https://developers.openai.com/api/docs/guides/latest-model</a:t>
            </a:r>
          </a:p>
          <a:p xmlns:a="http://schemas.openxmlformats.org/drawingml/2006/main">
            <a:r>
              <a:t>- https://openrouter.ai/docs/agent-sdk/call-model/message-formats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answer as a security boundary, not a prompt-writing trick.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https://developers.openai.com/api/docs/guides/latest-model</a:t>
            </a:r>
          </a:p>
          <a:p xmlns:a="http://schemas.openxmlformats.org/drawingml/2006/main">
            <a:r>
              <a:t>- https://openrouter.ai/docs/agent-sdk/call-model/message-formats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locating every claim in an enforcement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https://developers.openai.com/api/docs/guides/latest-model</a:t>
            </a:r>
          </a:p>
          <a:p xmlns:a="http://schemas.openxmlformats.org/drawingml/2006/main">
            <a:r>
              <a:t>- https://openrouter.ai/docs/agent-sdk/call-model/message-formats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unchanged-file evidence alongside the raw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https://json-schema.org/understanding-json-schema/reference/object</a:t>
            </a:r>
          </a:p>
          <a:p xmlns:a="http://schemas.openxmlformats.org/drawingml/2006/main">
            <a:r>
              <a:t>- https://openrouter.ai/docs/guides/features/tool-calling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object can change the machine.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https://json-schema.org/understanding-json-schema/reference/object</a:t>
            </a:r>
          </a:p>
          <a:p xmlns:a="http://schemas.openxmlformats.org/drawingml/2006/main">
            <a:r>
              <a:t>- https://openrouter.ai/docs/guides/features/tool-calling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Annotate one line at a time; defer authorization to the next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https://json-schema.org/understanding-json-schema/reference/object</a:t>
            </a:r>
          </a:p>
          <a:p xmlns:a="http://schemas.openxmlformats.org/drawingml/2006/main">
            <a:r>
              <a:t>- https://openrouter.ai/docs/guides/features/tool-calling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path versus paht and compare failure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https://json-schema.org/understanding-json-schema/reference/object</a:t>
            </a:r>
          </a:p>
          <a:p xmlns:a="http://schemas.openxmlformats.org/drawingml/2006/main">
            <a:r>
              <a:t>- https://openrouter.ai/docs/guides/features/tool-calling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single place provider field names are translated.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https://json-schema.org/understanding-json-schema/reference/object</a:t>
            </a:r>
          </a:p>
          <a:p xmlns:a="http://schemas.openxmlformats.org/drawingml/2006/main">
            <a:r>
              <a:t>- https://openrouter.ai/docs/guides/features/tool-calling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name the error stage: parse, validate, authorize, or execute.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https://json-schema.org/understanding-json-schema/reference/object</a:t>
            </a:r>
          </a:p>
          <a:p xmlns:a="http://schemas.openxmlformats.org/drawingml/2006/main">
            <a:r>
              <a:t>- https://openrouter.ai/docs/guides/features/tool-calling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table separates structural validity from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https://json-schema.org/understanding-json-schema/reference/object</a:t>
            </a:r>
          </a:p>
          <a:p xmlns:a="http://schemas.openxmlformats.org/drawingml/2006/main">
            <a:r>
              <a:t>- https://openrouter.ai/docs/guides/features/tool-calling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learners point to the unchanged file plus absence of a tool-result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https://json-schema.org/understanding-json-schema/reference/object</a:t>
            </a:r>
          </a:p>
          <a:p xmlns:a="http://schemas.openxmlformats.org/drawingml/2006/main">
            <a:r>
              <a:t>- https://openrouter.ai/docs/guides/features/tool-calling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synthetic string only; never execute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an enum makes the command surface reviewable.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at each arrow and ask what can still go wrong.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error details useful but redacted and bounded.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one ID in the demo and let validation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transport/tool outcome from child-process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stack bottom-up, then evaluate the final claim top-down.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platform-specific path examples without assuming separators.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bound to a concrete failure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lab acceptance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https://learn.microsoft.com/en-us/windows/win32/api/processthreadsapi/nf-processthreadsapi-createprocessw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name the next history item.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pseudocode; implementation details remain in the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learners spot an intentionally reordered transcript.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failure each limit contains.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legitimate reinspection with thrashing.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where the reset belongs.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trace until the first edit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why the first green build cannot end the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each pathology to one observable trace 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learners to cite event IDs, not summarize from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- https://openrouter.ai/docs/guides/features/tool-calling</a:t>
            </a:r>
          </a:p>
          <a:p xmlns:a="http://schemas.openxmlformats.org/drawingml/2006/main">
            <a:r>
              <a:t>- https://openrouter.ai/docs/api/reference/errors-and-debugging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alternate turn definitions only if learners state them explicitly.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https://openrouter.ai/docs/cookbook/administration/usage-accounting</a:t>
            </a:r>
          </a:p>
          <a:p xmlns:a="http://schemas.openxmlformats.org/drawingml/2006/main">
            <a:r>
              <a:t>- https://openrouter.ai/docs/guides/best-practices/prompt-caching</a:t>
            </a:r>
          </a:p>
          <a:p xmlns:a="http://schemas.openxmlformats.org/drawingml/2006/main">
            <a:r>
              <a:t>- https://openrouter.ai/docs/guides/features/message-transforms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illustrative trace counts, not provider billing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https://openrouter.ai/docs/cookbook/administration/usage-accounting</a:t>
            </a:r>
          </a:p>
          <a:p xmlns:a="http://schemas.openxmlformats.org/drawingml/2006/main">
            <a:r>
              <a:t>- https://openrouter.ai/docs/guides/best-practices/prompt-caching</a:t>
            </a:r>
          </a:p>
          <a:p xmlns:a="http://schemas.openxmlformats.org/drawingml/2006/main">
            <a:r>
              <a:t>- https://openrouter.ai/docs/guides/features/message-transforms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total transmitted context can exceed final history length.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https://openrouter.ai/docs/cookbook/administration/usage-accounting</a:t>
            </a:r>
          </a:p>
          <a:p xmlns:a="http://schemas.openxmlformats.org/drawingml/2006/main">
            <a:r>
              <a:t>- https://openrouter.ai/docs/guides/best-practices/prompt-caching</a:t>
            </a:r>
          </a:p>
          <a:p xmlns:a="http://schemas.openxmlformats.org/drawingml/2006/main">
            <a:r>
              <a:t>- https://openrouter.ai/docs/guides/features/message-transforms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prompt retention from audit retention.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https://openrouter.ai/docs/cookbook/administration/usage-accounting</a:t>
            </a:r>
          </a:p>
          <a:p xmlns:a="http://schemas.openxmlformats.org/drawingml/2006/main">
            <a:r>
              <a:t>- https://openrouter.ai/docs/guides/best-practices/prompt-caching</a:t>
            </a:r>
          </a:p>
          <a:p xmlns:a="http://schemas.openxmlformats.org/drawingml/2006/main">
            <a:r>
              <a:t>- https://openrouter.ai/docs/guides/features/message-transforms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hierarchy as a concrete compaction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https://openrouter.ai/docs/cookbook/administration/usage-accounting</a:t>
            </a:r>
          </a:p>
          <a:p xmlns:a="http://schemas.openxmlformats.org/drawingml/2006/main">
            <a:r>
              <a:t>- https://openrouter.ai/docs/guides/best-practices/prompt-caching</a:t>
            </a:r>
          </a:p>
          <a:p xmlns:a="http://schemas.openxmlformats.org/drawingml/2006/main">
            <a:r>
              <a:t>- https://openrouter.ai/docs/guides/features/message-transforms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check: label usage as provider-reported or synthetic.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https://developers.openai.com/api/docs/guides/conversation-state</a:t>
            </a:r>
          </a:p>
          <a:p xmlns:a="http://schemas.openxmlformats.org/drawingml/2006/main">
            <a:r>
              <a:t>- https://openrouter.ai/docs/cookbook/administration/usage-accounting</a:t>
            </a:r>
          </a:p>
          <a:p xmlns:a="http://schemas.openxmlformats.org/drawingml/2006/main">
            <a:r>
              <a:t>- https://openrouter.ai/docs/guides/best-practices/prompt-caching</a:t>
            </a:r>
          </a:p>
          <a:p xmlns:a="http://schemas.openxmlformats.org/drawingml/2006/main">
            <a:r>
              <a:t>- https://openrouter.ai/docs/guides/features/message-transforms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direct-call test; do not rely on model refusal.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https://developers.openai.com/api/docs/guides/evaluation-best-practices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https://openrouter.ai/docs/guides/features/input-output-logging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the synthetic private file was never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https://developers.openai.com/api/docs/guides/evaluation-best-practices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https://openrouter.ai/docs/guides/features/input-output-logging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 threat map as a single prompt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https://developers.openai.com/api/docs/guides/evaluation-best-practices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https://openrouter.ai/docs/guides/features/input-output-logging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layer still matters after another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https://developers.openai.com/api/docs/guides/evaluation-best-practices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https://openrouter.ai/docs/guides/features/input-output-logging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sequence as a review ladder, not an automatic permission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https://developers.openai.com/api/docs/guides/evaluation-best-practices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https://openrouter.ai/docs/guides/features/input-output-logging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absolute safety; identify the blocked path and residual risks.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https://developers.openai.com/api/docs/guides/evaluation-best-practices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https://openrouter.ai/docs/guides/features/input-output-logging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Turn one safety requirement into all five 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https://developers.openai.com/api/docs/guides/evaluation-best-practices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https://openrouter.ai/docs/guides/features/input-output-logging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an operator/auditor swap and one new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https://developers.openai.com/api/docs/guides/evaluation-best-practices</a:t>
            </a:r>
          </a:p>
          <a:p xmlns:a="http://schemas.openxmlformats.org/drawingml/2006/main">
            <a:r>
              <a:t>- https://genai.owasp.org/llmrisk/llm052025-improper-output-handling/</a:t>
            </a:r>
          </a:p>
          <a:p xmlns:a="http://schemas.openxmlformats.org/drawingml/2006/main">
            <a:r>
              <a:t>- https://genai.owasp.org/llmrisk/llm062025-excessive-agency/</a:t>
            </a:r>
          </a:p>
          <a:p xmlns:a="http://schemas.openxmlformats.org/drawingml/2006/main">
            <a:r>
              <a:t>- https://openrouter.ai/docs/guides/features/input-output-logging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Dispel the science-fiction framing before the capstone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https://genai.owasp.org/resource/securing-agentic-applications-guide-1-0/</a:t>
            </a:r>
          </a:p>
          <a:p xmlns:a="http://schemas.openxmlformats.org/drawingml/2006/main">
            <a:r>
              <a:t>- https://git-scm.com/docs/git-diff</a:t>
            </a:r>
          </a:p>
          <a:p xmlns:a="http://schemas.openxmlformats.org/drawingml/2006/main">
            <a:r>
              <a:t>- https://git-scm.com/docs/git-worktree.html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Identify which step can be discarded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https://genai.owasp.org/resource/securing-agentic-applications-guide-1-0/</a:t>
            </a:r>
          </a:p>
          <a:p xmlns:a="http://schemas.openxmlformats.org/drawingml/2006/main">
            <a:r>
              <a:t>- https://git-scm.com/docs/git-diff</a:t>
            </a:r>
          </a:p>
          <a:p xmlns:a="http://schemas.openxmlformats.org/drawingml/2006/main">
            <a:r>
              <a:t>- https://git-scm.com/docs/git-worktree.html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Learners trace list_files through all five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https://genai.owasp.org/resource/securing-agentic-applications-guide-1-0/</a:t>
            </a:r>
          </a:p>
          <a:p xmlns:a="http://schemas.openxmlformats.org/drawingml/2006/main">
            <a:r>
              <a:t>- https://git-scm.com/docs/git-diff</a:t>
            </a:r>
          </a:p>
          <a:p xmlns:a="http://schemas.openxmlformats.org/drawingml/2006/main">
            <a:r>
              <a:t>- https://git-scm.com/docs/git-worktree.html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the smallest focused test that adds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https://genai.owasp.org/resource/securing-agentic-applications-guide-1-0/</a:t>
            </a:r>
          </a:p>
          <a:p xmlns:a="http://schemas.openxmlformats.org/drawingml/2006/main">
            <a:r>
              <a:t>- https://git-scm.com/docs/git-diff</a:t>
            </a:r>
          </a:p>
          <a:p xmlns:a="http://schemas.openxmlformats.org/drawingml/2006/main">
            <a:r>
              <a:t>- https://git-scm.com/docs/git-worktree.html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skip lower rungs; each answers a different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https://genai.owasp.org/resource/securing-agentic-applications-guide-1-0/</a:t>
            </a:r>
          </a:p>
          <a:p xmlns:a="http://schemas.openxmlformats.org/drawingml/2006/main">
            <a:r>
              <a:t>- https://git-scm.com/docs/git-diff</a:t>
            </a:r>
          </a:p>
          <a:p xmlns:a="http://schemas.openxmlformats.org/drawingml/2006/main">
            <a:r>
              <a:t>- https://git-scm.com/docs/git-worktree.html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rubric for final review; reveal the reference solution only after learner diff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https://genai.owasp.org/resource/securing-agentic-applications-guide-1-0/</a:t>
            </a:r>
          </a:p>
          <a:p xmlns:a="http://schemas.openxmlformats.org/drawingml/2006/main">
            <a:r>
              <a:t>- https://git-scm.com/docs/git-diff</a:t>
            </a:r>
          </a:p>
          <a:p xmlns:a="http://schemas.openxmlformats.org/drawingml/2006/main">
            <a:r>
              <a:t>- https://git-scm.com/docs/git-worktree.html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0c69b933942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217923c3f44b62" /><Relationship Type="http://schemas.openxmlformats.org/officeDocument/2006/relationships/slideLayout" Target="/ppt/slideLayouts/slideLayout1.xml" Id="R94731cd0f9e843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731cd0f9e843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b46b93de44f56" /><Relationship Type="http://schemas.openxmlformats.org/officeDocument/2006/relationships/notesSlide" Target="/ppt/notesSlides/notesSlide1.xml" Id="R49dbd55897174a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f32118e6243ba" /><Relationship Type="http://schemas.openxmlformats.org/officeDocument/2006/relationships/notesSlide" Target="/ppt/notesSlides/notesSlide2.xml" Id="Rc2037a7dd95b42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566948aac4e84" /><Relationship Type="http://schemas.openxmlformats.org/officeDocument/2006/relationships/notesSlide" Target="/ppt/notesSlides/notesSlide3.xml" Id="R3c1cc7be07ca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6c82e800f4229" /><Relationship Type="http://schemas.openxmlformats.org/officeDocument/2006/relationships/notesSlide" Target="/ppt/notesSlides/notesSlide4.xml" Id="Rc0c34ffe69af46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412b202254e40" /><Relationship Type="http://schemas.openxmlformats.org/officeDocument/2006/relationships/notesSlide" Target="/ppt/notesSlides/notesSlide5.xml" Id="R7dba93ee59734c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8244c135e4a8e" /><Relationship Type="http://schemas.openxmlformats.org/officeDocument/2006/relationships/notesSlide" Target="/ppt/notesSlides/notesSlide6.xml" Id="R49d3e729182d40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2f4d5ae784256" /><Relationship Type="http://schemas.openxmlformats.org/officeDocument/2006/relationships/notesSlide" Target="/ppt/notesSlides/notesSlide7.xml" Id="R9aaf5623287c41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ba6b6174845d6" /><Relationship Type="http://schemas.openxmlformats.org/officeDocument/2006/relationships/notesSlide" Target="/ppt/notesSlides/notesSlide8.xml" Id="R5012c5f5f4ed43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74523ac464a76" /><Relationship Type="http://schemas.openxmlformats.org/officeDocument/2006/relationships/notesSlide" Target="/ppt/notesSlides/notesSlide9.xml" Id="R80ac60230a9143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e7a3b46cd45e2" /><Relationship Type="http://schemas.openxmlformats.org/officeDocument/2006/relationships/notesSlide" Target="/ppt/notesSlides/notesSlide10.xml" Id="R19264b12d7e24b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00f76bc964fb1" /><Relationship Type="http://schemas.openxmlformats.org/officeDocument/2006/relationships/notesSlide" Target="/ppt/notesSlides/notesSlide11.xml" Id="R36e4f7715ef842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5c80b83c34239" /><Relationship Type="http://schemas.openxmlformats.org/officeDocument/2006/relationships/notesSlide" Target="/ppt/notesSlides/notesSlide12.xml" Id="R47b93b6e19164d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26011dfc5435d" /><Relationship Type="http://schemas.openxmlformats.org/officeDocument/2006/relationships/notesSlide" Target="/ppt/notesSlides/notesSlide13.xml" Id="R39abae4aef3e43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976ced8644b6e" /><Relationship Type="http://schemas.openxmlformats.org/officeDocument/2006/relationships/notesSlide" Target="/ppt/notesSlides/notesSlide14.xml" Id="Rb460d3a5cc024c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e8a33718542cf" /><Relationship Type="http://schemas.openxmlformats.org/officeDocument/2006/relationships/notesSlide" Target="/ppt/notesSlides/notesSlide15.xml" Id="R5aa78f1eb29445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52b42b3494947" /><Relationship Type="http://schemas.openxmlformats.org/officeDocument/2006/relationships/notesSlide" Target="/ppt/notesSlides/notesSlide16.xml" Id="Rd87a52295f334a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ec07262264765" /><Relationship Type="http://schemas.openxmlformats.org/officeDocument/2006/relationships/notesSlide" Target="/ppt/notesSlides/notesSlide17.xml" Id="Rd783399d4ce648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0721774294b3e" /><Relationship Type="http://schemas.openxmlformats.org/officeDocument/2006/relationships/notesSlide" Target="/ppt/notesSlides/notesSlide18.xml" Id="R613b3e63877b48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425fc5d534d06" /><Relationship Type="http://schemas.openxmlformats.org/officeDocument/2006/relationships/notesSlide" Target="/ppt/notesSlides/notesSlide19.xml" Id="Re696015166514a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f8426631348d7" /><Relationship Type="http://schemas.openxmlformats.org/officeDocument/2006/relationships/notesSlide" Target="/ppt/notesSlides/notesSlide20.xml" Id="Rac9fd6f026d547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d8e40fbbf4b96" /><Relationship Type="http://schemas.openxmlformats.org/officeDocument/2006/relationships/notesSlide" Target="/ppt/notesSlides/notesSlide21.xml" Id="Rd2736eb8714848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ee3270b8944fc" /><Relationship Type="http://schemas.openxmlformats.org/officeDocument/2006/relationships/notesSlide" Target="/ppt/notesSlides/notesSlide22.xml" Id="Refcc52404ca74b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c89535d894240" /><Relationship Type="http://schemas.openxmlformats.org/officeDocument/2006/relationships/notesSlide" Target="/ppt/notesSlides/notesSlide23.xml" Id="R065d1bfd8a154b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5f2ba383f447e" /><Relationship Type="http://schemas.openxmlformats.org/officeDocument/2006/relationships/notesSlide" Target="/ppt/notesSlides/notesSlide24.xml" Id="Rb2bb4bd6fcf649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f5fb744804611" /><Relationship Type="http://schemas.openxmlformats.org/officeDocument/2006/relationships/notesSlide" Target="/ppt/notesSlides/notesSlide25.xml" Id="R0d942171ce5847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319d9cc244ce0" /><Relationship Type="http://schemas.openxmlformats.org/officeDocument/2006/relationships/notesSlide" Target="/ppt/notesSlides/notesSlide26.xml" Id="R86cc4b52675d4d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d75b547564eee" /><Relationship Type="http://schemas.openxmlformats.org/officeDocument/2006/relationships/notesSlide" Target="/ppt/notesSlides/notesSlide27.xml" Id="Ra3e0db0dc579443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2712ee3ea491b" /><Relationship Type="http://schemas.openxmlformats.org/officeDocument/2006/relationships/notesSlide" Target="/ppt/notesSlides/notesSlide28.xml" Id="R4c3debeeeb6f42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46ae8375c4698" /><Relationship Type="http://schemas.openxmlformats.org/officeDocument/2006/relationships/notesSlide" Target="/ppt/notesSlides/notesSlide29.xml" Id="Rbdfe0d143f1d44d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7ae38b3234157" /><Relationship Type="http://schemas.openxmlformats.org/officeDocument/2006/relationships/notesSlide" Target="/ppt/notesSlides/notesSlide30.xml" Id="R8b3feda86dd14d5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7bad0112848ab" /><Relationship Type="http://schemas.openxmlformats.org/officeDocument/2006/relationships/notesSlide" Target="/ppt/notesSlides/notesSlide31.xml" Id="Rc3c46977e36943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bd7bb9fc746b1" /><Relationship Type="http://schemas.openxmlformats.org/officeDocument/2006/relationships/notesSlide" Target="/ppt/notesSlides/notesSlide32.xml" Id="R5779c8136e994f9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b3025e32f42a1" /><Relationship Type="http://schemas.openxmlformats.org/officeDocument/2006/relationships/notesSlide" Target="/ppt/notesSlides/notesSlide33.xml" Id="Re065e6ce6f154bc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d1a334b9c4c76" /><Relationship Type="http://schemas.openxmlformats.org/officeDocument/2006/relationships/notesSlide" Target="/ppt/notesSlides/notesSlide34.xml" Id="R6072399ec1df493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e98b3d0654e62" /><Relationship Type="http://schemas.openxmlformats.org/officeDocument/2006/relationships/notesSlide" Target="/ppt/notesSlides/notesSlide35.xml" Id="R4a4e65f5d69b455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dafed744c4475" /><Relationship Type="http://schemas.openxmlformats.org/officeDocument/2006/relationships/notesSlide" Target="/ppt/notesSlides/notesSlide36.xml" Id="R3679ac9a6e754cd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3b248878a4101" /><Relationship Type="http://schemas.openxmlformats.org/officeDocument/2006/relationships/notesSlide" Target="/ppt/notesSlides/notesSlide37.xml" Id="Raf3beaa1f1e346e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b3e4ee26940e8" /><Relationship Type="http://schemas.openxmlformats.org/officeDocument/2006/relationships/notesSlide" Target="/ppt/notesSlides/notesSlide38.xml" Id="Ra98a1ffa7f2248d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e32011ae143d3" /><Relationship Type="http://schemas.openxmlformats.org/officeDocument/2006/relationships/notesSlide" Target="/ppt/notesSlides/notesSlide39.xml" Id="R79245bed937c4ef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3fa519c234069" /><Relationship Type="http://schemas.openxmlformats.org/officeDocument/2006/relationships/notesSlide" Target="/ppt/notesSlides/notesSlide40.xml" Id="R135c668e412f493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bc1f27f45490c" /><Relationship Type="http://schemas.openxmlformats.org/officeDocument/2006/relationships/notesSlide" Target="/ppt/notesSlides/notesSlide41.xml" Id="Recdcc07aa68445a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829fd394d4fc9" /><Relationship Type="http://schemas.openxmlformats.org/officeDocument/2006/relationships/notesSlide" Target="/ppt/notesSlides/notesSlide42.xml" Id="R3f756ce130624d1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d70a359014b6a" /><Relationship Type="http://schemas.openxmlformats.org/officeDocument/2006/relationships/notesSlide" Target="/ppt/notesSlides/notesSlide43.xml" Id="R8522d339aebd480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ce99818cd42b4" /><Relationship Type="http://schemas.openxmlformats.org/officeDocument/2006/relationships/notesSlide" Target="/ppt/notesSlides/notesSlide44.xml" Id="Re1ff69f4240648e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d74094c344707" /><Relationship Type="http://schemas.openxmlformats.org/officeDocument/2006/relationships/notesSlide" Target="/ppt/notesSlides/notesSlide45.xml" Id="Rf23690d273c84fe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6f72a9df544bb" /><Relationship Type="http://schemas.openxmlformats.org/officeDocument/2006/relationships/notesSlide" Target="/ppt/notesSlides/notesSlide46.xml" Id="R1f5740aa7747494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975e103074bbb" /><Relationship Type="http://schemas.openxmlformats.org/officeDocument/2006/relationships/notesSlide" Target="/ppt/notesSlides/notesSlide47.xml" Id="R7cfcdd150824437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1e11a106a41ce" /><Relationship Type="http://schemas.openxmlformats.org/officeDocument/2006/relationships/notesSlide" Target="/ppt/notesSlides/notesSlide48.xml" Id="R0ddbed37968a407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d4687d8a74550" /><Relationship Type="http://schemas.openxmlformats.org/officeDocument/2006/relationships/notesSlide" Target="/ppt/notesSlides/notesSlide49.xml" Id="R10bfbe15fb5340c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f6b1bcfef4bff" /><Relationship Type="http://schemas.openxmlformats.org/officeDocument/2006/relationships/notesSlide" Target="/ppt/notesSlides/notesSlide50.xml" Id="Raee1c95b7190449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ee33930404b89" /><Relationship Type="http://schemas.openxmlformats.org/officeDocument/2006/relationships/notesSlide" Target="/ppt/notesSlides/notesSlide51.xml" Id="R4bfc3288b1964ce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8cd1fd6ea4d73" /><Relationship Type="http://schemas.openxmlformats.org/officeDocument/2006/relationships/notesSlide" Target="/ppt/notesSlides/notesSlide52.xml" Id="R85bea46e65a3410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3f2092fc74783" /><Relationship Type="http://schemas.openxmlformats.org/officeDocument/2006/relationships/notesSlide" Target="/ppt/notesSlides/notesSlide53.xml" Id="R100bd8abfc9645a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58330f3144413" /><Relationship Type="http://schemas.openxmlformats.org/officeDocument/2006/relationships/notesSlide" Target="/ppt/notesSlides/notesSlide54.xml" Id="R95820f7d6eba489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d6d1a910c4f81" /><Relationship Type="http://schemas.openxmlformats.org/officeDocument/2006/relationships/notesSlide" Target="/ppt/notesSlides/notesSlide55.xml" Id="Rf86e8f1d3dc14fe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8789687a541d6" /><Relationship Type="http://schemas.openxmlformats.org/officeDocument/2006/relationships/notesSlide" Target="/ppt/notesSlides/notesSlide56.xml" Id="R5f7c115e576c454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6bfc7594c4dd2" /><Relationship Type="http://schemas.openxmlformats.org/officeDocument/2006/relationships/notesSlide" Target="/ppt/notesSlides/notesSlide57.xml" Id="Rcffa64f309594d7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3fcbeb16c4190" /><Relationship Type="http://schemas.openxmlformats.org/officeDocument/2006/relationships/notesSlide" Target="/ppt/notesSlides/notesSlide58.xml" Id="Rf0b75784e8514a7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7f66b530646f3" /><Relationship Type="http://schemas.openxmlformats.org/officeDocument/2006/relationships/notesSlide" Target="/ppt/notesSlides/notesSlide59.xml" Id="R81effea7281649c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97468700f4663" /><Relationship Type="http://schemas.openxmlformats.org/officeDocument/2006/relationships/notesSlide" Target="/ppt/notesSlides/notesSlide60.xml" Id="R53e7966302b0437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51d0a39bf447f" /><Relationship Type="http://schemas.openxmlformats.org/officeDocument/2006/relationships/notesSlide" Target="/ppt/notesSlides/notesSlide61.xml" Id="R28798bc4b05f4ef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0f068aa6d4f72" /><Relationship Type="http://schemas.openxmlformats.org/officeDocument/2006/relationships/notesSlide" Target="/ppt/notesSlides/notesSlide62.xml" Id="Rd2fe15668be4427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76a16b8904ac9" /><Relationship Type="http://schemas.openxmlformats.org/officeDocument/2006/relationships/notesSlide" Target="/ppt/notesSlides/notesSlide63.xml" Id="R406b58948542489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296c47fcf4d08" /><Relationship Type="http://schemas.openxmlformats.org/officeDocument/2006/relationships/notesSlide" Target="/ppt/notesSlides/notesSlide64.xml" Id="Rdbbaffa731fe4e4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f1f85102b44ab" /><Relationship Type="http://schemas.openxmlformats.org/officeDocument/2006/relationships/notesSlide" Target="/ppt/notesSlides/notesSlide65.xml" Id="Rada54a7acb8e46d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b3ae79f254900" /><Relationship Type="http://schemas.openxmlformats.org/officeDocument/2006/relationships/notesSlide" Target="/ppt/notesSlides/notesSlide66.xml" Id="R1cc406b955a640c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63f83ca8e45f6" /><Relationship Type="http://schemas.openxmlformats.org/officeDocument/2006/relationships/notesSlide" Target="/ppt/notesSlides/notesSlide67.xml" Id="R175831682b80472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f61716169451e" /><Relationship Type="http://schemas.openxmlformats.org/officeDocument/2006/relationships/notesSlide" Target="/ppt/notesSlides/notesSlide68.xml" Id="R8f5f8150e28d412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bd239394f4366" /><Relationship Type="http://schemas.openxmlformats.org/officeDocument/2006/relationships/notesSlide" Target="/ppt/notesSlides/notesSlide69.xml" Id="Rb17e7420af67401e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f93890c7740ca" /><Relationship Type="http://schemas.openxmlformats.org/officeDocument/2006/relationships/notesSlide" Target="/ppt/notesSlides/notesSlide70.xml" Id="R463fd71aeee74e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hero-accent">
            <a:extLst xmlns:a="http://schemas.openxmlformats.org/drawingml/2006/main">
              <a:ext uri="{FF2B5EF4-FFF2-40B4-BE49-F238E27FC236}">
                <a16:creationId xmlns:a16="http://schemas.microsoft.com/office/drawing/2014/main" id="{B67F8A08-DB46-4B1C-B744-FAF78DA7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ro-eyebrow">
            <a:extLst xmlns:a="http://schemas.openxmlformats.org/drawingml/2006/main">
              <a:ext uri="{FF2B5EF4-FFF2-40B4-BE49-F238E27FC236}">
                <a16:creationId xmlns:a16="http://schemas.microsoft.com/office/drawing/2014/main" id="{5E96250B-8984-48D6-9559-4D7083E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B5D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CB5D9"/>
                </a:solidFill>
                <a:latin typeface="Aptos"/>
                <a:ea typeface="Aptos"/>
                <a:cs typeface="Aptos"/>
              </a:rPr>
              <a:t>C++ CODING AGENT FIELD COURSE</a:t>
            </a:r>
          </a:p>
        </p:txBody>
      </p:sp>
      <p:sp>
        <p:nvSpPr>
          <p:cNvPr id="3" name="hero-title">
            <a:extLst xmlns:a="http://schemas.openxmlformats.org/drawingml/2006/main">
              <a:ext uri="{FF2B5EF4-FFF2-40B4-BE49-F238E27FC236}">
                <a16:creationId xmlns:a16="http://schemas.microsoft.com/office/drawing/2014/main" id="{7C2E158D-8459-4045-801C-516CC93B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685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a coding agent you can inspect, constrain, and trust</a:t>
            </a:r>
          </a:p>
        </p:txBody>
      </p:sp>
      <p:sp>
        <p:nvSpPr>
          <p:cNvPr id="4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5BBF55A1-4BCE-4E8C-AA76-0DBB9CAC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4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4EF"/>
                </a:solidFill>
                <a:latin typeface="Aptos"/>
                <a:ea typeface="Aptos"/>
                <a:cs typeface="Aptos"/>
              </a:rPr>
              <a:t>A hands-on workshop in model boundaries, tool execution, evidence, safety, and evaluation</a:t>
            </a:r>
          </a:p>
        </p:txBody>
      </p:sp>
      <p:cxnSp>
        <p:nvCxnSpPr>
          <p:cNvPr id="17" name="hero-path"/>
          <p:cNvCxnSpPr/>
          <p:nvPr/>
        </p:nvCxnSpPr>
        <p:spPr>
          <a:xfrm xmlns:a="http://schemas.openxmlformats.org/drawingml/2006/main">
            <a:off x="8572500" y="13144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cxnSp>
      <p:sp>
        <p:nvSpPr>
          <p:cNvPr id="6" name="hero-node-0">
            <a:extLst xmlns:a="http://schemas.openxmlformats.org/drawingml/2006/main">
              <a:ext uri="{FF2B5EF4-FFF2-40B4-BE49-F238E27FC236}">
                <a16:creationId xmlns:a16="http://schemas.microsoft.com/office/drawing/2014/main" id="{497AF499-01DD-4368-B3D2-F6BBE3F4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ro-node-1">
            <a:extLst xmlns:a="http://schemas.openxmlformats.org/drawingml/2006/main">
              <a:ext uri="{FF2B5EF4-FFF2-40B4-BE49-F238E27FC236}">
                <a16:creationId xmlns:a16="http://schemas.microsoft.com/office/drawing/2014/main" id="{F06A7260-C258-4C87-9466-36A77C1F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19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hero-node-2">
            <a:extLst xmlns:a="http://schemas.openxmlformats.org/drawingml/2006/main">
              <a:ext uri="{FF2B5EF4-FFF2-40B4-BE49-F238E27FC236}">
                <a16:creationId xmlns:a16="http://schemas.microsoft.com/office/drawing/2014/main" id="{2DEB96F7-1FF8-4693-B113-DED75568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19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ro-node-3">
            <a:extLst xmlns:a="http://schemas.openxmlformats.org/drawingml/2006/main">
              <a:ext uri="{FF2B5EF4-FFF2-40B4-BE49-F238E27FC236}">
                <a16:creationId xmlns:a16="http://schemas.microsoft.com/office/drawing/2014/main" id="{2999626E-3EC5-4CF2-84A6-5007A81D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19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hero-node-4">
            <a:extLst xmlns:a="http://schemas.openxmlformats.org/drawingml/2006/main">
              <a:ext uri="{FF2B5EF4-FFF2-40B4-BE49-F238E27FC236}">
                <a16:creationId xmlns:a16="http://schemas.microsoft.com/office/drawing/2014/main" id="{272DC824-3E59-429E-9E54-053CBE62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19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917"/>
          </a:solidFill>
          <a:ln xmlns:a="http://schemas.openxmlformats.org/drawingml/2006/main" w="9525">
            <a:solidFill>
              <a:srgbClr val="D88917"/>
            </a:solidFill>
            <a:prstDash val="solid"/>
          </a:ln>
        </p:spPr>
      </p:sp>
      <p:sp>
        <p:nvSpPr>
          <p:cNvPr id="11" name="hero-mark">
            <a:extLst xmlns:a="http://schemas.openxmlformats.org/drawingml/2006/main">
              <a:ext uri="{FF2B5EF4-FFF2-40B4-BE49-F238E27FC236}">
                <a16:creationId xmlns:a16="http://schemas.microsoft.com/office/drawing/2014/main" id="{858B71E3-E219-4BC9-9C7E-FC352A0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285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 HARNESS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 TOOL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 TEST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 EVIDENCE</a:t>
            </a:r>
          </a:p>
        </p:txBody>
      </p:sp>
      <p:sp>
        <p:nvSpPr>
          <p:cNvPr id="12" name="hero-footer">
            <a:extLst xmlns:a="http://schemas.openxmlformats.org/drawingml/2006/main">
              <a:ext uri="{FF2B5EF4-FFF2-40B4-BE49-F238E27FC236}">
                <a16:creationId xmlns:a16="http://schemas.microsoft.com/office/drawing/2014/main" id="{D1FE7E55-9CCC-4342-8786-2D876659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B5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B5D9"/>
                </a:solidFill>
                <a:latin typeface="Aptos"/>
                <a:ea typeface="Aptos"/>
                <a:cs typeface="Aptos"/>
              </a:rPr>
              <a:t>FACILITATOR DECK  •  9 CHAPTERS  •  HANDS-ON C++</a:t>
            </a:r>
          </a:p>
        </p:txBody>
      </p:sp>
    </p:spTree>
    <p:extLst>
      <p:ext uri="{BB962C8B-B14F-4D97-AF65-F5344CB8AC3E}">
        <p14:creationId xmlns:p14="http://schemas.microsoft.com/office/powerpoint/2010/main" val="1169396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F08CAFBD-BE31-4564-9C56-995ABAB0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29EF47B7-A98D-4C96-A068-A307C216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model returns a tool call that says write_file. Which component changes disk?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5586797C-8137-470B-9319-A3FFBC1E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73F7E81D-B7EB-4B6E-A5FB-69F7104A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6FEEF8C9-7218-4884-BD63-B0B5F15C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model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433F8953-7984-47D8-8A72-59155D36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B4D59F4E-5798-4334-B2D4-91B499A1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80FC1207-8E6C-44A1-8068-EF5C9CEF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harness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F780F452-AF49-4396-AFDE-5BB254C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0DC7EC84-0512-4693-B656-1EEBA106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53C63AFB-0729-4718-96C5-6D66AC66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tool implementation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0552F44D-2769-4533-A67B-2F801805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6324CE2C-27F6-45B2-B106-0E8D780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9B7C1F98-6543-4B24-8A4C-46874D6C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tool implementation—only after the harness authorizes dispatch.</a:t>
            </a:r>
          </a:p>
        </p:txBody>
      </p:sp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AE4FE745-A6AB-4D5E-A8AF-B029FFCA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CH 0  /  ENVIRONMENT</a:t>
            </a:r>
          </a:p>
        </p:txBody>
      </p:sp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93F55A28-BDEB-4E4A-AEED-D89F6871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Who actually edits the file?</a:t>
            </a:r>
          </a:p>
        </p:txBody>
      </p:sp>
      <p:cxnSp>
        <p:nvCxnSpPr>
          <p:cNvPr id="35" name="header-rule-2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CE"/>
            </a:solidFill>
            <a:prstDash val="solid"/>
          </a:ln>
        </p:spPr>
      </p:cxnSp>
      <p:sp>
        <p:nvSpPr>
          <p:cNvPr id="18" name="footer-2">
            <a:extLst xmlns:a="http://schemas.openxmlformats.org/drawingml/2006/main">
              <a:ext uri="{FF2B5EF4-FFF2-40B4-BE49-F238E27FC236}">
                <a16:creationId xmlns:a16="http://schemas.microsoft.com/office/drawing/2014/main" id="{5AF66E1E-154B-4B89-AD9E-FEF1A7C7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02   •   Environment and preflight</a:t>
            </a:r>
          </a:p>
        </p:txBody>
      </p:sp>
    </p:spTree>
    <p:extLst>
      <p:ext uri="{BB962C8B-B14F-4D97-AF65-F5344CB8AC3E}">
        <p14:creationId xmlns:p14="http://schemas.microsoft.com/office/powerpoint/2010/main" val="1301833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boundary-arrow-1"/>
          <p:cNvCxnSpPr/>
          <p:nvPr/>
        </p:nvCxnSpPr>
        <p:spPr>
          <a:xfrm xmlns:a="http://schemas.openxmlformats.org/drawingml/2006/main">
            <a:off x="3086100" y="2952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CE"/>
            </a:solidFill>
            <a:prstDash val="solid"/>
          </a:ln>
        </p:spPr>
      </p:cxnSp>
      <p:cxnSp>
        <p:nvCxnSpPr>
          <p:cNvPr id="17" name="boundary-arrow-2"/>
          <p:cNvCxnSpPr/>
          <p:nvPr/>
        </p:nvCxnSpPr>
        <p:spPr>
          <a:xfrm xmlns:a="http://schemas.openxmlformats.org/drawingml/2006/main">
            <a:off x="6791325" y="2952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CE"/>
            </a:solidFill>
            <a:prstDash val="solid"/>
          </a:ln>
        </p:spPr>
      </p:cxnSp>
      <p:sp>
        <p:nvSpPr>
          <p:cNvPr id="3" name="boundary-node-0">
            <a:extLst xmlns:a="http://schemas.openxmlformats.org/drawingml/2006/main">
              <a:ext uri="{FF2B5EF4-FFF2-40B4-BE49-F238E27FC236}">
                <a16:creationId xmlns:a16="http://schemas.microsoft.com/office/drawing/2014/main" id="{5DEA9384-8660-40E8-BBB8-649647F7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4" name="boundary-node-text-0">
            <a:extLst xmlns:a="http://schemas.openxmlformats.org/drawingml/2006/main">
              <a:ext uri="{FF2B5EF4-FFF2-40B4-BE49-F238E27FC236}">
                <a16:creationId xmlns:a16="http://schemas.microsoft.com/office/drawing/2014/main" id="{D5857F84-E98A-4BDC-897A-BCD32634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proposes</a:t>
            </a:r>
          </a:p>
        </p:txBody>
      </p:sp>
      <p:sp>
        <p:nvSpPr>
          <p:cNvPr id="5" name="boundary-node-1">
            <a:extLst xmlns:a="http://schemas.openxmlformats.org/drawingml/2006/main">
              <a:ext uri="{FF2B5EF4-FFF2-40B4-BE49-F238E27FC236}">
                <a16:creationId xmlns:a16="http://schemas.microsoft.com/office/drawing/2014/main" id="{7F57C018-1E33-46D8-8AEB-DD738FED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0F9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6" name="boundary-node-text-1">
            <a:extLst xmlns:a="http://schemas.openxmlformats.org/drawingml/2006/main">
              <a:ext uri="{FF2B5EF4-FFF2-40B4-BE49-F238E27FC236}">
                <a16:creationId xmlns:a16="http://schemas.microsoft.com/office/drawing/2014/main" id="{01334D7A-DB54-4FF7-B5A0-28C8E32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HARNESS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decides</a:t>
            </a:r>
          </a:p>
        </p:txBody>
      </p:sp>
      <p:sp>
        <p:nvSpPr>
          <p:cNvPr id="7" name="boundary-node-2">
            <a:extLst xmlns:a="http://schemas.openxmlformats.org/drawingml/2006/main">
              <a:ext uri="{FF2B5EF4-FFF2-40B4-BE49-F238E27FC236}">
                <a16:creationId xmlns:a16="http://schemas.microsoft.com/office/drawing/2014/main" id="{81476EB0-EBF9-4B1F-81EF-0BC2AC3E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8" name="boundary-node-text-2">
            <a:extLst xmlns:a="http://schemas.openxmlformats.org/drawingml/2006/main">
              <a:ext uri="{FF2B5EF4-FFF2-40B4-BE49-F238E27FC236}">
                <a16:creationId xmlns:a16="http://schemas.microsoft.com/office/drawing/2014/main" id="{5DECD19B-280D-4F93-8444-6452CA4F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TOOLS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9" name="boundary-label-1">
            <a:extLst xmlns:a="http://schemas.openxmlformats.org/drawingml/2006/main">
              <a:ext uri="{FF2B5EF4-FFF2-40B4-BE49-F238E27FC236}">
                <a16:creationId xmlns:a16="http://schemas.microsoft.com/office/drawing/2014/main" id="{0A61163C-110F-473F-8722-E24E71BA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network / data</a:t>
            </a:r>
          </a:p>
        </p:txBody>
      </p:sp>
      <p:sp>
        <p:nvSpPr>
          <p:cNvPr id="10" name="boundary-label-2">
            <a:extLst xmlns:a="http://schemas.openxmlformats.org/drawingml/2006/main">
              <a:ext uri="{FF2B5EF4-FFF2-40B4-BE49-F238E27FC236}">
                <a16:creationId xmlns:a16="http://schemas.microsoft.com/office/drawing/2014/main" id="{561A33F1-DC63-4388-A103-058F8D74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capability / OS</a:t>
            </a:r>
          </a:p>
        </p:txBody>
      </p:sp>
      <p:sp>
        <p:nvSpPr>
          <p:cNvPr id="11" name="boundary-caption">
            <a:extLst xmlns:a="http://schemas.openxmlformats.org/drawingml/2006/main">
              <a:ext uri="{FF2B5EF4-FFF2-40B4-BE49-F238E27FC236}">
                <a16:creationId xmlns:a16="http://schemas.microsoft.com/office/drawing/2014/main" id="{2C082C5A-77B9-4F1A-8E1D-66184DD3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Text crosses the first boundary. Authority is granted only at the second.</a:t>
            </a:r>
          </a:p>
        </p:txBody>
      </p:sp>
      <p:sp>
        <p:nvSpPr>
          <p:cNvPr id="12" name="eyebrow-3">
            <a:extLst xmlns:a="http://schemas.openxmlformats.org/drawingml/2006/main">
              <a:ext uri="{FF2B5EF4-FFF2-40B4-BE49-F238E27FC236}">
                <a16:creationId xmlns:a16="http://schemas.microsoft.com/office/drawing/2014/main" id="{B44FC30A-FD66-4EB9-9213-17641EF1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CH 0  /  ENVIRONMENT</a:t>
            </a:r>
          </a:p>
        </p:txBody>
      </p:sp>
      <p:sp>
        <p:nvSpPr>
          <p:cNvPr id="13" name="title-3">
            <a:extLst xmlns:a="http://schemas.openxmlformats.org/drawingml/2006/main">
              <a:ext uri="{FF2B5EF4-FFF2-40B4-BE49-F238E27FC236}">
                <a16:creationId xmlns:a16="http://schemas.microsoft.com/office/drawing/2014/main" id="{246B0930-D8D0-419E-899D-25C4D210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Three components create two authority boundaries</a:t>
            </a:r>
          </a:p>
        </p:txBody>
      </p:sp>
      <p:cxnSp>
        <p:nvCxnSpPr>
          <p:cNvPr id="29" name="header-rule-3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CE"/>
            </a:solidFill>
            <a:prstDash val="solid"/>
          </a:ln>
        </p:spPr>
      </p:cxn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BA89DADC-BE42-49F6-BD3F-31349E6D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03   •   Environment and preflight</a:t>
            </a:r>
          </a:p>
        </p:txBody>
      </p:sp>
    </p:spTree>
    <p:extLst>
      <p:ext uri="{BB962C8B-B14F-4D97-AF65-F5344CB8AC3E}">
        <p14:creationId xmlns:p14="http://schemas.microsoft.com/office/powerpoint/2010/main" val="1612803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rk-panel-0">
            <a:extLst xmlns:a="http://schemas.openxmlformats.org/drawingml/2006/main">
              <a:ext uri="{FF2B5EF4-FFF2-40B4-BE49-F238E27FC236}">
                <a16:creationId xmlns:a16="http://schemas.microsoft.com/office/drawing/2014/main" id="{EA4CB9EC-CD02-4EEE-BFEA-91E77964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0863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2" name="fork-head-0">
            <a:extLst xmlns:a="http://schemas.openxmlformats.org/drawingml/2006/main">
              <a:ext uri="{FF2B5EF4-FFF2-40B4-BE49-F238E27FC236}">
                <a16:creationId xmlns:a16="http://schemas.microsoft.com/office/drawing/2014/main" id="{4A212101-9025-4353-8542-7D484259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SCRIPTED</a:t>
            </a:r>
          </a:p>
        </p:txBody>
      </p:sp>
      <p:sp>
        <p:nvSpPr>
          <p:cNvPr id="3" name="fork-body-0">
            <a:extLst xmlns:a="http://schemas.openxmlformats.org/drawingml/2006/main">
              <a:ext uri="{FF2B5EF4-FFF2-40B4-BE49-F238E27FC236}">
                <a16:creationId xmlns:a16="http://schemas.microsoft.com/office/drawing/2014/main" id="{DFFFE37E-0744-4A98-B8DE-43097D3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5529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deterministic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offline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required</a:t>
            </a:r>
          </a:p>
        </p:txBody>
      </p:sp>
      <p:sp>
        <p:nvSpPr>
          <p:cNvPr id="4" name="fork-panel-1">
            <a:extLst xmlns:a="http://schemas.openxmlformats.org/drawingml/2006/main">
              <a:ext uri="{FF2B5EF4-FFF2-40B4-BE49-F238E27FC236}">
                <a16:creationId xmlns:a16="http://schemas.microsoft.com/office/drawing/2014/main" id="{9D5810B2-B383-4DCA-BEAC-CF4BF589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50863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8917"/>
            </a:solidFill>
            <a:prstDash val="solid"/>
          </a:ln>
        </p:spPr>
      </p:sp>
      <p:sp>
        <p:nvSpPr>
          <p:cNvPr id="5" name="fork-head-1">
            <a:extLst xmlns:a="http://schemas.openxmlformats.org/drawingml/2006/main">
              <a:ext uri="{FF2B5EF4-FFF2-40B4-BE49-F238E27FC236}">
                <a16:creationId xmlns:a16="http://schemas.microsoft.com/office/drawing/2014/main" id="{E39DF757-8C51-4A1D-B080-7FDD906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47875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89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8917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6" name="fork-body-1">
            <a:extLst xmlns:a="http://schemas.openxmlformats.org/drawingml/2006/main">
              <a:ext uri="{FF2B5EF4-FFF2-40B4-BE49-F238E27FC236}">
                <a16:creationId xmlns:a16="http://schemas.microsoft.com/office/drawing/2014/main" id="{B5A63710-B57E-4307-A325-E16DDC0A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45529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provider-backed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variable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optional</a:t>
            </a:r>
          </a:p>
        </p:txBody>
      </p:sp>
      <p:sp>
        <p:nvSpPr>
          <p:cNvPr id="7" name="fork-contract">
            <a:extLst xmlns:a="http://schemas.openxmlformats.org/drawingml/2006/main">
              <a:ext uri="{FF2B5EF4-FFF2-40B4-BE49-F238E27FC236}">
                <a16:creationId xmlns:a16="http://schemas.microsoft.com/office/drawing/2014/main" id="{3720CA9E-05E7-4E7F-8C09-131B2A81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48250"/>
            <a:ext cx="371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rk-contract-text">
            <a:extLst xmlns:a="http://schemas.openxmlformats.org/drawingml/2006/main">
              <a:ext uri="{FF2B5EF4-FFF2-40B4-BE49-F238E27FC236}">
                <a16:creationId xmlns:a16="http://schemas.microsoft.com/office/drawing/2014/main" id="{02DD4466-0BCA-4967-85ED-14B8FB2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435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ModelClient → ModelResponse</a:t>
            </a:r>
          </a:p>
        </p:txBody>
      </p:sp>
      <p:sp>
        <p:nvSpPr>
          <p:cNvPr id="9" name="fork-caption">
            <a:extLst xmlns:a="http://schemas.openxmlformats.org/drawingml/2006/main">
              <a:ext uri="{FF2B5EF4-FFF2-40B4-BE49-F238E27FC236}">
                <a16:creationId xmlns:a16="http://schemas.microsoft.com/office/drawing/2014/main" id="{705BD5BF-7E28-41DA-A82C-0BB6F215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Labs stay reproducible while the live path tests the same adapter boundary.</a:t>
            </a:r>
          </a:p>
        </p:txBody>
      </p:sp>
      <p:sp>
        <p:nvSpPr>
          <p:cNvPr id="10" name="eyebrow-4">
            <a:extLst xmlns:a="http://schemas.openxmlformats.org/drawingml/2006/main">
              <a:ext uri="{FF2B5EF4-FFF2-40B4-BE49-F238E27FC236}">
                <a16:creationId xmlns:a16="http://schemas.microsoft.com/office/drawing/2014/main" id="{532E9FEB-634F-4863-802E-A0E2DF20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CH 0  /  ENVIRONMENT</a:t>
            </a:r>
          </a:p>
        </p:txBody>
      </p:sp>
      <p:sp>
        <p:nvSpPr>
          <p:cNvPr id="11" name="title-4">
            <a:extLst xmlns:a="http://schemas.openxmlformats.org/drawingml/2006/main">
              <a:ext uri="{FF2B5EF4-FFF2-40B4-BE49-F238E27FC236}">
                <a16:creationId xmlns:a16="http://schemas.microsoft.com/office/drawing/2014/main" id="{E78FF847-7880-4459-8D12-B152807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Two modes share one contract</a:t>
            </a:r>
          </a:p>
        </p:txBody>
      </p:sp>
      <p:cxnSp>
        <p:nvCxnSpPr>
          <p:cNvPr id="25" name="header-rule-4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CE"/>
            </a:solidFill>
            <a:prstDash val="solid"/>
          </a:ln>
        </p:spPr>
      </p:cxnSp>
      <p:sp>
        <p:nvSpPr>
          <p:cNvPr id="13" name="footer-4">
            <a:extLst xmlns:a="http://schemas.openxmlformats.org/drawingml/2006/main">
              <a:ext uri="{FF2B5EF4-FFF2-40B4-BE49-F238E27FC236}">
                <a16:creationId xmlns:a16="http://schemas.microsoft.com/office/drawing/2014/main" id="{81A445DB-3360-4816-9B9C-292C838D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04   •   Environment and preflight</a:t>
            </a:r>
          </a:p>
        </p:txBody>
      </p:sp>
    </p:spTree>
    <p:extLst>
      <p:ext uri="{BB962C8B-B14F-4D97-AF65-F5344CB8AC3E}">
        <p14:creationId xmlns:p14="http://schemas.microsoft.com/office/powerpoint/2010/main" val="1224412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de-frame">
            <a:extLst xmlns:a="http://schemas.openxmlformats.org/drawingml/2006/main">
              <a:ext uri="{FF2B5EF4-FFF2-40B4-BE49-F238E27FC236}">
                <a16:creationId xmlns:a16="http://schemas.microsoft.com/office/drawing/2014/main" id="{1D8A0129-EEC3-42D6-8CAC-99FA0C2B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6667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2" name="code-text">
            <a:extLst xmlns:a="http://schemas.openxmlformats.org/drawingml/2006/main">
              <a:ext uri="{FF2B5EF4-FFF2-40B4-BE49-F238E27FC236}">
                <a16:creationId xmlns:a16="http://schemas.microsoft.com/office/drawing/2014/main" id="{7F3EEFFB-2A7C-4046-B2FE-8D63A6C4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60960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"model": "scripted/full-repair",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"message": { "role": "assistant" },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"finish_reason": "tool_calls",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"usage": { "input_tokens": 42, "output_tokens": 18 }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code-callout">
            <a:extLst xmlns:a="http://schemas.openxmlformats.org/drawingml/2006/main">
              <a:ext uri="{FF2B5EF4-FFF2-40B4-BE49-F238E27FC236}">
                <a16:creationId xmlns:a16="http://schemas.microsoft.com/office/drawing/2014/main" id="{00C6CDF7-4C1D-4B0F-83A1-AF3CFF11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Read four signals</a:t>
            </a:r>
          </a:p>
        </p:txBody>
      </p:sp>
      <p:sp>
        <p:nvSpPr>
          <p:cNvPr id="4" name="code-bullets">
            <a:extLst xmlns:a="http://schemas.openxmlformats.org/drawingml/2006/main">
              <a:ext uri="{FF2B5EF4-FFF2-40B4-BE49-F238E27FC236}">
                <a16:creationId xmlns:a16="http://schemas.microsoft.com/office/drawing/2014/main" id="{D4B71E82-831A-4F8D-B86A-0C1094AB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571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Which model path ran?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Did it answer or request tools?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Why did generation stop?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What usage was reported?</a:t>
            </a:r>
          </a:p>
        </p:txBody>
      </p:sp>
      <p:sp>
        <p:nvSpPr>
          <p:cNvPr id="5" name="code-evidence">
            <a:extLst xmlns:a="http://schemas.openxmlformats.org/drawingml/2006/main">
              <a:ext uri="{FF2B5EF4-FFF2-40B4-BE49-F238E27FC236}">
                <a16:creationId xmlns:a16="http://schemas.microsoft.com/office/drawing/2014/main" id="{363EF177-79EB-4E84-BE19-7C9EE2AF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0"/>
            <a:ext cx="3571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evidence-text">
            <a:extLst xmlns:a="http://schemas.openxmlformats.org/drawingml/2006/main">
              <a:ext uri="{FF2B5EF4-FFF2-40B4-BE49-F238E27FC236}">
                <a16:creationId xmlns:a16="http://schemas.microsoft.com/office/drawing/2014/main" id="{8B62DB1F-8169-4F11-A942-18B39F54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102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Inspect the bytes before trusting the claim.</a:t>
            </a:r>
          </a:p>
        </p:txBody>
      </p:sp>
      <p:sp>
        <p:nvSpPr>
          <p:cNvPr id="7" name="eyebrow-5">
            <a:extLst xmlns:a="http://schemas.openxmlformats.org/drawingml/2006/main">
              <a:ext uri="{FF2B5EF4-FFF2-40B4-BE49-F238E27FC236}">
                <a16:creationId xmlns:a16="http://schemas.microsoft.com/office/drawing/2014/main" id="{BE076E81-16BE-474D-9DA6-EAC940B6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CH 0  /  ENVIRONMENT</a:t>
            </a:r>
          </a:p>
        </p:txBody>
      </p:sp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CA49BDF7-625C-4D64-905E-90FB5720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response is evidence only after you inspect its fields</a:t>
            </a:r>
          </a:p>
        </p:txBody>
      </p:sp>
      <p:cxnSp>
        <p:nvCxnSpPr>
          <p:cNvPr id="19" name="header-rule-5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CE"/>
            </a:solidFill>
            <a:prstDash val="solid"/>
          </a:ln>
        </p:spPr>
      </p:cxnSp>
      <p:sp>
        <p:nvSpPr>
          <p:cNvPr id="10" name="footer-5">
            <a:extLst xmlns:a="http://schemas.openxmlformats.org/drawingml/2006/main">
              <a:ext uri="{FF2B5EF4-FFF2-40B4-BE49-F238E27FC236}">
                <a16:creationId xmlns:a16="http://schemas.microsoft.com/office/drawing/2014/main" id="{DAE0BBEA-A9D9-43FB-BF76-540DD6A0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05   •   Environment and preflight</a:t>
            </a:r>
          </a:p>
        </p:txBody>
      </p:sp>
    </p:spTree>
    <p:extLst>
      <p:ext uri="{BB962C8B-B14F-4D97-AF65-F5344CB8AC3E}">
        <p14:creationId xmlns:p14="http://schemas.microsoft.com/office/powerpoint/2010/main" val="2123350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iag-a-0">
            <a:extLst xmlns:a="http://schemas.openxmlformats.org/drawingml/2006/main">
              <a:ext uri="{FF2B5EF4-FFF2-40B4-BE49-F238E27FC236}">
                <a16:creationId xmlns:a16="http://schemas.microsoft.com/office/drawing/2014/main" id="{E9027CEA-0278-44F9-8731-158E7FD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KEY</a:t>
            </a:r>
          </a:p>
        </p:txBody>
      </p:sp>
      <p:sp>
        <p:nvSpPr>
          <p:cNvPr id="2" name="diag-b-0">
            <a:extLst xmlns:a="http://schemas.openxmlformats.org/drawingml/2006/main">
              <a:ext uri="{FF2B5EF4-FFF2-40B4-BE49-F238E27FC236}">
                <a16:creationId xmlns:a16="http://schemas.microsoft.com/office/drawing/2014/main" id="{74781DA2-4D90-499B-B41C-404713B9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7526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missing / malformed</a:t>
            </a:r>
          </a:p>
        </p:txBody>
      </p:sp>
      <p:sp>
        <p:nvSpPr>
          <p:cNvPr id="3" name="diag-c-0">
            <a:extLst xmlns:a="http://schemas.openxmlformats.org/drawingml/2006/main">
              <a:ext uri="{FF2B5EF4-FFF2-40B4-BE49-F238E27FC236}">
                <a16:creationId xmlns:a16="http://schemas.microsoft.com/office/drawing/2014/main" id="{8733A960-DC94-4B1F-B658-1A04892C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check environment</a:t>
            </a:r>
          </a:p>
        </p:txBody>
      </p:sp>
      <p:cxnSp>
        <p:nvCxnSpPr>
          <p:cNvPr id="26" name="diag-rule-1"/>
          <p:cNvCxnSpPr/>
          <p:nvPr/>
        </p:nvCxnSpPr>
        <p:spPr>
          <a:xfrm xmlns:a="http://schemas.openxmlformats.org/drawingml/2006/main">
            <a:off x="533400" y="24384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5" name="diag-a-1">
            <a:extLst xmlns:a="http://schemas.openxmlformats.org/drawingml/2006/main">
              <a:ext uri="{FF2B5EF4-FFF2-40B4-BE49-F238E27FC236}">
                <a16:creationId xmlns:a16="http://schemas.microsoft.com/office/drawing/2014/main" id="{D398165B-5FDF-49E7-96D4-31F8BD4C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HTTP</a:t>
            </a:r>
          </a:p>
        </p:txBody>
      </p:sp>
      <p:sp>
        <p:nvSpPr>
          <p:cNvPr id="6" name="diag-b-1">
            <a:extLst xmlns:a="http://schemas.openxmlformats.org/drawingml/2006/main">
              <a:ext uri="{FF2B5EF4-FFF2-40B4-BE49-F238E27FC236}">
                <a16:creationId xmlns:a16="http://schemas.microsoft.com/office/drawing/2014/main" id="{710FFB9B-C2AE-4070-A327-A31BE4A1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384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401 / 429 / 5xx</a:t>
            </a:r>
          </a:p>
        </p:txBody>
      </p:sp>
      <p:sp>
        <p:nvSpPr>
          <p:cNvPr id="7" name="diag-c-1">
            <a:extLst xmlns:a="http://schemas.openxmlformats.org/drawingml/2006/main">
              <a:ext uri="{FF2B5EF4-FFF2-40B4-BE49-F238E27FC236}">
                <a16:creationId xmlns:a16="http://schemas.microsoft.com/office/drawing/2014/main" id="{5FB57B0A-A146-4A86-8FAB-0AA51F16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classify + retry policy</a:t>
            </a:r>
          </a:p>
        </p:txBody>
      </p:sp>
      <p:cxnSp>
        <p:nvCxnSpPr>
          <p:cNvPr id="30" name="diag-rule-2"/>
          <p:cNvCxnSpPr/>
          <p:nvPr/>
        </p:nvCxnSpPr>
        <p:spPr>
          <a:xfrm xmlns:a="http://schemas.openxmlformats.org/drawingml/2006/main">
            <a:off x="533400" y="31242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9" name="diag-a-2">
            <a:extLst xmlns:a="http://schemas.openxmlformats.org/drawingml/2006/main">
              <a:ext uri="{FF2B5EF4-FFF2-40B4-BE49-F238E27FC236}">
                <a16:creationId xmlns:a16="http://schemas.microsoft.com/office/drawing/2014/main" id="{C9C96179-629F-4AFE-8537-477A5C02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10" name="diag-b-2">
            <a:extLst xmlns:a="http://schemas.openxmlformats.org/drawingml/2006/main">
              <a:ext uri="{FF2B5EF4-FFF2-40B4-BE49-F238E27FC236}">
                <a16:creationId xmlns:a16="http://schemas.microsoft.com/office/drawing/2014/main" id="{BD275D36-0969-48B3-BA12-927C9074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242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unexpected body</a:t>
            </a:r>
          </a:p>
        </p:txBody>
      </p:sp>
      <p:sp>
        <p:nvSpPr>
          <p:cNvPr id="11" name="diag-c-2">
            <a:extLst xmlns:a="http://schemas.openxmlformats.org/drawingml/2006/main">
              <a:ext uri="{FF2B5EF4-FFF2-40B4-BE49-F238E27FC236}">
                <a16:creationId xmlns:a16="http://schemas.microsoft.com/office/drawing/2014/main" id="{B17C0CC5-298F-46EF-AA77-2D5856E4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log redacted payload</a:t>
            </a:r>
          </a:p>
        </p:txBody>
      </p:sp>
      <p:cxnSp>
        <p:nvCxnSpPr>
          <p:cNvPr id="34" name="diag-rule-3"/>
          <p:cNvCxnSpPr/>
          <p:nvPr/>
        </p:nvCxnSpPr>
        <p:spPr>
          <a:xfrm xmlns:a="http://schemas.openxmlformats.org/drawingml/2006/main">
            <a:off x="533400" y="38100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3" name="diag-a-3">
            <a:extLst xmlns:a="http://schemas.openxmlformats.org/drawingml/2006/main">
              <a:ext uri="{FF2B5EF4-FFF2-40B4-BE49-F238E27FC236}">
                <a16:creationId xmlns:a16="http://schemas.microsoft.com/office/drawing/2014/main" id="{9D0BA4EC-C4EE-4EC4-AA68-EFD553EC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diag-b-3">
            <a:extLst xmlns:a="http://schemas.openxmlformats.org/drawingml/2006/main">
              <a:ext uri="{FF2B5EF4-FFF2-40B4-BE49-F238E27FC236}">
                <a16:creationId xmlns:a16="http://schemas.microsoft.com/office/drawing/2014/main" id="{4D287EE7-0D2F-44FA-ACEE-FF0B770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100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not tool-capable</a:t>
            </a:r>
          </a:p>
        </p:txBody>
      </p:sp>
      <p:sp>
        <p:nvSpPr>
          <p:cNvPr id="15" name="diag-c-3">
            <a:extLst xmlns:a="http://schemas.openxmlformats.org/drawingml/2006/main">
              <a:ext uri="{FF2B5EF4-FFF2-40B4-BE49-F238E27FC236}">
                <a16:creationId xmlns:a16="http://schemas.microsoft.com/office/drawing/2014/main" id="{A615EFCF-059E-41F7-8E19-31A90EC9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select supported model</a:t>
            </a:r>
          </a:p>
        </p:txBody>
      </p:sp>
      <p:sp>
        <p:nvSpPr>
          <p:cNvPr id="16" name="diag-exit">
            <a:extLst xmlns:a="http://schemas.openxmlformats.org/drawingml/2006/main">
              <a:ext uri="{FF2B5EF4-FFF2-40B4-BE49-F238E27FC236}">
                <a16:creationId xmlns:a16="http://schemas.microsoft.com/office/drawing/2014/main" id="{A8C37B8C-AD89-418F-A70F-9530D66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ag-question">
            <a:extLst xmlns:a="http://schemas.openxmlformats.org/drawingml/2006/main">
              <a:ext uri="{FF2B5EF4-FFF2-40B4-BE49-F238E27FC236}">
                <a16:creationId xmlns:a16="http://schemas.microsoft.com/office/drawing/2014/main" id="{8F13725D-7265-4CD7-807B-0AC33DD9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BD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BBD7"/>
                </a:solidFill>
                <a:latin typeface="Aptos"/>
                <a:ea typeface="Aptos"/>
                <a:cs typeface="Aptos"/>
              </a:rPr>
              <a:t>Exit check: what artifact proves preflight succeeded?</a:t>
            </a:r>
          </a:p>
        </p:txBody>
      </p:sp>
      <p:sp>
        <p:nvSpPr>
          <p:cNvPr id="18" name="diag-answer">
            <a:extLst xmlns:a="http://schemas.openxmlformats.org/drawingml/2006/main">
              <a:ext uri="{FF2B5EF4-FFF2-40B4-BE49-F238E27FC236}">
                <a16:creationId xmlns:a16="http://schemas.microsoft.com/office/drawing/2014/main" id="{A6EEA54D-5F08-4324-A9DB-70C0B370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saved, redacted response with model, finish reason, and usage.</a:t>
            </a:r>
          </a:p>
        </p:txBody>
      </p:sp>
      <p:sp>
        <p:nvSpPr>
          <p:cNvPr id="19" name="eyebrow-6">
            <a:extLst xmlns:a="http://schemas.openxmlformats.org/drawingml/2006/main">
              <a:ext uri="{FF2B5EF4-FFF2-40B4-BE49-F238E27FC236}">
                <a16:creationId xmlns:a16="http://schemas.microsoft.com/office/drawing/2014/main" id="{A6C17A27-25B7-44D7-98A7-BE757996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CH 0  /  ENVIRONMENT</a:t>
            </a:r>
          </a:p>
        </p:txBody>
      </p:sp>
      <p:sp>
        <p:nvSpPr>
          <p:cNvPr id="20" name="title-6">
            <a:extLst xmlns:a="http://schemas.openxmlformats.org/drawingml/2006/main">
              <a:ext uri="{FF2B5EF4-FFF2-40B4-BE49-F238E27FC236}">
                <a16:creationId xmlns:a16="http://schemas.microsoft.com/office/drawing/2014/main" id="{F8F6EC62-A264-459C-9D2D-023D1FCD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Preflight failures belong to different layers</a:t>
            </a:r>
          </a:p>
        </p:txBody>
      </p:sp>
      <p:cxnSp>
        <p:nvCxnSpPr>
          <p:cNvPr id="43" name="header-rule-6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CE"/>
            </a:solidFill>
            <a:prstDash val="solid"/>
          </a:ln>
        </p:spPr>
      </p:cxnSp>
      <p:sp>
        <p:nvSpPr>
          <p:cNvPr id="22" name="footer-6">
            <a:extLst xmlns:a="http://schemas.openxmlformats.org/drawingml/2006/main">
              <a:ext uri="{FF2B5EF4-FFF2-40B4-BE49-F238E27FC236}">
                <a16:creationId xmlns:a16="http://schemas.microsoft.com/office/drawing/2014/main" id="{19820C98-C665-424D-932A-87367EF7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06   •   Environment and preflight</a:t>
            </a:r>
          </a:p>
        </p:txBody>
      </p:sp>
    </p:spTree>
    <p:extLst>
      <p:ext uri="{BB962C8B-B14F-4D97-AF65-F5344CB8AC3E}">
        <p14:creationId xmlns:p14="http://schemas.microsoft.com/office/powerpoint/2010/main" val="745351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E460381F-C221-430C-9805-90354033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268D3ADA-649A-4A20-B7A6-8B7A8DF4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You create secret.txt locally and send only its filename. What exact bytes can the model report?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8092373E-D1D9-4BA2-9448-D433C2A6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DE5227B2-C90C-4B77-B82C-87689451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03ED0B6D-519E-494F-BBF3-F5632F4A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All bytes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612F28EB-7F08-463B-A16F-587F80D4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70188CA7-E703-491D-8DB8-AAAB4231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4ED48169-C6A5-4637-BB5A-952AB4D0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Likely content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8A346F2D-F543-4079-9AD3-71535C2C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6C2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4BF5E599-2871-4905-8EC8-EA317686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EB96BA89-661B-49E7-AD89-10EBC18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 grounded content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DAE4E104-CE99-4BA7-B0FD-E42D4B23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BBDD9B26-F057-4F64-848B-1EF3F7BD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F4CFD944-AE69-43FD-ACDD-488F0EF5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 grounded content—the bytes never crossed the model boundary.</a:t>
            </a:r>
          </a:p>
        </p:txBody>
      </p:sp>
      <p:sp>
        <p:nvSpPr>
          <p:cNvPr id="15" name="eyebrow-7">
            <a:extLst xmlns:a="http://schemas.openxmlformats.org/drawingml/2006/main">
              <a:ext uri="{FF2B5EF4-FFF2-40B4-BE49-F238E27FC236}">
                <a16:creationId xmlns:a16="http://schemas.microsoft.com/office/drawing/2014/main" id="{25862A40-0344-41FD-90AE-4E55171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CH 1  /  MODEL BOUNDARY</a:t>
            </a:r>
          </a:p>
        </p:txBody>
      </p:sp>
      <p:sp>
        <p:nvSpPr>
          <p:cNvPr id="16" name="title-7">
            <a:extLst xmlns:a="http://schemas.openxmlformats.org/drawingml/2006/main">
              <a:ext uri="{FF2B5EF4-FFF2-40B4-BE49-F238E27FC236}">
                <a16:creationId xmlns:a16="http://schemas.microsoft.com/office/drawing/2014/main" id="{0EBAF9E2-C467-4558-AA9F-9E482AD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Can the model know a secret file you just created?</a:t>
            </a:r>
          </a:p>
        </p:txBody>
      </p:sp>
      <p:cxnSp>
        <p:nvCxnSpPr>
          <p:cNvPr id="35" name="header-rule-7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8F3828EF-F28F-4B24-BEFF-70DE8E6C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07   •   The model boundary</a:t>
            </a:r>
          </a:p>
        </p:txBody>
      </p:sp>
    </p:spTree>
    <p:extLst>
      <p:ext uri="{BB962C8B-B14F-4D97-AF65-F5344CB8AC3E}">
        <p14:creationId xmlns:p14="http://schemas.microsoft.com/office/powerpoint/2010/main" val="461911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de-frame">
            <a:extLst xmlns:a="http://schemas.openxmlformats.org/drawingml/2006/main">
              <a:ext uri="{FF2B5EF4-FFF2-40B4-BE49-F238E27FC236}">
                <a16:creationId xmlns:a16="http://schemas.microsoft.com/office/drawing/2014/main" id="{A286BAE9-CFA2-4BAE-B18B-F6AAE306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6667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2" name="code-text">
            <a:extLst xmlns:a="http://schemas.openxmlformats.org/drawingml/2006/main">
              <a:ext uri="{FF2B5EF4-FFF2-40B4-BE49-F238E27FC236}">
                <a16:creationId xmlns:a16="http://schemas.microsoft.com/office/drawing/2014/main" id="{876C2F56-95FC-4D3E-B01B-FB196D43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60960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"messages": [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{ "role": "user",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  "content": "What is in secret.txt?" }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code-callout">
            <a:extLst xmlns:a="http://schemas.openxmlformats.org/drawingml/2006/main">
              <a:ext uri="{FF2B5EF4-FFF2-40B4-BE49-F238E27FC236}">
                <a16:creationId xmlns:a16="http://schemas.microsoft.com/office/drawing/2014/main" id="{E3679A7C-87B8-4B57-8B85-9E483B58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What is absent?</a:t>
            </a:r>
          </a:p>
        </p:txBody>
      </p:sp>
      <p:sp>
        <p:nvSpPr>
          <p:cNvPr id="4" name="code-bullets">
            <a:extLst xmlns:a="http://schemas.openxmlformats.org/drawingml/2006/main">
              <a:ext uri="{FF2B5EF4-FFF2-40B4-BE49-F238E27FC236}">
                <a16:creationId xmlns:a16="http://schemas.microsoft.com/office/drawing/2014/main" id="{DE4BF0AE-E4EC-4D83-8F6E-6B0A0E26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571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No file bytes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No filesystem handle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No tool definition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No prior observation</a:t>
            </a:r>
          </a:p>
        </p:txBody>
      </p:sp>
      <p:sp>
        <p:nvSpPr>
          <p:cNvPr id="5" name="code-evidence">
            <a:extLst xmlns:a="http://schemas.openxmlformats.org/drawingml/2006/main">
              <a:ext uri="{FF2B5EF4-FFF2-40B4-BE49-F238E27FC236}">
                <a16:creationId xmlns:a16="http://schemas.microsoft.com/office/drawing/2014/main" id="{F76797BC-BB58-4B5A-9A5A-CE7D6826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0"/>
            <a:ext cx="3571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evidence-text">
            <a:extLst xmlns:a="http://schemas.openxmlformats.org/drawingml/2006/main">
              <a:ext uri="{FF2B5EF4-FFF2-40B4-BE49-F238E27FC236}">
                <a16:creationId xmlns:a16="http://schemas.microsoft.com/office/drawing/2014/main" id="{5050174C-243B-496D-BCCC-D195159E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102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Inspect the bytes before trusting the claim.</a:t>
            </a:r>
          </a:p>
        </p:txBody>
      </p:sp>
      <p:sp>
        <p:nvSpPr>
          <p:cNvPr id="7" name="eyebrow-8">
            <a:extLst xmlns:a="http://schemas.openxmlformats.org/drawingml/2006/main">
              <a:ext uri="{FF2B5EF4-FFF2-40B4-BE49-F238E27FC236}">
                <a16:creationId xmlns:a16="http://schemas.microsoft.com/office/drawing/2014/main" id="{4289D826-DAAE-47BF-B8F0-F692A428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CH 1  /  MODEL BOUNDARY</a:t>
            </a:r>
          </a:p>
        </p:txBody>
      </p:sp>
      <p:sp>
        <p:nvSpPr>
          <p:cNvPr id="8" name="title-8">
            <a:extLst xmlns:a="http://schemas.openxmlformats.org/drawingml/2006/main">
              <a:ext uri="{FF2B5EF4-FFF2-40B4-BE49-F238E27FC236}">
                <a16:creationId xmlns:a16="http://schemas.microsoft.com/office/drawing/2014/main" id="{899BA577-8C79-443E-995A-A077E2D7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request contains a path, not the file</a:t>
            </a:r>
          </a:p>
        </p:txBody>
      </p:sp>
      <p:cxnSp>
        <p:nvCxnSpPr>
          <p:cNvPr id="19" name="header-rule-8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10" name="footer-8">
            <a:extLst xmlns:a="http://schemas.openxmlformats.org/drawingml/2006/main">
              <a:ext uri="{FF2B5EF4-FFF2-40B4-BE49-F238E27FC236}">
                <a16:creationId xmlns:a16="http://schemas.microsoft.com/office/drawing/2014/main" id="{BDE0DF46-59A5-4D03-ABFA-41448A3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08   •   The model boundary</a:t>
            </a:r>
          </a:p>
        </p:txBody>
      </p:sp>
    </p:spTree>
    <p:extLst>
      <p:ext uri="{BB962C8B-B14F-4D97-AF65-F5344CB8AC3E}">
        <p14:creationId xmlns:p14="http://schemas.microsoft.com/office/powerpoint/2010/main" val="2006381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boundary-arrow-1"/>
          <p:cNvCxnSpPr/>
          <p:nvPr/>
        </p:nvCxnSpPr>
        <p:spPr>
          <a:xfrm xmlns:a="http://schemas.openxmlformats.org/drawingml/2006/main">
            <a:off x="3086100" y="2952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cxnSp>
        <p:nvCxnSpPr>
          <p:cNvPr id="17" name="boundary-arrow-2"/>
          <p:cNvCxnSpPr/>
          <p:nvPr/>
        </p:nvCxnSpPr>
        <p:spPr>
          <a:xfrm xmlns:a="http://schemas.openxmlformats.org/drawingml/2006/main">
            <a:off x="6791325" y="2952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3" name="boundary-node-0">
            <a:extLst xmlns:a="http://schemas.openxmlformats.org/drawingml/2006/main">
              <a:ext uri="{FF2B5EF4-FFF2-40B4-BE49-F238E27FC236}">
                <a16:creationId xmlns:a16="http://schemas.microsoft.com/office/drawing/2014/main" id="{2DBD58FF-D49A-4D65-8F65-D568BF2D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4" name="boundary-node-text-0">
            <a:extLst xmlns:a="http://schemas.openxmlformats.org/drawingml/2006/main">
              <a:ext uri="{FF2B5EF4-FFF2-40B4-BE49-F238E27FC236}">
                <a16:creationId xmlns:a16="http://schemas.microsoft.com/office/drawing/2014/main" id="{AD60DC0A-B785-4BFF-888B-AF6F07C8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TEXT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secret.txt</a:t>
            </a:r>
          </a:p>
        </p:txBody>
      </p:sp>
      <p:sp>
        <p:nvSpPr>
          <p:cNvPr id="5" name="boundary-node-1">
            <a:extLst xmlns:a="http://schemas.openxmlformats.org/drawingml/2006/main">
              <a:ext uri="{FF2B5EF4-FFF2-40B4-BE49-F238E27FC236}">
                <a16:creationId xmlns:a16="http://schemas.microsoft.com/office/drawing/2014/main" id="{92E1AAD0-91FC-48F4-86A7-9BF32776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0F9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6" name="boundary-node-text-1">
            <a:extLst xmlns:a="http://schemas.openxmlformats.org/drawingml/2006/main">
              <a:ext uri="{FF2B5EF4-FFF2-40B4-BE49-F238E27FC236}">
                <a16:creationId xmlns:a16="http://schemas.microsoft.com/office/drawing/2014/main" id="{8982D2B1-ADD4-4591-B937-423AC063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7" name="boundary-node-2">
            <a:extLst xmlns:a="http://schemas.openxmlformats.org/drawingml/2006/main">
              <a:ext uri="{FF2B5EF4-FFF2-40B4-BE49-F238E27FC236}">
                <a16:creationId xmlns:a16="http://schemas.microsoft.com/office/drawing/2014/main" id="{95413914-8BBD-4E03-B2FA-200CD07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8" name="boundary-node-text-2">
            <a:extLst xmlns:a="http://schemas.openxmlformats.org/drawingml/2006/main">
              <a:ext uri="{FF2B5EF4-FFF2-40B4-BE49-F238E27FC236}">
                <a16:creationId xmlns:a16="http://schemas.microsoft.com/office/drawing/2014/main" id="{D232B31F-297A-44FE-8778-E2757043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LOCAL DISK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9" name="boundary-label-1">
            <a:extLst xmlns:a="http://schemas.openxmlformats.org/drawingml/2006/main">
              <a:ext uri="{FF2B5EF4-FFF2-40B4-BE49-F238E27FC236}">
                <a16:creationId xmlns:a16="http://schemas.microsoft.com/office/drawing/2014/main" id="{46040416-EE28-461D-81E9-0B3F2530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describes</a:t>
            </a:r>
          </a:p>
        </p:txBody>
      </p:sp>
      <p:sp>
        <p:nvSpPr>
          <p:cNvPr id="10" name="boundary-label-2">
            <a:extLst xmlns:a="http://schemas.openxmlformats.org/drawingml/2006/main">
              <a:ext uri="{FF2B5EF4-FFF2-40B4-BE49-F238E27FC236}">
                <a16:creationId xmlns:a16="http://schemas.microsoft.com/office/drawing/2014/main" id="{BC139C24-A1C5-4684-A9A0-AE443B43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cannot cross</a:t>
            </a:r>
          </a:p>
        </p:txBody>
      </p:sp>
      <p:sp>
        <p:nvSpPr>
          <p:cNvPr id="11" name="boundary-caption">
            <a:extLst xmlns:a="http://schemas.openxmlformats.org/drawingml/2006/main">
              <a:ext uri="{FF2B5EF4-FFF2-40B4-BE49-F238E27FC236}">
                <a16:creationId xmlns:a16="http://schemas.microsoft.com/office/drawing/2014/main" id="{DD0639E6-858A-4CE7-BA05-6424AF5F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Names can be guessed. Contents require an observation channel.</a:t>
            </a:r>
          </a:p>
        </p:txBody>
      </p:sp>
      <p:sp>
        <p:nvSpPr>
          <p:cNvPr id="12" name="eyebrow-9">
            <a:extLst xmlns:a="http://schemas.openxmlformats.org/drawingml/2006/main">
              <a:ext uri="{FF2B5EF4-FFF2-40B4-BE49-F238E27FC236}">
                <a16:creationId xmlns:a16="http://schemas.microsoft.com/office/drawing/2014/main" id="{3B521CB3-0B91-4605-8790-FB6D317D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CH 1  /  MODEL BOUNDARY</a:t>
            </a:r>
          </a:p>
        </p:txBody>
      </p:sp>
      <p:sp>
        <p:nvSpPr>
          <p:cNvPr id="13" name="title-9">
            <a:extLst xmlns:a="http://schemas.openxmlformats.org/drawingml/2006/main">
              <a:ext uri="{FF2B5EF4-FFF2-40B4-BE49-F238E27FC236}">
                <a16:creationId xmlns:a16="http://schemas.microsoft.com/office/drawing/2014/main" id="{4E60514D-B6BB-4A13-AF79-A6A0EB0E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filename is not a filesystem capability</a:t>
            </a:r>
          </a:p>
        </p:txBody>
      </p:sp>
      <p:cxnSp>
        <p:nvCxnSpPr>
          <p:cNvPr id="29" name="header-rule-9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15" name="footer-9">
            <a:extLst xmlns:a="http://schemas.openxmlformats.org/drawingml/2006/main">
              <a:ext uri="{FF2B5EF4-FFF2-40B4-BE49-F238E27FC236}">
                <a16:creationId xmlns:a16="http://schemas.microsoft.com/office/drawing/2014/main" id="{74742087-54C5-40AA-8CDD-0D742BC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09   •   The model boundary</a:t>
            </a:r>
          </a:p>
        </p:txBody>
      </p:sp>
    </p:spTree>
    <p:extLst>
      <p:ext uri="{BB962C8B-B14F-4D97-AF65-F5344CB8AC3E}">
        <p14:creationId xmlns:p14="http://schemas.microsoft.com/office/powerpoint/2010/main" val="971554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rio-index-0">
            <a:extLst xmlns:a="http://schemas.openxmlformats.org/drawingml/2006/main">
              <a:ext uri="{FF2B5EF4-FFF2-40B4-BE49-F238E27FC236}">
                <a16:creationId xmlns:a16="http://schemas.microsoft.com/office/drawing/2014/main" id="{A5959119-8070-4BBF-BF00-5B5E2268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18" name="trio-rule-0"/>
          <p:cNvCxnSpPr/>
          <p:nvPr/>
        </p:nvCxnSpPr>
        <p:spPr>
          <a:xfrm xmlns:a="http://schemas.openxmlformats.org/drawingml/2006/main">
            <a:off x="533400" y="23050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3" name="trio-title-0">
            <a:extLst xmlns:a="http://schemas.openxmlformats.org/drawingml/2006/main">
              <a:ext uri="{FF2B5EF4-FFF2-40B4-BE49-F238E27FC236}">
                <a16:creationId xmlns:a16="http://schemas.microsoft.com/office/drawing/2014/main" id="{24BF9EF9-2885-4097-922F-34B45D35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4" name="trio-body-0">
            <a:extLst xmlns:a="http://schemas.openxmlformats.org/drawingml/2006/main">
              <a:ext uri="{FF2B5EF4-FFF2-40B4-BE49-F238E27FC236}">
                <a16:creationId xmlns:a16="http://schemas.microsoft.com/office/drawing/2014/main" id="{10B4E42D-0954-45F2-9EE9-15A08C38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Observed in a tool result or supplied input.</a:t>
            </a:r>
          </a:p>
        </p:txBody>
      </p:sp>
      <p:sp>
        <p:nvSpPr>
          <p:cNvPr id="5" name="trio-index-1">
            <a:extLst xmlns:a="http://schemas.openxmlformats.org/drawingml/2006/main">
              <a:ext uri="{FF2B5EF4-FFF2-40B4-BE49-F238E27FC236}">
                <a16:creationId xmlns:a16="http://schemas.microsoft.com/office/drawing/2014/main" id="{04A79E1D-2094-4C26-9792-211C1EAA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22" name="trio-rule-1"/>
          <p:cNvCxnSpPr/>
          <p:nvPr/>
        </p:nvCxnSpPr>
        <p:spPr>
          <a:xfrm xmlns:a="http://schemas.openxmlformats.org/drawingml/2006/main">
            <a:off x="4314825" y="23050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7" name="trio-title-1">
            <a:extLst xmlns:a="http://schemas.openxmlformats.org/drawingml/2006/main">
              <a:ext uri="{FF2B5EF4-FFF2-40B4-BE49-F238E27FC236}">
                <a16:creationId xmlns:a16="http://schemas.microsoft.com/office/drawing/2014/main" id="{B718085B-352A-4A1E-9B3A-F1E939D0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8" name="trio-body-1">
            <a:extLst xmlns:a="http://schemas.openxmlformats.org/drawingml/2006/main">
              <a:ext uri="{FF2B5EF4-FFF2-40B4-BE49-F238E27FC236}">
                <a16:creationId xmlns:a16="http://schemas.microsoft.com/office/drawing/2014/main" id="{3881A72B-2E6A-4A8B-AA75-F78EB5DA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194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Derived from evidence; may still be wrong.</a:t>
            </a:r>
          </a:p>
        </p:txBody>
      </p:sp>
      <p:sp>
        <p:nvSpPr>
          <p:cNvPr id="9" name="trio-index-2">
            <a:extLst xmlns:a="http://schemas.openxmlformats.org/drawingml/2006/main">
              <a:ext uri="{FF2B5EF4-FFF2-40B4-BE49-F238E27FC236}">
                <a16:creationId xmlns:a16="http://schemas.microsoft.com/office/drawing/2014/main" id="{383688E8-1048-45CD-A0E1-A2EE32F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26" name="trio-rule-2"/>
          <p:cNvCxnSpPr/>
          <p:nvPr/>
        </p:nvCxnSpPr>
        <p:spPr>
          <a:xfrm xmlns:a="http://schemas.openxmlformats.org/drawingml/2006/main">
            <a:off x="8096250" y="23050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11" name="trio-title-2">
            <a:extLst xmlns:a="http://schemas.openxmlformats.org/drawingml/2006/main">
              <a:ext uri="{FF2B5EF4-FFF2-40B4-BE49-F238E27FC236}">
                <a16:creationId xmlns:a16="http://schemas.microsoft.com/office/drawing/2014/main" id="{710A0F65-7456-4093-B8EF-7FF104B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trio-body-2">
            <a:extLst xmlns:a="http://schemas.openxmlformats.org/drawingml/2006/main">
              <a:ext uri="{FF2B5EF4-FFF2-40B4-BE49-F238E27FC236}">
                <a16:creationId xmlns:a16="http://schemas.microsoft.com/office/drawing/2014/main" id="{2931EEDC-B4F4-46D1-A2DD-F312C4F7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A proposed action; nothing has executed yet.</a:t>
            </a:r>
          </a:p>
        </p:txBody>
      </p:sp>
      <p:sp>
        <p:nvSpPr>
          <p:cNvPr id="13" name="eyebrow-10">
            <a:extLst xmlns:a="http://schemas.openxmlformats.org/drawingml/2006/main">
              <a:ext uri="{FF2B5EF4-FFF2-40B4-BE49-F238E27FC236}">
                <a16:creationId xmlns:a16="http://schemas.microsoft.com/office/drawing/2014/main" id="{6099F8A9-F92F-4FA7-987E-9F2DF97F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CH 1  /  MODEL BOUNDARY</a:t>
            </a:r>
          </a:p>
        </p:txBody>
      </p:sp>
      <p:sp>
        <p:nvSpPr>
          <p:cNvPr id="14" name="title-10">
            <a:extLst xmlns:a="http://schemas.openxmlformats.org/drawingml/2006/main">
              <a:ext uri="{FF2B5EF4-FFF2-40B4-BE49-F238E27FC236}">
                <a16:creationId xmlns:a16="http://schemas.microsoft.com/office/drawing/2014/main" id="{4637E794-5799-4376-85F9-0ECD9E76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Classify every model statement before trusting it</a:t>
            </a:r>
          </a:p>
        </p:txBody>
      </p:sp>
      <p:cxnSp>
        <p:nvCxnSpPr>
          <p:cNvPr id="31" name="header-rule-10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16" name="footer-10">
            <a:extLst xmlns:a="http://schemas.openxmlformats.org/drawingml/2006/main">
              <a:ext uri="{FF2B5EF4-FFF2-40B4-BE49-F238E27FC236}">
                <a16:creationId xmlns:a16="http://schemas.microsoft.com/office/drawing/2014/main" id="{E38CE594-1CA0-4BD1-86C0-A49C683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10   •   The model boundary</a:t>
            </a:r>
          </a:p>
        </p:txBody>
      </p:sp>
    </p:spTree>
    <p:extLst>
      <p:ext uri="{BB962C8B-B14F-4D97-AF65-F5344CB8AC3E}">
        <p14:creationId xmlns:p14="http://schemas.microsoft.com/office/powerpoint/2010/main" val="1643548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15EDED24-835D-4328-93AD-8EDCA3EF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DEAFE0DD-45B1-4CBA-9050-4417627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Request A receives nonce 7F3A. Request B sends no history. What should B know?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A8E14EB8-378B-42A2-A006-B5E1669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E3CC4706-0D87-4027-9993-371BBCBA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872F9BE1-B396-4FD5-9D92-142300E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exact nonce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4AE872F8-9770-4336-B18F-D8A235E7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5CB866E3-E345-4B33-8D8D-34A00EB6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8CE764B8-36EB-47D3-B27A-1DEEDA37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 fuzzy memory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138669BA-11CF-49D5-B200-00A2B723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6C2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5FB93BDF-C8EB-4AAA-A526-725FBC9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35F5D9DD-B12D-4957-8D2F-7671704A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Nothing grounded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43DCE828-0F16-4599-B93B-857942C3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C20F4527-AAF3-4287-8618-D65E59BC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0ACA9C90-3AC7-41D1-9077-D63DA2E4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Nothing grounded—independent calls do not inherit your local history.</a:t>
            </a:r>
          </a:p>
        </p:txBody>
      </p:sp>
      <p:sp>
        <p:nvSpPr>
          <p:cNvPr id="15" name="eyebrow-11">
            <a:extLst xmlns:a="http://schemas.openxmlformats.org/drawingml/2006/main">
              <a:ext uri="{FF2B5EF4-FFF2-40B4-BE49-F238E27FC236}">
                <a16:creationId xmlns:a16="http://schemas.microsoft.com/office/drawing/2014/main" id="{70ECFEA5-B1F9-4C90-A122-22369C80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CH 1  /  MODEL BOUNDARY</a:t>
            </a:r>
          </a:p>
        </p:txBody>
      </p:sp>
      <p:sp>
        <p:nvSpPr>
          <p:cNvPr id="16" name="title-11">
            <a:extLst xmlns:a="http://schemas.openxmlformats.org/drawingml/2006/main">
              <a:ext uri="{FF2B5EF4-FFF2-40B4-BE49-F238E27FC236}">
                <a16:creationId xmlns:a16="http://schemas.microsoft.com/office/drawing/2014/main" id="{328D036A-DD33-472A-A6BE-F9A0FF54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Will request B remember nonce A?</a:t>
            </a:r>
          </a:p>
        </p:txBody>
      </p:sp>
      <p:cxnSp>
        <p:nvCxnSpPr>
          <p:cNvPr id="35" name="header-rule-11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18" name="footer-11">
            <a:extLst xmlns:a="http://schemas.openxmlformats.org/drawingml/2006/main">
              <a:ext uri="{FF2B5EF4-FFF2-40B4-BE49-F238E27FC236}">
                <a16:creationId xmlns:a16="http://schemas.microsoft.com/office/drawing/2014/main" id="{0BD3A691-BE91-4CB8-ADB0-E1363436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11   •   The model boundary</a:t>
            </a:r>
          </a:p>
        </p:txBody>
      </p:sp>
    </p:spTree>
    <p:extLst>
      <p:ext uri="{BB962C8B-B14F-4D97-AF65-F5344CB8AC3E}">
        <p14:creationId xmlns:p14="http://schemas.microsoft.com/office/powerpoint/2010/main" val="15358127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5E0B5FC0-335E-430B-887A-F6434F0B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6C2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B2C25E20-307B-435E-A2B2-D40777D1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87D7C8B2-D03A-400C-AD5C-75A9561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1DF40A80-4637-4E55-AAD4-57EE8E8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C299BD4-B47B-48BD-831C-2C3E01D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6C2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A808ABDD-863A-4581-ADE1-4812122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AB8BE0A8-FE42-4AFD-BFDC-56ECF849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E641FA14-D59E-40EE-95A1-82C61E60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tool call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24B69140-564F-4392-996C-088F83BA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6C2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687A7059-5EBD-4C5F-A4EA-83B2ED1E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1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C4C5E8B7-0D53-4B7E-9AB2-F4C4A5A9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BF07F675-2FA8-40CA-83A0-697B0F10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6F9050E-AFC5-4947-9CEA-1A265F9D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6C2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D54C7336-0CDC-45EE-B8CB-2062516D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C1AC6F20-DD24-46FE-A9D2-52645EB3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462EC597-CCF4-4DF8-938A-4550D831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next decision</a:t>
            </a:r>
          </a:p>
        </p:txBody>
      </p:sp>
      <p:sp>
        <p:nvSpPr>
          <p:cNvPr id="18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2F1F2620-D674-41F8-B323-0E5F7821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application rebuilds the conversation on every model request.</a:t>
            </a:r>
          </a:p>
        </p:txBody>
      </p:sp>
      <p:sp>
        <p:nvSpPr>
          <p:cNvPr id="19" name="eyebrow-12">
            <a:extLst xmlns:a="http://schemas.openxmlformats.org/drawingml/2006/main">
              <a:ext uri="{FF2B5EF4-FFF2-40B4-BE49-F238E27FC236}">
                <a16:creationId xmlns:a16="http://schemas.microsoft.com/office/drawing/2014/main" id="{445A6D59-06E2-4504-8363-A526730D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CH 1  /  MODEL BOUNDARY</a:t>
            </a:r>
          </a:p>
        </p:txBody>
      </p:sp>
      <p:sp>
        <p:nvSpPr>
          <p:cNvPr id="20" name="title-12">
            <a:extLst xmlns:a="http://schemas.openxmlformats.org/drawingml/2006/main">
              <a:ext uri="{FF2B5EF4-FFF2-40B4-BE49-F238E27FC236}">
                <a16:creationId xmlns:a16="http://schemas.microsoft.com/office/drawing/2014/main" id="{C1EF64AD-4580-4DBE-ABFD-B8A032EE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Continuity comes from replayed causal history</a:t>
            </a:r>
          </a:p>
        </p:txBody>
      </p:sp>
      <p:cxnSp>
        <p:nvCxnSpPr>
          <p:cNvPr id="43" name="header-rule-12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22" name="footer-12">
            <a:extLst xmlns:a="http://schemas.openxmlformats.org/drawingml/2006/main">
              <a:ext uri="{FF2B5EF4-FFF2-40B4-BE49-F238E27FC236}">
                <a16:creationId xmlns:a16="http://schemas.microsoft.com/office/drawing/2014/main" id="{344E623A-9F21-4C03-B015-7EF4623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12   •   The model boundary</a:t>
            </a:r>
          </a:p>
        </p:txBody>
      </p:sp>
    </p:spTree>
    <p:extLst>
      <p:ext uri="{BB962C8B-B14F-4D97-AF65-F5344CB8AC3E}">
        <p14:creationId xmlns:p14="http://schemas.microsoft.com/office/powerpoint/2010/main" val="20583643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loop-arrow-1"/>
          <p:cNvCxnSpPr/>
          <p:nvPr/>
        </p:nvCxnSpPr>
        <p:spPr>
          <a:xfrm xmlns:a="http://schemas.openxmlformats.org/drawingml/2006/main">
            <a:off x="3381375" y="266700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cxnSp>
        <p:nvCxnSpPr>
          <p:cNvPr id="19" name="loop-arrow-2"/>
          <p:cNvCxnSpPr/>
          <p:nvPr/>
        </p:nvCxnSpPr>
        <p:spPr>
          <a:xfrm xmlns:a="http://schemas.openxmlformats.org/drawingml/2006/main">
            <a:off x="9191625" y="3048000"/>
            <a:ext cx="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cxnSp>
        <p:nvCxnSpPr>
          <p:cNvPr id="20" name="loop-arrow-3"/>
          <p:cNvCxnSpPr/>
          <p:nvPr/>
        </p:nvCxnSpPr>
        <p:spPr>
          <a:xfrm xmlns:a="http://schemas.openxmlformats.org/drawingml/2006/main">
            <a:off x="3381375" y="485775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cxnSp>
        <p:nvCxnSpPr>
          <p:cNvPr id="21" name="loop-arrow-4"/>
          <p:cNvCxnSpPr/>
          <p:nvPr/>
        </p:nvCxnSpPr>
        <p:spPr>
          <a:xfrm xmlns:a="http://schemas.openxmlformats.org/drawingml/2006/main">
            <a:off x="1571625" y="3048000"/>
            <a:ext cx="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5" name="loop-node-0">
            <a:extLst xmlns:a="http://schemas.openxmlformats.org/drawingml/2006/main">
              <a:ext uri="{FF2B5EF4-FFF2-40B4-BE49-F238E27FC236}">
                <a16:creationId xmlns:a16="http://schemas.microsoft.com/office/drawing/2014/main" id="{E923E67A-2A20-432B-A0CA-648E0396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38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6" name="loop-text-0">
            <a:extLst xmlns:a="http://schemas.openxmlformats.org/drawingml/2006/main">
              <a:ext uri="{FF2B5EF4-FFF2-40B4-BE49-F238E27FC236}">
                <a16:creationId xmlns:a16="http://schemas.microsoft.com/office/drawing/2014/main" id="{7D7F1D3B-830E-486C-A353-0DB5431C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35267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7" name="loop-node-1">
            <a:extLst xmlns:a="http://schemas.openxmlformats.org/drawingml/2006/main">
              <a:ext uri="{FF2B5EF4-FFF2-40B4-BE49-F238E27FC236}">
                <a16:creationId xmlns:a16="http://schemas.microsoft.com/office/drawing/2014/main" id="{3EE50EF7-F2E9-4A3B-8533-2EC7BAA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38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8" name="loop-text-1">
            <a:extLst xmlns:a="http://schemas.openxmlformats.org/drawingml/2006/main">
              <a:ext uri="{FF2B5EF4-FFF2-40B4-BE49-F238E27FC236}">
                <a16:creationId xmlns:a16="http://schemas.microsoft.com/office/drawing/2014/main" id="{A3251451-9E8F-4F20-B8A3-49CE766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5267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9" name="loop-node-2">
            <a:extLst xmlns:a="http://schemas.openxmlformats.org/drawingml/2006/main">
              <a:ext uri="{FF2B5EF4-FFF2-40B4-BE49-F238E27FC236}">
                <a16:creationId xmlns:a16="http://schemas.microsoft.com/office/drawing/2014/main" id="{AF20FD4E-D3EB-4DFA-A874-7546AD8A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2912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10" name="loop-text-2">
            <a:extLst xmlns:a="http://schemas.openxmlformats.org/drawingml/2006/main">
              <a:ext uri="{FF2B5EF4-FFF2-40B4-BE49-F238E27FC236}">
                <a16:creationId xmlns:a16="http://schemas.microsoft.com/office/drawing/2014/main" id="{BE4D353E-BD22-4E91-B4CD-9E9C8D81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543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Compile / test</a:t>
            </a:r>
          </a:p>
        </p:txBody>
      </p:sp>
      <p:sp>
        <p:nvSpPr>
          <p:cNvPr id="11" name="loop-node-3">
            <a:extLst xmlns:a="http://schemas.openxmlformats.org/drawingml/2006/main">
              <a:ext uri="{FF2B5EF4-FFF2-40B4-BE49-F238E27FC236}">
                <a16:creationId xmlns:a16="http://schemas.microsoft.com/office/drawing/2014/main" id="{B735C9D0-864E-446C-9FF6-59E2659D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2912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7B56C2"/>
          </a:solidFill>
          <a:ln xmlns:a="http://schemas.openxmlformats.org/drawingml/2006/main" w="9525">
            <a:solidFill>
              <a:srgbClr val="7B56C2"/>
            </a:solidFill>
            <a:prstDash val="solid"/>
          </a:ln>
        </p:spPr>
      </p:sp>
      <p:sp>
        <p:nvSpPr>
          <p:cNvPr id="12" name="loop-text-3">
            <a:extLst xmlns:a="http://schemas.openxmlformats.org/drawingml/2006/main">
              <a:ext uri="{FF2B5EF4-FFF2-40B4-BE49-F238E27FC236}">
                <a16:creationId xmlns:a16="http://schemas.microsoft.com/office/drawing/2014/main" id="{4881CE15-0CD5-413B-B102-C3706992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543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3" name="loop-caption">
            <a:extLst xmlns:a="http://schemas.openxmlformats.org/drawingml/2006/main">
              <a:ext uri="{FF2B5EF4-FFF2-40B4-BE49-F238E27FC236}">
                <a16:creationId xmlns:a16="http://schemas.microsoft.com/office/drawing/2014/main" id="{63AA6F75-DEDB-41E4-908C-8D701BB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194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plausible sentence is not completion evidence.</a:t>
            </a:r>
          </a:p>
        </p:txBody>
      </p:sp>
      <p:sp>
        <p:nvSpPr>
          <p:cNvPr id="14" name="eyebrow-13">
            <a:extLst xmlns:a="http://schemas.openxmlformats.org/drawingml/2006/main">
              <a:ext uri="{FF2B5EF4-FFF2-40B4-BE49-F238E27FC236}">
                <a16:creationId xmlns:a16="http://schemas.microsoft.com/office/drawing/2014/main" id="{95301B26-DA0D-4A26-BA8D-129357A2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CH 1  /  MODEL BOUNDARY</a:t>
            </a:r>
          </a:p>
        </p:txBody>
      </p:sp>
      <p:sp>
        <p:nvSpPr>
          <p:cNvPr id="15" name="title-13">
            <a:extLst xmlns:a="http://schemas.openxmlformats.org/drawingml/2006/main">
              <a:ext uri="{FF2B5EF4-FFF2-40B4-BE49-F238E27FC236}">
                <a16:creationId xmlns:a16="http://schemas.microsoft.com/office/drawing/2014/main" id="{ADDCA747-BA88-4903-94B3-EA77C108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Reliable claims follow an evidence loop</a:t>
            </a:r>
          </a:p>
        </p:txBody>
      </p:sp>
      <p:cxnSp>
        <p:nvCxnSpPr>
          <p:cNvPr id="33" name="header-rule-13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17" name="footer-13">
            <a:extLst xmlns:a="http://schemas.openxmlformats.org/drawingml/2006/main">
              <a:ext uri="{FF2B5EF4-FFF2-40B4-BE49-F238E27FC236}">
                <a16:creationId xmlns:a16="http://schemas.microsoft.com/office/drawing/2014/main" id="{E45A8039-03FE-4815-ACA1-D7BC7CB5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13   •   The model boundary</a:t>
            </a:r>
          </a:p>
        </p:txBody>
      </p:sp>
    </p:spTree>
    <p:extLst>
      <p:ext uri="{BB962C8B-B14F-4D97-AF65-F5344CB8AC3E}">
        <p14:creationId xmlns:p14="http://schemas.microsoft.com/office/powerpoint/2010/main" val="9461268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xit-statement">
            <a:extLst xmlns:a="http://schemas.openxmlformats.org/drawingml/2006/main">
              <a:ext uri="{FF2B5EF4-FFF2-40B4-BE49-F238E27FC236}">
                <a16:creationId xmlns:a16="http://schemas.microsoft.com/office/drawing/2014/main" id="{F0CADADF-0463-4D2D-8380-2920BAB6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Before read_file: secret.txt is only text.</a:t>
            </a:r>
          </a:p>
          <a:p xmlns:a="http://schemas.openxmlformats.org/drawingml/2006/main">
            <a:pPr algn="ctr">
              <a:defRPr sz="24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After read_file: its returned bytes become evidence.</a:t>
            </a:r>
          </a:p>
        </p:txBody>
      </p:sp>
      <p:cxnSp>
        <p:nvCxnSpPr>
          <p:cNvPr id="10" name="exit-rule"/>
          <p:cNvCxnSpPr/>
          <p:nvPr/>
        </p:nvCxnSpPr>
        <p:spPr>
          <a:xfrm xmlns:a="http://schemas.openxmlformats.org/drawingml/2006/main">
            <a:off x="2571750" y="4000500"/>
            <a:ext cx="704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B56C2"/>
            </a:solidFill>
            <a:prstDash val="solid"/>
          </a:ln>
        </p:spPr>
      </p:cxnSp>
      <p:sp>
        <p:nvSpPr>
          <p:cNvPr id="3" name="exit-box">
            <a:extLst xmlns:a="http://schemas.openxmlformats.org/drawingml/2006/main">
              <a:ext uri="{FF2B5EF4-FFF2-40B4-BE49-F238E27FC236}">
                <a16:creationId xmlns:a16="http://schemas.microsoft.com/office/drawing/2014/main" id="{C515C179-8398-41FB-BBB3-41370E3A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xit-question">
            <a:extLst xmlns:a="http://schemas.openxmlformats.org/drawingml/2006/main">
              <a:ext uri="{FF2B5EF4-FFF2-40B4-BE49-F238E27FC236}">
                <a16:creationId xmlns:a16="http://schemas.microsoft.com/office/drawing/2014/main" id="{12414131-8726-4B51-93DB-4BC1DC2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Mark the first event in the trace that crosses the boundary.</a:t>
            </a:r>
          </a:p>
        </p:txBody>
      </p:sp>
      <p:sp>
        <p:nvSpPr>
          <p:cNvPr id="5" name="eyebrow-14">
            <a:extLst xmlns:a="http://schemas.openxmlformats.org/drawingml/2006/main">
              <a:ext uri="{FF2B5EF4-FFF2-40B4-BE49-F238E27FC236}">
                <a16:creationId xmlns:a16="http://schemas.microsoft.com/office/drawing/2014/main" id="{91D45357-DA20-497A-816D-93BB4557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56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B56C2"/>
                </a:solidFill>
                <a:latin typeface="Aptos"/>
                <a:ea typeface="Aptos"/>
                <a:cs typeface="Aptos"/>
              </a:rPr>
              <a:t>CH 1  /  MODEL BOUNDARY</a:t>
            </a:r>
          </a:p>
        </p:txBody>
      </p:sp>
      <p:sp>
        <p:nvSpPr>
          <p:cNvPr id="6" name="title-14">
            <a:extLst xmlns:a="http://schemas.openxmlformats.org/drawingml/2006/main">
              <a:ext uri="{FF2B5EF4-FFF2-40B4-BE49-F238E27FC236}">
                <a16:creationId xmlns:a16="http://schemas.microsoft.com/office/drawing/2014/main" id="{07023C76-6C96-4EA1-8B22-EA8CE2B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first grounded fact arrives in a tool result</a:t>
            </a:r>
          </a:p>
        </p:txBody>
      </p:sp>
      <p:cxnSp>
        <p:nvCxnSpPr>
          <p:cNvPr id="15" name="header-rule-14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B56C2"/>
            </a:solidFill>
            <a:prstDash val="solid"/>
          </a:ln>
        </p:spPr>
      </p:cxnSp>
      <p:sp>
        <p:nvSpPr>
          <p:cNvPr id="8" name="footer-14">
            <a:extLst xmlns:a="http://schemas.openxmlformats.org/drawingml/2006/main">
              <a:ext uri="{FF2B5EF4-FFF2-40B4-BE49-F238E27FC236}">
                <a16:creationId xmlns:a16="http://schemas.microsoft.com/office/drawing/2014/main" id="{2E3C89B5-FBAF-4059-A891-86D094B0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14   •   The model boundary</a:t>
            </a:r>
          </a:p>
        </p:txBody>
      </p:sp>
    </p:spTree>
    <p:extLst>
      <p:ext uri="{BB962C8B-B14F-4D97-AF65-F5344CB8AC3E}">
        <p14:creationId xmlns:p14="http://schemas.microsoft.com/office/powerpoint/2010/main" val="14944296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3EFFA84B-C7A6-450C-B2AE-F39E35E4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F7697289-B640-41CE-8463-09D42306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A: “Be careful and fix it.”</a:t>
            </a:r>
          </a:p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B: “Read before write; run focused tests; cite final evidence.”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4993BA19-D283-475E-929A-F562A35C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EC2B6C6B-913E-4A30-AC86-4E2ABA0B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1684AD0A-3B8D-478D-96AB-A5EB179B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Prompt A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29FD0DE5-3F67-417A-A315-216BBBCA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666E7C6A-02AD-4C28-A7E3-3ADB3AEC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0E8A1D67-0F8A-46C7-BDE9-07AABF01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Prompt B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B927D131-D41B-4086-BB56-6AC6A6A9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6778226E-61AF-43A2-93DA-445591AD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ECFD275C-0224-4922-9C24-26A6870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No difference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9469EEA3-07D9-4E94-A3C9-A8152A44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07C18069-0893-4009-8659-FF508311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B1FDA54E-2F4A-4E6A-93D5-4B16AC3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Prompt B turns behavior into observable checkpoints.</a:t>
            </a:r>
          </a:p>
        </p:txBody>
      </p:sp>
      <p:sp>
        <p:nvSpPr>
          <p:cNvPr id="15" name="eyebrow-15">
            <a:extLst xmlns:a="http://schemas.openxmlformats.org/drawingml/2006/main">
              <a:ext uri="{FF2B5EF4-FFF2-40B4-BE49-F238E27FC236}">
                <a16:creationId xmlns:a16="http://schemas.microsoft.com/office/drawing/2014/main" id="{E9FE2EC7-B875-41DC-A4B5-3EB52796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CH 2  /  PROMPTS + ROLES</a:t>
            </a:r>
          </a:p>
        </p:txBody>
      </p:sp>
      <p:sp>
        <p:nvSpPr>
          <p:cNvPr id="16" name="title-15">
            <a:extLst xmlns:a="http://schemas.openxmlformats.org/drawingml/2006/main">
              <a:ext uri="{FF2B5EF4-FFF2-40B4-BE49-F238E27FC236}">
                <a16:creationId xmlns:a16="http://schemas.microsoft.com/office/drawing/2014/main" id="{4B1069CF-3B40-46E1-A426-B4C49C4A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Which prompt leaves a trace you can audit?</a:t>
            </a:r>
          </a:p>
        </p:txBody>
      </p:sp>
      <p:cxnSp>
        <p:nvCxnSpPr>
          <p:cNvPr id="35" name="header-rule-15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05A2A"/>
            </a:solidFill>
            <a:prstDash val="solid"/>
          </a:ln>
        </p:spPr>
      </p:cxnSp>
      <p:sp>
        <p:nvSpPr>
          <p:cNvPr id="18" name="footer-15">
            <a:extLst xmlns:a="http://schemas.openxmlformats.org/drawingml/2006/main">
              <a:ext uri="{FF2B5EF4-FFF2-40B4-BE49-F238E27FC236}">
                <a16:creationId xmlns:a16="http://schemas.microsoft.com/office/drawing/2014/main" id="{1D73E7B7-B70C-487F-A0C6-F0293FEA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15   •   Prompts and message roles</a:t>
            </a:r>
          </a:p>
        </p:txBody>
      </p:sp>
    </p:spTree>
    <p:extLst>
      <p:ext uri="{BB962C8B-B14F-4D97-AF65-F5344CB8AC3E}">
        <p14:creationId xmlns:p14="http://schemas.microsoft.com/office/powerpoint/2010/main" val="8844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4D8DA6-915A-4954-B5CB-96E5F3AF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F0C61E32-385C-4B8E-97AE-DAFFF54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AC681136-A57A-4D1A-A9DA-D127BD3E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3D7BC4B6-8DE3-417E-87E6-32C27E77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stable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A9C5807-96E8-4BF0-8C4D-E99CC125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CC14B576-9F43-43FA-9036-8CFBA39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5E5B883C-F6A2-469D-8ACC-225AC91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AA9A76B3-AE30-4A20-BA34-528605C3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BA9940C1-5253-42B3-A792-3AFD8B70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AE4FD6CF-92F7-4531-BEC8-D65EFC44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1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3AC685E0-436F-48F8-8204-BEF1B207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69D566F4-9006-473D-8A75-76329581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call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9481FE9F-0D41-488E-872D-EB5C91E0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5A324AB1-0602-4498-A32A-BBA36975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D537ABD9-5B01-4677-93E5-0624EBAD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48D14636-A8D0-45A0-97FB-5F1715BC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8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55A98C44-AE26-45B7-9F3D-9ED796BE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Role is not decoration; it tells the adapter how each message functions.</a:t>
            </a:r>
          </a:p>
        </p:txBody>
      </p:sp>
      <p:sp>
        <p:nvSpPr>
          <p:cNvPr id="19" name="eyebrow-16">
            <a:extLst xmlns:a="http://schemas.openxmlformats.org/drawingml/2006/main">
              <a:ext uri="{FF2B5EF4-FFF2-40B4-BE49-F238E27FC236}">
                <a16:creationId xmlns:a16="http://schemas.microsoft.com/office/drawing/2014/main" id="{FC0EAA4F-D898-45AA-A45E-021D0DCD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CH 2  /  PROMPTS + ROLES</a:t>
            </a:r>
          </a:p>
        </p:txBody>
      </p:sp>
      <p:sp>
        <p:nvSpPr>
          <p:cNvPr id="20" name="title-16">
            <a:extLst xmlns:a="http://schemas.openxmlformats.org/drawingml/2006/main">
              <a:ext uri="{FF2B5EF4-FFF2-40B4-BE49-F238E27FC236}">
                <a16:creationId xmlns:a16="http://schemas.microsoft.com/office/drawing/2014/main" id="{FF21A08F-D8C0-4FB5-972F-8FBF35AA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Message roles create a causal record</a:t>
            </a:r>
          </a:p>
        </p:txBody>
      </p:sp>
      <p:cxnSp>
        <p:nvCxnSpPr>
          <p:cNvPr id="43" name="header-rule-16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05A2A"/>
            </a:solidFill>
            <a:prstDash val="solid"/>
          </a:ln>
        </p:spPr>
      </p:cxnSp>
      <p:sp>
        <p:nvSpPr>
          <p:cNvPr id="22" name="footer-16">
            <a:extLst xmlns:a="http://schemas.openxmlformats.org/drawingml/2006/main">
              <a:ext uri="{FF2B5EF4-FFF2-40B4-BE49-F238E27FC236}">
                <a16:creationId xmlns:a16="http://schemas.microsoft.com/office/drawing/2014/main" id="{D6B7999B-400D-4931-A538-BA92BDC8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16   •   Prompts and message roles</a:t>
            </a:r>
          </a:p>
        </p:txBody>
      </p:sp>
    </p:spTree>
    <p:extLst>
      <p:ext uri="{BB962C8B-B14F-4D97-AF65-F5344CB8AC3E}">
        <p14:creationId xmlns:p14="http://schemas.microsoft.com/office/powerpoint/2010/main" val="18865971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five-rule-0"/>
          <p:cNvCxnSpPr/>
          <p:nvPr/>
        </p:nvCxnSpPr>
        <p:spPr>
          <a:xfrm xmlns:a="http://schemas.openxmlformats.org/drawingml/2006/main">
            <a:off x="53340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2" name="five-title-0">
            <a:extLst xmlns:a="http://schemas.openxmlformats.org/drawingml/2006/main">
              <a:ext uri="{FF2B5EF4-FFF2-40B4-BE49-F238E27FC236}">
                <a16:creationId xmlns:a16="http://schemas.microsoft.com/office/drawing/2014/main" id="{CB8959EB-F9FF-4B7F-9CB3-96BE405A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" name="five-body-0">
            <a:extLst xmlns:a="http://schemas.openxmlformats.org/drawingml/2006/main">
              <a:ext uri="{FF2B5EF4-FFF2-40B4-BE49-F238E27FC236}">
                <a16:creationId xmlns:a16="http://schemas.microsoft.com/office/drawing/2014/main" id="{47F29032-C437-43C3-B007-6755F2B1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the agent is</a:t>
            </a:r>
          </a:p>
        </p:txBody>
      </p:sp>
      <p:sp>
        <p:nvSpPr>
          <p:cNvPr id="4" name="five-num-0">
            <a:extLst xmlns:a="http://schemas.openxmlformats.org/drawingml/2006/main">
              <a:ext uri="{FF2B5EF4-FFF2-40B4-BE49-F238E27FC236}">
                <a16:creationId xmlns:a16="http://schemas.microsoft.com/office/drawing/2014/main" id="{2EFE3E61-708C-46CC-ADEF-2304C975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9" name="five-rule-1"/>
          <p:cNvCxnSpPr/>
          <p:nvPr/>
        </p:nvCxnSpPr>
        <p:spPr>
          <a:xfrm xmlns:a="http://schemas.openxmlformats.org/drawingml/2006/main">
            <a:off x="279273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6" name="five-title-1">
            <a:extLst xmlns:a="http://schemas.openxmlformats.org/drawingml/2006/main">
              <a:ext uri="{FF2B5EF4-FFF2-40B4-BE49-F238E27FC236}">
                <a16:creationId xmlns:a16="http://schemas.microsoft.com/office/drawing/2014/main" id="{EE57CB38-669A-41C0-8E75-7E3DFDDB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7" name="five-body-1">
            <a:extLst xmlns:a="http://schemas.openxmlformats.org/drawingml/2006/main">
              <a:ext uri="{FF2B5EF4-FFF2-40B4-BE49-F238E27FC236}">
                <a16:creationId xmlns:a16="http://schemas.microsoft.com/office/drawing/2014/main" id="{E2913C98-CDAC-4BD9-BA17-92BD66CC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must change</a:t>
            </a:r>
          </a:p>
        </p:txBody>
      </p:sp>
      <p:sp>
        <p:nvSpPr>
          <p:cNvPr id="8" name="five-num-1">
            <a:extLst xmlns:a="http://schemas.openxmlformats.org/drawingml/2006/main">
              <a:ext uri="{FF2B5EF4-FFF2-40B4-BE49-F238E27FC236}">
                <a16:creationId xmlns:a16="http://schemas.microsoft.com/office/drawing/2014/main" id="{CC7B9D97-EEAA-4615-9FA9-F2E21584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33" name="five-rule-2"/>
          <p:cNvCxnSpPr/>
          <p:nvPr/>
        </p:nvCxnSpPr>
        <p:spPr>
          <a:xfrm xmlns:a="http://schemas.openxmlformats.org/drawingml/2006/main">
            <a:off x="505206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10" name="five-title-2">
            <a:extLst xmlns:a="http://schemas.openxmlformats.org/drawingml/2006/main">
              <a:ext uri="{FF2B5EF4-FFF2-40B4-BE49-F238E27FC236}">
                <a16:creationId xmlns:a16="http://schemas.microsoft.com/office/drawing/2014/main" id="{7DC7F0A7-5869-48D1-9163-3D770F0A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11" name="five-body-2">
            <a:extLst xmlns:a="http://schemas.openxmlformats.org/drawingml/2006/main">
              <a:ext uri="{FF2B5EF4-FFF2-40B4-BE49-F238E27FC236}">
                <a16:creationId xmlns:a16="http://schemas.microsoft.com/office/drawing/2014/main" id="{34A37F5C-A2A9-4D2C-BA4E-C4F1B6CC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how evidence is gathered</a:t>
            </a:r>
          </a:p>
        </p:txBody>
      </p:sp>
      <p:sp>
        <p:nvSpPr>
          <p:cNvPr id="12" name="five-num-2">
            <a:extLst xmlns:a="http://schemas.openxmlformats.org/drawingml/2006/main">
              <a:ext uri="{FF2B5EF4-FFF2-40B4-BE49-F238E27FC236}">
                <a16:creationId xmlns:a16="http://schemas.microsoft.com/office/drawing/2014/main" id="{5333596F-23FC-45F4-B6C2-A641F66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7" name="five-rule-3"/>
          <p:cNvCxnSpPr/>
          <p:nvPr/>
        </p:nvCxnSpPr>
        <p:spPr>
          <a:xfrm xmlns:a="http://schemas.openxmlformats.org/drawingml/2006/main">
            <a:off x="731139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14" name="five-title-3">
            <a:extLst xmlns:a="http://schemas.openxmlformats.org/drawingml/2006/main">
              <a:ext uri="{FF2B5EF4-FFF2-40B4-BE49-F238E27FC236}">
                <a16:creationId xmlns:a16="http://schemas.microsoft.com/office/drawing/2014/main" id="{E576671B-F066-4080-8FAD-DF9B5B4E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15" name="five-body-3">
            <a:extLst xmlns:a="http://schemas.openxmlformats.org/drawingml/2006/main">
              <a:ext uri="{FF2B5EF4-FFF2-40B4-BE49-F238E27FC236}">
                <a16:creationId xmlns:a16="http://schemas.microsoft.com/office/drawing/2014/main" id="{6BF9ABC0-69FA-49DC-AFE7-6C0A3450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is forbidden</a:t>
            </a:r>
          </a:p>
        </p:txBody>
      </p:sp>
      <p:sp>
        <p:nvSpPr>
          <p:cNvPr id="16" name="five-num-3">
            <a:extLst xmlns:a="http://schemas.openxmlformats.org/drawingml/2006/main">
              <a:ext uri="{FF2B5EF4-FFF2-40B4-BE49-F238E27FC236}">
                <a16:creationId xmlns:a16="http://schemas.microsoft.com/office/drawing/2014/main" id="{45040A34-9AAA-43E2-83FA-6EBB610A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41" name="five-rule-4"/>
          <p:cNvCxnSpPr/>
          <p:nvPr/>
        </p:nvCxnSpPr>
        <p:spPr>
          <a:xfrm xmlns:a="http://schemas.openxmlformats.org/drawingml/2006/main">
            <a:off x="957072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18" name="five-title-4">
            <a:extLst xmlns:a="http://schemas.openxmlformats.org/drawingml/2006/main">
              <a:ext uri="{FF2B5EF4-FFF2-40B4-BE49-F238E27FC236}">
                <a16:creationId xmlns:a16="http://schemas.microsoft.com/office/drawing/2014/main" id="{9D42D5BF-012C-4F87-8D01-35C3551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19" name="five-body-4">
            <a:extLst xmlns:a="http://schemas.openxmlformats.org/drawingml/2006/main">
              <a:ext uri="{FF2B5EF4-FFF2-40B4-BE49-F238E27FC236}">
                <a16:creationId xmlns:a16="http://schemas.microsoft.com/office/drawing/2014/main" id="{2377DDAB-B59A-409B-952F-7815CA0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proves done</a:t>
            </a:r>
          </a:p>
        </p:txBody>
      </p:sp>
      <p:sp>
        <p:nvSpPr>
          <p:cNvPr id="20" name="five-num-4">
            <a:extLst xmlns:a="http://schemas.openxmlformats.org/drawingml/2006/main">
              <a:ext uri="{FF2B5EF4-FFF2-40B4-BE49-F238E27FC236}">
                <a16:creationId xmlns:a16="http://schemas.microsoft.com/office/drawing/2014/main" id="{C7402DA3-FAF4-4A1D-8BC4-57DBD633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eyebrow-17">
            <a:extLst xmlns:a="http://schemas.openxmlformats.org/drawingml/2006/main">
              <a:ext uri="{FF2B5EF4-FFF2-40B4-BE49-F238E27FC236}">
                <a16:creationId xmlns:a16="http://schemas.microsoft.com/office/drawing/2014/main" id="{10CC47C8-8BCD-47C9-B2F6-387BF26C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CH 2  /  PROMPTS + ROLES</a:t>
            </a:r>
          </a:p>
        </p:txBody>
      </p:sp>
      <p:sp>
        <p:nvSpPr>
          <p:cNvPr id="22" name="title-17">
            <a:extLst xmlns:a="http://schemas.openxmlformats.org/drawingml/2006/main">
              <a:ext uri="{FF2B5EF4-FFF2-40B4-BE49-F238E27FC236}">
                <a16:creationId xmlns:a16="http://schemas.microsoft.com/office/drawing/2014/main" id="{D3537C1D-D826-421D-8924-0B6C7851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strong coding-agent prompt has five blocks</a:t>
            </a:r>
          </a:p>
        </p:txBody>
      </p:sp>
      <p:cxnSp>
        <p:nvCxnSpPr>
          <p:cNvPr id="47" name="header-rule-17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05A2A"/>
            </a:solidFill>
            <a:prstDash val="solid"/>
          </a:ln>
        </p:spPr>
      </p:cxnSp>
      <p:sp>
        <p:nvSpPr>
          <p:cNvPr id="24" name="footer-17">
            <a:extLst xmlns:a="http://schemas.openxmlformats.org/drawingml/2006/main">
              <a:ext uri="{FF2B5EF4-FFF2-40B4-BE49-F238E27FC236}">
                <a16:creationId xmlns:a16="http://schemas.microsoft.com/office/drawing/2014/main" id="{0B4A3BFA-0D7D-4C59-BEA5-2E139D1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17   •   Prompts and message roles</a:t>
            </a:r>
          </a:p>
        </p:txBody>
      </p:sp>
    </p:spTree>
    <p:extLst>
      <p:ext uri="{BB962C8B-B14F-4D97-AF65-F5344CB8AC3E}">
        <p14:creationId xmlns:p14="http://schemas.microsoft.com/office/powerpoint/2010/main" val="20505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mpare-panel-0">
            <a:extLst xmlns:a="http://schemas.openxmlformats.org/drawingml/2006/main">
              <a:ext uri="{FF2B5EF4-FFF2-40B4-BE49-F238E27FC236}">
                <a16:creationId xmlns:a16="http://schemas.microsoft.com/office/drawing/2014/main" id="{A324C503-7E45-4575-AC9D-27F29399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81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189A9601-EF20-471A-9B00-D865E972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VAGUE</a:t>
            </a:r>
          </a:p>
        </p:txBody>
      </p:sp>
      <p:sp>
        <p:nvSpPr>
          <p:cNvPr id="3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B01D45B1-466D-4CBC-B5E1-099DD2E8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6101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Be careful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Do a good job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Stop when done</a:t>
            </a:r>
          </a:p>
        </p:txBody>
      </p:sp>
      <p:sp>
        <p:nvSpPr>
          <p:cNvPr id="4" name="compare-panel-1">
            <a:extLst xmlns:a="http://schemas.openxmlformats.org/drawingml/2006/main">
              <a:ext uri="{FF2B5EF4-FFF2-40B4-BE49-F238E27FC236}">
                <a16:creationId xmlns:a16="http://schemas.microsoft.com/office/drawing/2014/main" id="{82B66C27-92D4-4D35-88E8-198D9D1E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181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0ED7C292-A5A8-4BB5-BA7C-116EA8E9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19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TRACEABLE</a:t>
            </a:r>
          </a:p>
        </p:txBody>
      </p:sp>
      <p:sp>
        <p:nvSpPr>
          <p:cNvPr id="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2540C030-1DBD-47FF-B9DB-B0C2247B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6101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Read before write</a:t>
            </a:r>
          </a:p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Run the focused test</a:t>
            </a:r>
          </a:p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Report latest exit code</a:t>
            </a:r>
          </a:p>
        </p:txBody>
      </p:sp>
      <p:sp>
        <p:nvSpPr>
          <p:cNvPr id="7" name="eyebrow-18">
            <a:extLst xmlns:a="http://schemas.openxmlformats.org/drawingml/2006/main">
              <a:ext uri="{FF2B5EF4-FFF2-40B4-BE49-F238E27FC236}">
                <a16:creationId xmlns:a16="http://schemas.microsoft.com/office/drawing/2014/main" id="{95D3D049-50F0-46DD-AFDD-BED6DD0C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CH 2  /  PROMPTS + ROLES</a:t>
            </a:r>
          </a:p>
        </p:txBody>
      </p:sp>
      <p:sp>
        <p:nvSpPr>
          <p:cNvPr id="8" name="title-18">
            <a:extLst xmlns:a="http://schemas.openxmlformats.org/drawingml/2006/main">
              <a:ext uri="{FF2B5EF4-FFF2-40B4-BE49-F238E27FC236}">
                <a16:creationId xmlns:a16="http://schemas.microsoft.com/office/drawing/2014/main" id="{95E4DB9D-EA26-47A3-B2D9-473B93F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Replace vague intent with measurable behavior</a:t>
            </a:r>
          </a:p>
        </p:txBody>
      </p:sp>
      <p:cxnSp>
        <p:nvCxnSpPr>
          <p:cNvPr id="19" name="header-rule-18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05A2A"/>
            </a:solidFill>
            <a:prstDash val="solid"/>
          </a:ln>
        </p:spPr>
      </p:cxnSp>
      <p:sp>
        <p:nvSpPr>
          <p:cNvPr id="10" name="footer-18">
            <a:extLst xmlns:a="http://schemas.openxmlformats.org/drawingml/2006/main">
              <a:ext uri="{FF2B5EF4-FFF2-40B4-BE49-F238E27FC236}">
                <a16:creationId xmlns:a16="http://schemas.microsoft.com/office/drawing/2014/main" id="{138F7139-83C0-47D9-9454-8A3F83F1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18   •   Prompts and message roles</a:t>
            </a:r>
          </a:p>
        </p:txBody>
      </p:sp>
    </p:spTree>
    <p:extLst>
      <p:ext uri="{BB962C8B-B14F-4D97-AF65-F5344CB8AC3E}">
        <p14:creationId xmlns:p14="http://schemas.microsoft.com/office/powerpoint/2010/main" val="14220120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xp-head-0">
            <a:extLst xmlns:a="http://schemas.openxmlformats.org/drawingml/2006/main">
              <a:ext uri="{FF2B5EF4-FFF2-40B4-BE49-F238E27FC236}">
                <a16:creationId xmlns:a16="http://schemas.microsoft.com/office/drawing/2014/main" id="{DAFCCF27-8842-4881-83BA-A3E52519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2" name="exp-cell-0-0">
            <a:extLst xmlns:a="http://schemas.openxmlformats.org/drawingml/2006/main">
              <a:ext uri="{FF2B5EF4-FFF2-40B4-BE49-F238E27FC236}">
                <a16:creationId xmlns:a16="http://schemas.microsoft.com/office/drawing/2014/main" id="{B9DF7493-AC95-401F-8772-0336606B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VARIABLE</a:t>
            </a:r>
          </a:p>
        </p:txBody>
      </p:sp>
      <p:sp>
        <p:nvSpPr>
          <p:cNvPr id="3" name="exp-head-1">
            <a:extLst xmlns:a="http://schemas.openxmlformats.org/drawingml/2006/main">
              <a:ext uri="{FF2B5EF4-FFF2-40B4-BE49-F238E27FC236}">
                <a16:creationId xmlns:a16="http://schemas.microsoft.com/office/drawing/2014/main" id="{3DB60819-B5B7-46EF-B8B2-FB3044E0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4" name="exp-cell-0-1">
            <a:extLst xmlns:a="http://schemas.openxmlformats.org/drawingml/2006/main">
              <a:ext uri="{FF2B5EF4-FFF2-40B4-BE49-F238E27FC236}">
                <a16:creationId xmlns:a16="http://schemas.microsoft.com/office/drawing/2014/main" id="{2DC9172C-D26B-43EC-9DBD-5B27807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5" name="exp-head-2">
            <a:extLst xmlns:a="http://schemas.openxmlformats.org/drawingml/2006/main">
              <a:ext uri="{FF2B5EF4-FFF2-40B4-BE49-F238E27FC236}">
                <a16:creationId xmlns:a16="http://schemas.microsoft.com/office/drawing/2014/main" id="{18F0F2DF-54FA-4952-9F66-2102BF5B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145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6" name="exp-cell-0-2">
            <a:extLst xmlns:a="http://schemas.openxmlformats.org/drawingml/2006/main">
              <a:ext uri="{FF2B5EF4-FFF2-40B4-BE49-F238E27FC236}">
                <a16:creationId xmlns:a16="http://schemas.microsoft.com/office/drawing/2014/main" id="{3B589998-EF57-4A84-AA15-56382BFA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145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VARIANT</a:t>
            </a:r>
          </a:p>
        </p:txBody>
      </p:sp>
      <p:cxnSp>
        <p:nvCxnSpPr>
          <p:cNvPr id="42" name="exp-line-1-0"/>
          <p:cNvCxnSpPr/>
          <p:nvPr/>
        </p:nvCxnSpPr>
        <p:spPr>
          <a:xfrm xmlns:a="http://schemas.openxmlformats.org/drawingml/2006/main">
            <a:off x="533400" y="30480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8" name="exp-cell-1-0">
            <a:extLst xmlns:a="http://schemas.openxmlformats.org/drawingml/2006/main">
              <a:ext uri="{FF2B5EF4-FFF2-40B4-BE49-F238E27FC236}">
                <a16:creationId xmlns:a16="http://schemas.microsoft.com/office/drawing/2014/main" id="{AF96F867-68E0-4C11-ADB3-B16A183D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System prompt</a:t>
            </a:r>
          </a:p>
        </p:txBody>
      </p:sp>
      <p:cxnSp>
        <p:nvCxnSpPr>
          <p:cNvPr id="44" name="exp-line-1-1"/>
          <p:cNvCxnSpPr/>
          <p:nvPr/>
        </p:nvCxnSpPr>
        <p:spPr>
          <a:xfrm xmlns:a="http://schemas.openxmlformats.org/drawingml/2006/main">
            <a:off x="3390900" y="304800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0" name="exp-cell-1-1">
            <a:extLst xmlns:a="http://schemas.openxmlformats.org/drawingml/2006/main">
              <a:ext uri="{FF2B5EF4-FFF2-40B4-BE49-F238E27FC236}">
                <a16:creationId xmlns:a16="http://schemas.microsoft.com/office/drawing/2014/main" id="{11033BD0-1025-4449-97FE-48AB8EAB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generic</a:t>
            </a:r>
          </a:p>
        </p:txBody>
      </p:sp>
      <p:cxnSp>
        <p:nvCxnSpPr>
          <p:cNvPr id="46" name="exp-line-1-2"/>
          <p:cNvCxnSpPr/>
          <p:nvPr/>
        </p:nvCxnSpPr>
        <p:spPr>
          <a:xfrm xmlns:a="http://schemas.openxmlformats.org/drawingml/2006/main">
            <a:off x="7296150" y="304800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2" name="exp-cell-1-2">
            <a:extLst xmlns:a="http://schemas.openxmlformats.org/drawingml/2006/main">
              <a:ext uri="{FF2B5EF4-FFF2-40B4-BE49-F238E27FC236}">
                <a16:creationId xmlns:a16="http://schemas.microsoft.com/office/drawing/2014/main" id="{2219F2A3-7F9F-4AD5-A009-C2FF5533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evidence-first</a:t>
            </a:r>
          </a:p>
        </p:txBody>
      </p:sp>
      <p:cxnSp>
        <p:nvCxnSpPr>
          <p:cNvPr id="48" name="exp-line-2-0"/>
          <p:cNvCxnSpPr/>
          <p:nvPr/>
        </p:nvCxnSpPr>
        <p:spPr>
          <a:xfrm xmlns:a="http://schemas.openxmlformats.org/drawingml/2006/main">
            <a:off x="533400" y="37909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4" name="exp-cell-2-0">
            <a:extLst xmlns:a="http://schemas.openxmlformats.org/drawingml/2006/main">
              <a:ext uri="{FF2B5EF4-FFF2-40B4-BE49-F238E27FC236}">
                <a16:creationId xmlns:a16="http://schemas.microsoft.com/office/drawing/2014/main" id="{C70A35E7-538D-4E04-BD55-7469B2C7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Model + scenario</a:t>
            </a:r>
          </a:p>
        </p:txBody>
      </p:sp>
      <p:cxnSp>
        <p:nvCxnSpPr>
          <p:cNvPr id="50" name="exp-line-2-1"/>
          <p:cNvCxnSpPr/>
          <p:nvPr/>
        </p:nvCxnSpPr>
        <p:spPr>
          <a:xfrm xmlns:a="http://schemas.openxmlformats.org/drawingml/2006/main">
            <a:off x="3390900" y="379095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6" name="exp-cell-2-1">
            <a:extLst xmlns:a="http://schemas.openxmlformats.org/drawingml/2006/main">
              <a:ext uri="{FF2B5EF4-FFF2-40B4-BE49-F238E27FC236}">
                <a16:creationId xmlns:a16="http://schemas.microsoft.com/office/drawing/2014/main" id="{FBE85DAA-DA1C-4B59-B91C-F93FE316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04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fixed</a:t>
            </a:r>
          </a:p>
        </p:txBody>
      </p:sp>
      <p:cxnSp>
        <p:nvCxnSpPr>
          <p:cNvPr id="52" name="exp-line-2-2"/>
          <p:cNvCxnSpPr/>
          <p:nvPr/>
        </p:nvCxnSpPr>
        <p:spPr>
          <a:xfrm xmlns:a="http://schemas.openxmlformats.org/drawingml/2006/main">
            <a:off x="7296150" y="379095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8" name="exp-cell-2-2">
            <a:extLst xmlns:a="http://schemas.openxmlformats.org/drawingml/2006/main">
              <a:ext uri="{FF2B5EF4-FFF2-40B4-BE49-F238E27FC236}">
                <a16:creationId xmlns:a16="http://schemas.microsoft.com/office/drawing/2014/main" id="{A9E506E4-02CC-451B-9C92-5447342E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fixed</a:t>
            </a:r>
          </a:p>
        </p:txBody>
      </p:sp>
      <p:cxnSp>
        <p:nvCxnSpPr>
          <p:cNvPr id="54" name="exp-line-3-0"/>
          <p:cNvCxnSpPr/>
          <p:nvPr/>
        </p:nvCxnSpPr>
        <p:spPr>
          <a:xfrm xmlns:a="http://schemas.openxmlformats.org/drawingml/2006/main">
            <a:off x="533400" y="45339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0" name="exp-cell-3-0">
            <a:extLst xmlns:a="http://schemas.openxmlformats.org/drawingml/2006/main">
              <a:ext uri="{FF2B5EF4-FFF2-40B4-BE49-F238E27FC236}">
                <a16:creationId xmlns:a16="http://schemas.microsoft.com/office/drawing/2014/main" id="{9ABF832E-EC6F-48A7-B4B8-360681D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Tools + limits</a:t>
            </a:r>
          </a:p>
        </p:txBody>
      </p:sp>
      <p:cxnSp>
        <p:nvCxnSpPr>
          <p:cNvPr id="56" name="exp-line-3-1"/>
          <p:cNvCxnSpPr/>
          <p:nvPr/>
        </p:nvCxnSpPr>
        <p:spPr>
          <a:xfrm xmlns:a="http://schemas.openxmlformats.org/drawingml/2006/main">
            <a:off x="3390900" y="453390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2" name="exp-cell-3-1">
            <a:extLst xmlns:a="http://schemas.openxmlformats.org/drawingml/2006/main">
              <a:ext uri="{FF2B5EF4-FFF2-40B4-BE49-F238E27FC236}">
                <a16:creationId xmlns:a16="http://schemas.microsoft.com/office/drawing/2014/main" id="{2B55260B-7B7D-4C4C-9E09-B6080935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fixed</a:t>
            </a:r>
          </a:p>
        </p:txBody>
      </p:sp>
      <p:cxnSp>
        <p:nvCxnSpPr>
          <p:cNvPr id="58" name="exp-line-3-2"/>
          <p:cNvCxnSpPr/>
          <p:nvPr/>
        </p:nvCxnSpPr>
        <p:spPr>
          <a:xfrm xmlns:a="http://schemas.openxmlformats.org/drawingml/2006/main">
            <a:off x="7296150" y="453390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4" name="exp-cell-3-2">
            <a:extLst xmlns:a="http://schemas.openxmlformats.org/drawingml/2006/main">
              <a:ext uri="{FF2B5EF4-FFF2-40B4-BE49-F238E27FC236}">
                <a16:creationId xmlns:a16="http://schemas.microsoft.com/office/drawing/2014/main" id="{3321711D-5C20-4FE1-A993-D5E1FC40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fixed</a:t>
            </a:r>
          </a:p>
        </p:txBody>
      </p:sp>
      <p:cxnSp>
        <p:nvCxnSpPr>
          <p:cNvPr id="60" name="exp-line-4-0"/>
          <p:cNvCxnSpPr/>
          <p:nvPr/>
        </p:nvCxnSpPr>
        <p:spPr>
          <a:xfrm xmlns:a="http://schemas.openxmlformats.org/drawingml/2006/main">
            <a:off x="533400" y="52768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6" name="exp-cell-4-0">
            <a:extLst xmlns:a="http://schemas.openxmlformats.org/drawingml/2006/main">
              <a:ext uri="{FF2B5EF4-FFF2-40B4-BE49-F238E27FC236}">
                <a16:creationId xmlns:a16="http://schemas.microsoft.com/office/drawing/2014/main" id="{6D7248D5-D78D-405F-9E61-07C8BFEC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Seeded fixture</a:t>
            </a:r>
          </a:p>
        </p:txBody>
      </p:sp>
      <p:cxnSp>
        <p:nvCxnSpPr>
          <p:cNvPr id="62" name="exp-line-4-1"/>
          <p:cNvCxnSpPr/>
          <p:nvPr/>
        </p:nvCxnSpPr>
        <p:spPr>
          <a:xfrm xmlns:a="http://schemas.openxmlformats.org/drawingml/2006/main">
            <a:off x="3390900" y="527685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8" name="exp-cell-4-1">
            <a:extLst xmlns:a="http://schemas.openxmlformats.org/drawingml/2006/main">
              <a:ext uri="{FF2B5EF4-FFF2-40B4-BE49-F238E27FC236}">
                <a16:creationId xmlns:a16="http://schemas.microsoft.com/office/drawing/2014/main" id="{17FC169B-DB4E-4EFF-B979-8733342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863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same</a:t>
            </a:r>
          </a:p>
        </p:txBody>
      </p:sp>
      <p:cxnSp>
        <p:nvCxnSpPr>
          <p:cNvPr id="64" name="exp-line-4-2"/>
          <p:cNvCxnSpPr/>
          <p:nvPr/>
        </p:nvCxnSpPr>
        <p:spPr>
          <a:xfrm xmlns:a="http://schemas.openxmlformats.org/drawingml/2006/main">
            <a:off x="7296150" y="527685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0" name="exp-cell-4-2">
            <a:extLst xmlns:a="http://schemas.openxmlformats.org/drawingml/2006/main">
              <a:ext uri="{FF2B5EF4-FFF2-40B4-BE49-F238E27FC236}">
                <a16:creationId xmlns:a16="http://schemas.microsoft.com/office/drawing/2014/main" id="{B0662803-6527-4A17-88B8-8A65FB22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863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same</a:t>
            </a:r>
          </a:p>
        </p:txBody>
      </p:sp>
      <p:sp>
        <p:nvSpPr>
          <p:cNvPr id="31" name="exp-caption">
            <a:extLst xmlns:a="http://schemas.openxmlformats.org/drawingml/2006/main">
              <a:ext uri="{FF2B5EF4-FFF2-40B4-BE49-F238E27FC236}">
                <a16:creationId xmlns:a16="http://schemas.microsoft.com/office/drawing/2014/main" id="{84D3327D-7BAD-43A2-BACA-7D82036A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Otherwise the trace cannot explain the result.</a:t>
            </a:r>
          </a:p>
        </p:txBody>
      </p:sp>
      <p:sp>
        <p:nvSpPr>
          <p:cNvPr id="32" name="eyebrow-19">
            <a:extLst xmlns:a="http://schemas.openxmlformats.org/drawingml/2006/main">
              <a:ext uri="{FF2B5EF4-FFF2-40B4-BE49-F238E27FC236}">
                <a16:creationId xmlns:a16="http://schemas.microsoft.com/office/drawing/2014/main" id="{B36E40C3-B904-4EE5-BF46-CA4EAFBF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CH 2  /  PROMPTS + ROLES</a:t>
            </a:r>
          </a:p>
        </p:txBody>
      </p:sp>
      <p:sp>
        <p:nvSpPr>
          <p:cNvPr id="33" name="title-19">
            <a:extLst xmlns:a="http://schemas.openxmlformats.org/drawingml/2006/main">
              <a:ext uri="{FF2B5EF4-FFF2-40B4-BE49-F238E27FC236}">
                <a16:creationId xmlns:a16="http://schemas.microsoft.com/office/drawing/2014/main" id="{074C7178-B3A7-4155-BD05-3225262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Change one prompt variable at a time</a:t>
            </a:r>
          </a:p>
        </p:txBody>
      </p:sp>
      <p:cxnSp>
        <p:nvCxnSpPr>
          <p:cNvPr id="69" name="header-rule-19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05A2A"/>
            </a:solidFill>
            <a:prstDash val="solid"/>
          </a:ln>
        </p:spPr>
      </p:cxnSp>
      <p:sp>
        <p:nvSpPr>
          <p:cNvPr id="35" name="footer-19">
            <a:extLst xmlns:a="http://schemas.openxmlformats.org/drawingml/2006/main">
              <a:ext uri="{FF2B5EF4-FFF2-40B4-BE49-F238E27FC236}">
                <a16:creationId xmlns:a16="http://schemas.microsoft.com/office/drawing/2014/main" id="{D9F7571C-9438-49B2-BC92-027C40A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19   •   Prompts and message roles</a:t>
            </a:r>
          </a:p>
        </p:txBody>
      </p:sp>
    </p:spTree>
    <p:extLst>
      <p:ext uri="{BB962C8B-B14F-4D97-AF65-F5344CB8AC3E}">
        <p14:creationId xmlns:p14="http://schemas.microsoft.com/office/powerpoint/2010/main" val="3022242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metric-rule-0"/>
          <p:cNvCxnSpPr/>
          <p:nvPr/>
        </p:nvCxnSpPr>
        <p:spPr>
          <a:xfrm xmlns:a="http://schemas.openxmlformats.org/drawingml/2006/main">
            <a:off x="533400" y="2095500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2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D034DA3C-C4C9-4AFD-B21A-028D93E9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READ BEFORE WRITE</a:t>
            </a:r>
          </a:p>
        </p:txBody>
      </p:sp>
      <p:sp>
        <p:nvSpPr>
          <p:cNvPr id="3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A57A006D-0ECB-4334-87A7-4BD639CB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yes / no</a:t>
            </a:r>
          </a:p>
        </p:txBody>
      </p:sp>
      <p:cxnSp>
        <p:nvCxnSpPr>
          <p:cNvPr id="20" name="metric-rule-1"/>
          <p:cNvCxnSpPr/>
          <p:nvPr/>
        </p:nvCxnSpPr>
        <p:spPr>
          <a:xfrm xmlns:a="http://schemas.openxmlformats.org/drawingml/2006/main">
            <a:off x="3371850" y="2095500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135F35D-4E02-42A6-AE43-362A1BCC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28875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FINAL TEST</a:t>
            </a:r>
          </a:p>
        </p:txBody>
      </p:sp>
      <p:sp>
        <p:nvSpPr>
          <p:cNvPr id="6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D61CDC40-CF90-4249-9959-314B1927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2900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pass / absent</a:t>
            </a:r>
          </a:p>
        </p:txBody>
      </p:sp>
      <p:cxnSp>
        <p:nvCxnSpPr>
          <p:cNvPr id="23" name="metric-rule-2"/>
          <p:cNvCxnSpPr/>
          <p:nvPr/>
        </p:nvCxnSpPr>
        <p:spPr>
          <a:xfrm xmlns:a="http://schemas.openxmlformats.org/drawingml/2006/main">
            <a:off x="6210300" y="2095500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CF82272-5B0C-4AAC-A711-0DF79179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28875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D9BB62EC-3F74-4A10-92FD-83A6F030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cxnSp>
        <p:nvCxnSpPr>
          <p:cNvPr id="26" name="metric-rule-3"/>
          <p:cNvCxnSpPr/>
          <p:nvPr/>
        </p:nvCxnSpPr>
        <p:spPr>
          <a:xfrm xmlns:a="http://schemas.openxmlformats.org/drawingml/2006/main">
            <a:off x="9048750" y="2095500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05A2A"/>
            </a:solidFill>
            <a:prstDash val="solid"/>
          </a:ln>
        </p:spPr>
      </p:cxnSp>
      <p:sp>
        <p:nvSpPr>
          <p:cNvPr id="11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4C253044-F0E4-4B70-8A28-CDE03EC4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UNSUPPORTED CLAIMS</a:t>
            </a:r>
          </a:p>
        </p:txBody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7047F1-7D5A-4D34-A986-C138512C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13" name="eyebrow-20">
            <a:extLst xmlns:a="http://schemas.openxmlformats.org/drawingml/2006/main">
              <a:ext uri="{FF2B5EF4-FFF2-40B4-BE49-F238E27FC236}">
                <a16:creationId xmlns:a16="http://schemas.microsoft.com/office/drawing/2014/main" id="{8602BEAE-0CBB-4542-9E18-A990E5E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CH 2  /  PROMPTS + ROLES</a:t>
            </a:r>
          </a:p>
        </p:txBody>
      </p:sp>
      <p:sp>
        <p:nvSpPr>
          <p:cNvPr id="14" name="title-20">
            <a:extLst xmlns:a="http://schemas.openxmlformats.org/drawingml/2006/main">
              <a:ext uri="{FF2B5EF4-FFF2-40B4-BE49-F238E27FC236}">
                <a16:creationId xmlns:a16="http://schemas.microsoft.com/office/drawing/2014/main" id="{DDF5B203-26A3-43AC-A56E-646615F3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Score traces, not writing style</a:t>
            </a:r>
          </a:p>
        </p:txBody>
      </p:sp>
      <p:cxnSp>
        <p:nvCxnSpPr>
          <p:cNvPr id="31" name="header-rule-20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05A2A"/>
            </a:solidFill>
            <a:prstDash val="solid"/>
          </a:ln>
        </p:spPr>
      </p:cxnSp>
      <p:sp>
        <p:nvSpPr>
          <p:cNvPr id="16" name="footer-20">
            <a:extLst xmlns:a="http://schemas.openxmlformats.org/drawingml/2006/main">
              <a:ext uri="{FF2B5EF4-FFF2-40B4-BE49-F238E27FC236}">
                <a16:creationId xmlns:a16="http://schemas.microsoft.com/office/drawing/2014/main" id="{9C74D234-8632-42E2-BC0C-DB4A0E01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20   •   Prompts and message roles</a:t>
            </a:r>
          </a:p>
        </p:txBody>
      </p:sp>
    </p:spTree>
    <p:extLst>
      <p:ext uri="{BB962C8B-B14F-4D97-AF65-F5344CB8AC3E}">
        <p14:creationId xmlns:p14="http://schemas.microsoft.com/office/powerpoint/2010/main" val="17072817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0AB10206-87F8-4988-B8D3-CB02BAA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6A65AD69-E1AB-4947-9D9A-7A3621C4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prompt says “stay inside workspace.” The harness dispatches read_file('../secret'). What happens?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8AA2829B-3EDB-4DDA-AEDD-6E748C50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D14ABA47-6EB5-4D87-9FD9-CE99C777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E73B9362-BCAD-4DDE-A0FE-48F9778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Prompt blocks it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FA3253E6-7082-4D53-B904-4A7328E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722F57B2-250F-4967-8933-D1B6EBBE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C00AE23E-D75A-48FB-BA86-9058A9C9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Model refuses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AEC7416D-E7C8-4FA4-8940-41AF84B5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C6763EC6-D9B2-402F-8A78-CE84CB0B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0AE01BA4-5FFE-4232-A4BD-8C056B7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Code must reject it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141B6DF8-DFF8-4AA4-9C70-C64FBB8C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58732580-E1FB-4A49-A641-F79A5071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920C6C5B-D0AC-46BF-A94A-92C8C448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Code must reject it. A prompt cannot enforce an already-issued call.</a:t>
            </a:r>
          </a:p>
        </p:txBody>
      </p:sp>
      <p:sp>
        <p:nvSpPr>
          <p:cNvPr id="15" name="eyebrow-21">
            <a:extLst xmlns:a="http://schemas.openxmlformats.org/drawingml/2006/main">
              <a:ext uri="{FF2B5EF4-FFF2-40B4-BE49-F238E27FC236}">
                <a16:creationId xmlns:a16="http://schemas.microsoft.com/office/drawing/2014/main" id="{0E560AC1-B762-4127-A9CF-E5C0453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CH 2  /  PROMPTS + ROLES</a:t>
            </a:r>
          </a:p>
        </p:txBody>
      </p:sp>
      <p:sp>
        <p:nvSpPr>
          <p:cNvPr id="16" name="title-21">
            <a:extLst xmlns:a="http://schemas.openxmlformats.org/drawingml/2006/main">
              <a:ext uri="{FF2B5EF4-FFF2-40B4-BE49-F238E27FC236}">
                <a16:creationId xmlns:a16="http://schemas.microsoft.com/office/drawing/2014/main" id="{72ABE75C-FB34-4254-8F4E-5AC541D5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Can a strong prompt block direct ../ dispatch?</a:t>
            </a:r>
          </a:p>
        </p:txBody>
      </p:sp>
      <p:cxnSp>
        <p:nvCxnSpPr>
          <p:cNvPr id="35" name="header-rule-21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05A2A"/>
            </a:solidFill>
            <a:prstDash val="solid"/>
          </a:ln>
        </p:spPr>
      </p:cxnSp>
      <p:sp>
        <p:nvSpPr>
          <p:cNvPr id="18" name="footer-21">
            <a:extLst xmlns:a="http://schemas.openxmlformats.org/drawingml/2006/main">
              <a:ext uri="{FF2B5EF4-FFF2-40B4-BE49-F238E27FC236}">
                <a16:creationId xmlns:a16="http://schemas.microsoft.com/office/drawing/2014/main" id="{1D2B3A38-FC92-43FC-BDFB-0B937DDD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21   •   Prompts and message roles</a:t>
            </a:r>
          </a:p>
        </p:txBody>
      </p:sp>
    </p:spTree>
    <p:extLst>
      <p:ext uri="{BB962C8B-B14F-4D97-AF65-F5344CB8AC3E}">
        <p14:creationId xmlns:p14="http://schemas.microsoft.com/office/powerpoint/2010/main" val="19971527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ayer-0">
            <a:extLst xmlns:a="http://schemas.openxmlformats.org/drawingml/2006/main">
              <a:ext uri="{FF2B5EF4-FFF2-40B4-BE49-F238E27FC236}">
                <a16:creationId xmlns:a16="http://schemas.microsoft.com/office/drawing/2014/main" id="{CE91860D-B500-4CAB-BEA1-5710EE50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383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5A2A"/>
          </a:solidFill>
          <a:ln xmlns:a="http://schemas.openxmlformats.org/drawingml/2006/main" w="9525">
            <a:solidFill>
              <a:srgbClr val="B05A2A"/>
            </a:solidFill>
            <a:prstDash val="solid"/>
          </a:ln>
        </p:spPr>
      </p:sp>
      <p:sp>
        <p:nvSpPr>
          <p:cNvPr id="2" name="layer-name-0">
            <a:extLst xmlns:a="http://schemas.openxmlformats.org/drawingml/2006/main">
              <a:ext uri="{FF2B5EF4-FFF2-40B4-BE49-F238E27FC236}">
                <a16:creationId xmlns:a16="http://schemas.microsoft.com/office/drawing/2014/main" id="{6B9EFA56-2FEE-4E76-868E-4231039A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638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3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5837345B-F2FE-4BBA-910B-EE95F72E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38300"/>
            <a:ext cx="630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preferred process</a:t>
            </a:r>
          </a:p>
        </p:txBody>
      </p:sp>
      <p:sp>
        <p:nvSpPr>
          <p:cNvPr id="4" name="layer-1">
            <a:extLst xmlns:a="http://schemas.openxmlformats.org/drawingml/2006/main">
              <a:ext uri="{FF2B5EF4-FFF2-40B4-BE49-F238E27FC236}">
                <a16:creationId xmlns:a16="http://schemas.microsoft.com/office/drawing/2014/main" id="{E6E003FE-DA98-411F-94C7-F3FD7514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286000"/>
            <a:ext cx="7762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5" name="layer-name-1">
            <a:extLst xmlns:a="http://schemas.openxmlformats.org/drawingml/2006/main">
              <a:ext uri="{FF2B5EF4-FFF2-40B4-BE49-F238E27FC236}">
                <a16:creationId xmlns:a16="http://schemas.microsoft.com/office/drawing/2014/main" id="{BCA4EDC8-9B44-41C1-894B-92952D65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2286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6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3F646DED-0B0A-46CF-8026-5EC6F074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813" y="2286000"/>
            <a:ext cx="5210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valid structure</a:t>
            </a:r>
          </a:p>
        </p:txBody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089B6FB5-4A6B-4286-91B9-2674B10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337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8" name="layer-name-2">
            <a:extLst xmlns:a="http://schemas.openxmlformats.org/drawingml/2006/main">
              <a:ext uri="{FF2B5EF4-FFF2-40B4-BE49-F238E27FC236}">
                <a16:creationId xmlns:a16="http://schemas.microsoft.com/office/drawing/2014/main" id="{78A6D2BB-BD14-4020-84B4-F75A9081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AUTHORIZATION</a:t>
            </a:r>
          </a:p>
        </p:txBody>
      </p:sp>
      <p:sp>
        <p:nvSpPr>
          <p:cNvPr id="9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DC9F14BD-80C8-4F20-AC1C-0C0B11F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allowed target</a:t>
            </a:r>
          </a:p>
        </p:txBody>
      </p:sp>
      <p:sp>
        <p:nvSpPr>
          <p:cNvPr id="10" name="layer-3">
            <a:extLst xmlns:a="http://schemas.openxmlformats.org/drawingml/2006/main">
              <a:ext uri="{FF2B5EF4-FFF2-40B4-BE49-F238E27FC236}">
                <a16:creationId xmlns:a16="http://schemas.microsoft.com/office/drawing/2014/main" id="{6DE58F9B-3557-4171-8E8F-A69C2969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3581400"/>
            <a:ext cx="557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1" name="layer-name-3">
            <a:extLst xmlns:a="http://schemas.openxmlformats.org/drawingml/2006/main">
              <a:ext uri="{FF2B5EF4-FFF2-40B4-BE49-F238E27FC236}">
                <a16:creationId xmlns:a16="http://schemas.microsoft.com/office/drawing/2014/main" id="{10F64438-4FB7-4C07-9CD8-EE52D2CA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5814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ISOLATION</a:t>
            </a:r>
          </a:p>
        </p:txBody>
      </p:sp>
      <p:sp>
        <p:nvSpPr>
          <p:cNvPr id="12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7B41F06E-816B-470D-A505-E958AD5A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3581400"/>
            <a:ext cx="3019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bounded impact</a:t>
            </a:r>
          </a:p>
        </p:txBody>
      </p:sp>
      <p:sp>
        <p:nvSpPr>
          <p:cNvPr id="13" name="layer-4">
            <a:extLst xmlns:a="http://schemas.openxmlformats.org/drawingml/2006/main">
              <a:ext uri="{FF2B5EF4-FFF2-40B4-BE49-F238E27FC236}">
                <a16:creationId xmlns:a16="http://schemas.microsoft.com/office/drawing/2014/main" id="{BC439172-A678-455D-8703-590D4F5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291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4" name="layer-name-4">
            <a:extLst xmlns:a="http://schemas.openxmlformats.org/drawingml/2006/main">
              <a:ext uri="{FF2B5EF4-FFF2-40B4-BE49-F238E27FC236}">
                <a16:creationId xmlns:a16="http://schemas.microsoft.com/office/drawing/2014/main" id="{F362B060-BEC1-4802-83CD-92CB47A7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29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5" name="layer-body-4">
            <a:extLst xmlns:a="http://schemas.openxmlformats.org/drawingml/2006/main">
              <a:ext uri="{FF2B5EF4-FFF2-40B4-BE49-F238E27FC236}">
                <a16:creationId xmlns:a16="http://schemas.microsoft.com/office/drawing/2014/main" id="{D8D8F614-43EC-4B32-9E55-78B88218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29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evidence of outcome</a:t>
            </a:r>
          </a:p>
        </p:txBody>
      </p:sp>
      <p:sp>
        <p:nvSpPr>
          <p:cNvPr id="16" name="layer-question">
            <a:extLst xmlns:a="http://schemas.openxmlformats.org/drawingml/2006/main">
              <a:ext uri="{FF2B5EF4-FFF2-40B4-BE49-F238E27FC236}">
                <a16:creationId xmlns:a16="http://schemas.microsoft.com/office/drawing/2014/main" id="{C2DE5F87-9615-4F98-8726-CAD8031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Exit check: which layer rejects ../?  Authorization after canonical path resolution.</a:t>
            </a:r>
          </a:p>
        </p:txBody>
      </p:sp>
      <p:sp>
        <p:nvSpPr>
          <p:cNvPr id="17" name="eyebrow-22">
            <a:extLst xmlns:a="http://schemas.openxmlformats.org/drawingml/2006/main">
              <a:ext uri="{FF2B5EF4-FFF2-40B4-BE49-F238E27FC236}">
                <a16:creationId xmlns:a16="http://schemas.microsoft.com/office/drawing/2014/main" id="{C23E9C6B-1B99-4CC0-AE18-F5DA63D4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05A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5A2A"/>
                </a:solidFill>
                <a:latin typeface="Aptos"/>
                <a:ea typeface="Aptos"/>
                <a:cs typeface="Aptos"/>
              </a:rPr>
              <a:t>CH 2  /  PROMPTS + ROLES</a:t>
            </a:r>
          </a:p>
        </p:txBody>
      </p:sp>
      <p:sp>
        <p:nvSpPr>
          <p:cNvPr id="18" name="title-22">
            <a:extLst xmlns:a="http://schemas.openxmlformats.org/drawingml/2006/main">
              <a:ext uri="{FF2B5EF4-FFF2-40B4-BE49-F238E27FC236}">
                <a16:creationId xmlns:a16="http://schemas.microsoft.com/office/drawing/2014/main" id="{150DB275-FCE8-4EC3-91A4-5D3B33E2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Prompts guide; code permits</a:t>
            </a:r>
          </a:p>
        </p:txBody>
      </p:sp>
      <p:cxnSp>
        <p:nvCxnSpPr>
          <p:cNvPr id="39" name="header-rule-22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05A2A"/>
            </a:solidFill>
            <a:prstDash val="solid"/>
          </a:ln>
        </p:spPr>
      </p:cxnSp>
      <p:sp>
        <p:nvSpPr>
          <p:cNvPr id="20" name="footer-22">
            <a:extLst xmlns:a="http://schemas.openxmlformats.org/drawingml/2006/main">
              <a:ext uri="{FF2B5EF4-FFF2-40B4-BE49-F238E27FC236}">
                <a16:creationId xmlns:a16="http://schemas.microsoft.com/office/drawing/2014/main" id="{A3A97E15-A943-4551-9591-B27AC63B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22   •   Prompts and message roles</a:t>
            </a:r>
          </a:p>
        </p:txBody>
      </p:sp>
    </p:spTree>
    <p:extLst>
      <p:ext uri="{BB962C8B-B14F-4D97-AF65-F5344CB8AC3E}">
        <p14:creationId xmlns:p14="http://schemas.microsoft.com/office/powerpoint/2010/main" val="7535866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B9EE086C-2D80-4764-B949-FFBE518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D702322E-E387-4530-890A-3D4396B5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response contains tool_calls: [{ name: "read_file", ... }]. Has the file been read?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F2364C71-3B9E-48B9-94D4-B979628A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4F0E9A82-1872-4F78-989A-66362071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C53BF3B2-B9F4-4887-8859-46A8BAB2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FF69243E-6529-4635-86BF-6AE1AEB6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3228601E-8FC5-47A0-B80D-F34E8570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64BD78E6-C272-4CA9-892B-481358B2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Only by the provider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94D455CC-60D4-4D49-BFF2-93B5D3B8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62C4F732-5939-4385-AC3B-B1BC12C0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1C960A00-A1FB-4B00-B36A-22C5441F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1B09E09E-7A70-4A97-9DEA-E8F8173A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0867C8E8-0DCC-4028-AE58-76042F13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460B49AF-096A-46F8-AC01-B28398E8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No—the application must validate, authorize, execute, and return a result.</a:t>
            </a:r>
          </a:p>
        </p:txBody>
      </p:sp>
      <p:sp>
        <p:nvSpPr>
          <p:cNvPr id="15" name="eyebrow-23">
            <a:extLst xmlns:a="http://schemas.openxmlformats.org/drawingml/2006/main">
              <a:ext uri="{FF2B5EF4-FFF2-40B4-BE49-F238E27FC236}">
                <a16:creationId xmlns:a16="http://schemas.microsoft.com/office/drawing/2014/main" id="{BBF17EBF-9F88-4B02-95BB-8C454618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CH 3  /  TOOL DEFINITIONS</a:t>
            </a:r>
          </a:p>
        </p:txBody>
      </p:sp>
      <p:sp>
        <p:nvSpPr>
          <p:cNvPr id="16" name="title-23">
            <a:extLst xmlns:a="http://schemas.openxmlformats.org/drawingml/2006/main">
              <a:ext uri="{FF2B5EF4-FFF2-40B4-BE49-F238E27FC236}">
                <a16:creationId xmlns:a16="http://schemas.microsoft.com/office/drawing/2014/main" id="{555DC0D2-761B-4373-906E-44D4C5F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tool call is a proposal, not an execution</a:t>
            </a:r>
          </a:p>
        </p:txBody>
      </p:sp>
      <p:cxnSp>
        <p:nvCxnSpPr>
          <p:cNvPr id="35" name="header-rule-23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18" name="footer-23">
            <a:extLst xmlns:a="http://schemas.openxmlformats.org/drawingml/2006/main">
              <a:ext uri="{FF2B5EF4-FFF2-40B4-BE49-F238E27FC236}">
                <a16:creationId xmlns:a16="http://schemas.microsoft.com/office/drawing/2014/main" id="{6C4CF738-516E-4FC1-9D9E-6602CD9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23   •   Tool definitions and wire format</a:t>
            </a:r>
          </a:p>
        </p:txBody>
      </p:sp>
    </p:spTree>
    <p:extLst>
      <p:ext uri="{BB962C8B-B14F-4D97-AF65-F5344CB8AC3E}">
        <p14:creationId xmlns:p14="http://schemas.microsoft.com/office/powerpoint/2010/main" val="14752676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81B4AFDE-1946-4851-80B8-EC87063C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BC0BE067-BCB1-4619-A211-041FC96F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215275B6-D6BD-41DB-A858-F0316770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6678B091-95BC-4B72-A82E-9FECA1E9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capability contract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5694FF9E-989A-49FF-A7F6-BDD86A23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79FF12CD-2C87-476F-97DC-ACA99141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9EE95FE0-EB35-4C69-80C5-A8C3CBED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CALL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041651DB-C891-418B-A9EA-C65DCE2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model proposal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4701D5EE-7527-4534-AC13-53C2A1EF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72569B35-4017-424C-B29C-5CAC2173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1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941BE92E-7E82-4403-A82F-27C8C0D7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CFA946D2-EFFD-419A-8C79-92451623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local effect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CF783AF8-8D28-4E4C-82B7-E042EA31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4069E9C2-2AA7-429C-AD0C-32BD5939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C7F84923-865B-498B-AD5B-354908F0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C4A85D16-CB34-4260-B2CA-B77998DB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correlated evidence</a:t>
            </a:r>
          </a:p>
        </p:txBody>
      </p:sp>
      <p:sp>
        <p:nvSpPr>
          <p:cNvPr id="18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6868B9F9-0268-4478-A47C-87FB114B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Conflating these objects hides where authority and failure live.</a:t>
            </a:r>
          </a:p>
        </p:txBody>
      </p:sp>
      <p:sp>
        <p:nvSpPr>
          <p:cNvPr id="19" name="eyebrow-24">
            <a:extLst xmlns:a="http://schemas.openxmlformats.org/drawingml/2006/main">
              <a:ext uri="{FF2B5EF4-FFF2-40B4-BE49-F238E27FC236}">
                <a16:creationId xmlns:a16="http://schemas.microsoft.com/office/drawing/2014/main" id="{88DE3E19-F817-4281-A40D-21ADFCEA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CH 3  /  TOOL DEFINITIONS</a:t>
            </a:r>
          </a:p>
        </p:txBody>
      </p:sp>
      <p:sp>
        <p:nvSpPr>
          <p:cNvPr id="20" name="title-24">
            <a:extLst xmlns:a="http://schemas.openxmlformats.org/drawingml/2006/main">
              <a:ext uri="{FF2B5EF4-FFF2-40B4-BE49-F238E27FC236}">
                <a16:creationId xmlns:a16="http://schemas.microsoft.com/office/drawing/2014/main" id="{208B5A3C-B79A-4702-B04D-5D177BF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Four objects complete one tool round trip</a:t>
            </a:r>
          </a:p>
        </p:txBody>
      </p:sp>
      <p:cxnSp>
        <p:nvCxnSpPr>
          <p:cNvPr id="43" name="header-rule-24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22" name="footer-24">
            <a:extLst xmlns:a="http://schemas.openxmlformats.org/drawingml/2006/main">
              <a:ext uri="{FF2B5EF4-FFF2-40B4-BE49-F238E27FC236}">
                <a16:creationId xmlns:a16="http://schemas.microsoft.com/office/drawing/2014/main" id="{418866C6-2014-468A-A094-95067B0C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24   •   Tool definitions and wire format</a:t>
            </a:r>
          </a:p>
        </p:txBody>
      </p:sp>
    </p:spTree>
    <p:extLst>
      <p:ext uri="{BB962C8B-B14F-4D97-AF65-F5344CB8AC3E}">
        <p14:creationId xmlns:p14="http://schemas.microsoft.com/office/powerpoint/2010/main" val="6496376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de-frame">
            <a:extLst xmlns:a="http://schemas.openxmlformats.org/drawingml/2006/main">
              <a:ext uri="{FF2B5EF4-FFF2-40B4-BE49-F238E27FC236}">
                <a16:creationId xmlns:a16="http://schemas.microsoft.com/office/drawing/2014/main" id="{20088D23-EC60-43D7-9C7A-2A93874D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6667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2" name="code-text">
            <a:extLst xmlns:a="http://schemas.openxmlformats.org/drawingml/2006/main">
              <a:ext uri="{FF2B5EF4-FFF2-40B4-BE49-F238E27FC236}">
                <a16:creationId xmlns:a16="http://schemas.microsoft.com/office/drawing/2014/main" id="{DAD47606-FB47-4C40-981B-5E7DA290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60960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"name": "read_file",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"parameters": {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"type": "object",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"properties": { "path": {"type":"string"} },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"required": ["path"],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"additionalProperties": false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code-callout">
            <a:extLst xmlns:a="http://schemas.openxmlformats.org/drawingml/2006/main">
              <a:ext uri="{FF2B5EF4-FFF2-40B4-BE49-F238E27FC236}">
                <a16:creationId xmlns:a16="http://schemas.microsoft.com/office/drawing/2014/main" id="{AA0E48B7-AF0E-4EF5-B912-0031BEB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Four decisions</a:t>
            </a:r>
          </a:p>
        </p:txBody>
      </p:sp>
      <p:sp>
        <p:nvSpPr>
          <p:cNvPr id="4" name="code-bullets">
            <a:extLst xmlns:a="http://schemas.openxmlformats.org/drawingml/2006/main">
              <a:ext uri="{FF2B5EF4-FFF2-40B4-BE49-F238E27FC236}">
                <a16:creationId xmlns:a16="http://schemas.microsoft.com/office/drawing/2014/main" id="{153A5EFC-B187-497B-9254-10D954CF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571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Stable tool name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Object arguments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Required path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No surprise fields</a:t>
            </a:r>
          </a:p>
        </p:txBody>
      </p:sp>
      <p:sp>
        <p:nvSpPr>
          <p:cNvPr id="5" name="code-evidence">
            <a:extLst xmlns:a="http://schemas.openxmlformats.org/drawingml/2006/main">
              <a:ext uri="{FF2B5EF4-FFF2-40B4-BE49-F238E27FC236}">
                <a16:creationId xmlns:a16="http://schemas.microsoft.com/office/drawing/2014/main" id="{D10EBA72-4751-4DC6-B633-B38CA776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0"/>
            <a:ext cx="3571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evidence-text">
            <a:extLst xmlns:a="http://schemas.openxmlformats.org/drawingml/2006/main">
              <a:ext uri="{FF2B5EF4-FFF2-40B4-BE49-F238E27FC236}">
                <a16:creationId xmlns:a16="http://schemas.microsoft.com/office/drawing/2014/main" id="{91745409-C4B8-4ECD-BD77-C2F46A74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102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Inspect the bytes before trusting the claim.</a:t>
            </a:r>
          </a:p>
        </p:txBody>
      </p:sp>
      <p:sp>
        <p:nvSpPr>
          <p:cNvPr id="7" name="eyebrow-25">
            <a:extLst xmlns:a="http://schemas.openxmlformats.org/drawingml/2006/main">
              <a:ext uri="{FF2B5EF4-FFF2-40B4-BE49-F238E27FC236}">
                <a16:creationId xmlns:a16="http://schemas.microsoft.com/office/drawing/2014/main" id="{8B6FE291-9178-4284-952E-0A121360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CH 3  /  TOOL DEFINITIONS</a:t>
            </a:r>
          </a:p>
        </p:txBody>
      </p:sp>
      <p:sp>
        <p:nvSpPr>
          <p:cNvPr id="8" name="title-25">
            <a:extLst xmlns:a="http://schemas.openxmlformats.org/drawingml/2006/main">
              <a:ext uri="{FF2B5EF4-FFF2-40B4-BE49-F238E27FC236}">
                <a16:creationId xmlns:a16="http://schemas.microsoft.com/office/drawing/2014/main" id="{F687B0FF-91F7-40B7-B811-448B95E7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minimal schema makes intent machine-checkable</a:t>
            </a:r>
          </a:p>
        </p:txBody>
      </p:sp>
      <p:cxnSp>
        <p:nvCxnSpPr>
          <p:cNvPr id="19" name="header-rule-25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10" name="footer-25">
            <a:extLst xmlns:a="http://schemas.openxmlformats.org/drawingml/2006/main">
              <a:ext uri="{FF2B5EF4-FFF2-40B4-BE49-F238E27FC236}">
                <a16:creationId xmlns:a16="http://schemas.microsoft.com/office/drawing/2014/main" id="{A015E226-BB0C-4AFD-A897-C650B4CA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25   •   Tool definitions and wire format</a:t>
            </a:r>
          </a:p>
        </p:txBody>
      </p:sp>
    </p:spTree>
    <p:extLst>
      <p:ext uri="{BB962C8B-B14F-4D97-AF65-F5344CB8AC3E}">
        <p14:creationId xmlns:p14="http://schemas.microsoft.com/office/powerpoint/2010/main" val="6375491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mpare-panel-0">
            <a:extLst xmlns:a="http://schemas.openxmlformats.org/drawingml/2006/main">
              <a:ext uri="{FF2B5EF4-FFF2-40B4-BE49-F238E27FC236}">
                <a16:creationId xmlns:a16="http://schemas.microsoft.com/office/drawing/2014/main" id="{37199673-04F4-42DF-A78A-62A40042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81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E3E6A2F8-C7DD-4401-826F-26F5E252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LOOSE</a:t>
            </a:r>
          </a:p>
        </p:txBody>
      </p:sp>
      <p:sp>
        <p:nvSpPr>
          <p:cNvPr id="3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F948F908-E2C6-49AC-B215-0BAE4EC2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6101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required omitted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extra fields accepted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errors surface late</a:t>
            </a:r>
          </a:p>
        </p:txBody>
      </p:sp>
      <p:sp>
        <p:nvSpPr>
          <p:cNvPr id="4" name="compare-panel-1">
            <a:extLst xmlns:a="http://schemas.openxmlformats.org/drawingml/2006/main">
              <a:ext uri="{FF2B5EF4-FFF2-40B4-BE49-F238E27FC236}">
                <a16:creationId xmlns:a16="http://schemas.microsoft.com/office/drawing/2014/main" id="{111FAB27-A837-4C7F-A511-04DD1E4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181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4E532377-1D30-4463-A656-EDB0BB4E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19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STRICT</a:t>
            </a:r>
          </a:p>
        </p:txBody>
      </p:sp>
      <p:sp>
        <p:nvSpPr>
          <p:cNvPr id="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034D2109-3F40-4118-BB59-55F9DBDD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6101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required: [path]</a:t>
            </a:r>
          </a:p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additionalProperties: false</a:t>
            </a:r>
          </a:p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errors surface at parse</a:t>
            </a:r>
          </a:p>
        </p:txBody>
      </p:sp>
      <p:sp>
        <p:nvSpPr>
          <p:cNvPr id="7" name="eyebrow-26">
            <a:extLst xmlns:a="http://schemas.openxmlformats.org/drawingml/2006/main">
              <a:ext uri="{FF2B5EF4-FFF2-40B4-BE49-F238E27FC236}">
                <a16:creationId xmlns:a16="http://schemas.microsoft.com/office/drawing/2014/main" id="{74BBC761-5EEB-4DCF-B872-D943C656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CH 3  /  TOOL DEFINITIONS</a:t>
            </a:r>
          </a:p>
        </p:txBody>
      </p:sp>
      <p:sp>
        <p:nvSpPr>
          <p:cNvPr id="8" name="title-26">
            <a:extLst xmlns:a="http://schemas.openxmlformats.org/drawingml/2006/main">
              <a:ext uri="{FF2B5EF4-FFF2-40B4-BE49-F238E27FC236}">
                <a16:creationId xmlns:a16="http://schemas.microsoft.com/office/drawing/2014/main" id="{C9433F4C-2E08-45FE-A46D-A76B1A7E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Strict schemas reject missing and misspelled fields</a:t>
            </a:r>
          </a:p>
        </p:txBody>
      </p:sp>
      <p:cxnSp>
        <p:nvCxnSpPr>
          <p:cNvPr id="19" name="header-rule-26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10" name="footer-26">
            <a:extLst xmlns:a="http://schemas.openxmlformats.org/drawingml/2006/main">
              <a:ext uri="{FF2B5EF4-FFF2-40B4-BE49-F238E27FC236}">
                <a16:creationId xmlns:a16="http://schemas.microsoft.com/office/drawing/2014/main" id="{15CF7C4E-C373-40E8-8A53-8682A662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26   •   Tool definitions and wire format</a:t>
            </a:r>
          </a:p>
        </p:txBody>
      </p:sp>
    </p:spTree>
    <p:extLst>
      <p:ext uri="{BB962C8B-B14F-4D97-AF65-F5344CB8AC3E}">
        <p14:creationId xmlns:p14="http://schemas.microsoft.com/office/powerpoint/2010/main" val="21474076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boundary-arrow-1"/>
          <p:cNvCxnSpPr/>
          <p:nvPr/>
        </p:nvCxnSpPr>
        <p:spPr>
          <a:xfrm xmlns:a="http://schemas.openxmlformats.org/drawingml/2006/main">
            <a:off x="3086100" y="2952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cxnSp>
        <p:nvCxnSpPr>
          <p:cNvPr id="17" name="boundary-arrow-2"/>
          <p:cNvCxnSpPr/>
          <p:nvPr/>
        </p:nvCxnSpPr>
        <p:spPr>
          <a:xfrm xmlns:a="http://schemas.openxmlformats.org/drawingml/2006/main">
            <a:off x="6791325" y="2952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3" name="boundary-node-0">
            <a:extLst xmlns:a="http://schemas.openxmlformats.org/drawingml/2006/main">
              <a:ext uri="{FF2B5EF4-FFF2-40B4-BE49-F238E27FC236}">
                <a16:creationId xmlns:a16="http://schemas.microsoft.com/office/drawing/2014/main" id="{418EEFEA-9BEE-41F9-879F-EA3B9019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4" name="boundary-node-text-0">
            <a:extLst xmlns:a="http://schemas.openxmlformats.org/drawingml/2006/main">
              <a:ext uri="{FF2B5EF4-FFF2-40B4-BE49-F238E27FC236}">
                <a16:creationId xmlns:a16="http://schemas.microsoft.com/office/drawing/2014/main" id="{D3A78D16-90FA-4AF5-8FCB-1B07DBAB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PROVIDER JSON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format-specific</a:t>
            </a:r>
          </a:p>
        </p:txBody>
      </p:sp>
      <p:sp>
        <p:nvSpPr>
          <p:cNvPr id="5" name="boundary-node-1">
            <a:extLst xmlns:a="http://schemas.openxmlformats.org/drawingml/2006/main">
              <a:ext uri="{FF2B5EF4-FFF2-40B4-BE49-F238E27FC236}">
                <a16:creationId xmlns:a16="http://schemas.microsoft.com/office/drawing/2014/main" id="{03C947ED-E2BF-46A5-974D-7A2B4B72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0F9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6" name="boundary-node-text-1">
            <a:extLst xmlns:a="http://schemas.openxmlformats.org/drawingml/2006/main">
              <a:ext uri="{FF2B5EF4-FFF2-40B4-BE49-F238E27FC236}">
                <a16:creationId xmlns:a16="http://schemas.microsoft.com/office/drawing/2014/main" id="{B35F4D37-D87F-451C-9CAA-1550F782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ToolCall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{id,name,args}</a:t>
            </a:r>
          </a:p>
        </p:txBody>
      </p:sp>
      <p:sp>
        <p:nvSpPr>
          <p:cNvPr id="7" name="boundary-node-2">
            <a:extLst xmlns:a="http://schemas.openxmlformats.org/drawingml/2006/main">
              <a:ext uri="{FF2B5EF4-FFF2-40B4-BE49-F238E27FC236}">
                <a16:creationId xmlns:a16="http://schemas.microsoft.com/office/drawing/2014/main" id="{92701255-C622-4CE6-82B6-3B1FCAD7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8" name="boundary-node-text-2">
            <a:extLst xmlns:a="http://schemas.openxmlformats.org/drawingml/2006/main">
              <a:ext uri="{FF2B5EF4-FFF2-40B4-BE49-F238E27FC236}">
                <a16:creationId xmlns:a16="http://schemas.microsoft.com/office/drawing/2014/main" id="{E4C02141-6395-4ADF-A52E-B47B2061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AGENT CORE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provider-neutral</a:t>
            </a:r>
          </a:p>
        </p:txBody>
      </p:sp>
      <p:sp>
        <p:nvSpPr>
          <p:cNvPr id="9" name="boundary-label-1">
            <a:extLst xmlns:a="http://schemas.openxmlformats.org/drawingml/2006/main">
              <a:ext uri="{FF2B5EF4-FFF2-40B4-BE49-F238E27FC236}">
                <a16:creationId xmlns:a16="http://schemas.microsoft.com/office/drawing/2014/main" id="{6E7FCE9D-4285-4941-89D5-C804DAD0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10" name="boundary-label-2">
            <a:extLst xmlns:a="http://schemas.openxmlformats.org/drawingml/2006/main">
              <a:ext uri="{FF2B5EF4-FFF2-40B4-BE49-F238E27FC236}">
                <a16:creationId xmlns:a16="http://schemas.microsoft.com/office/drawing/2014/main" id="{BCFF5EF2-B243-432B-9EC8-6F7465B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stable contract</a:t>
            </a:r>
          </a:p>
        </p:txBody>
      </p:sp>
      <p:sp>
        <p:nvSpPr>
          <p:cNvPr id="11" name="boundary-caption">
            <a:extLst xmlns:a="http://schemas.openxmlformats.org/drawingml/2006/main">
              <a:ext uri="{FF2B5EF4-FFF2-40B4-BE49-F238E27FC236}">
                <a16:creationId xmlns:a16="http://schemas.microsoft.com/office/drawing/2014/main" id="{C3016BE1-EC5B-45D1-8DF2-A70F031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Provider quirks stop at one adapter boundary.</a:t>
            </a:r>
          </a:p>
        </p:txBody>
      </p:sp>
      <p:sp>
        <p:nvSpPr>
          <p:cNvPr id="12" name="eyebrow-27">
            <a:extLst xmlns:a="http://schemas.openxmlformats.org/drawingml/2006/main">
              <a:ext uri="{FF2B5EF4-FFF2-40B4-BE49-F238E27FC236}">
                <a16:creationId xmlns:a16="http://schemas.microsoft.com/office/drawing/2014/main" id="{806A6F1D-E0EB-4320-A209-0CED49CC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CH 3  /  TOOL DEFINITIONS</a:t>
            </a:r>
          </a:p>
        </p:txBody>
      </p:sp>
      <p:sp>
        <p:nvSpPr>
          <p:cNvPr id="13" name="title-27">
            <a:extLst xmlns:a="http://schemas.openxmlformats.org/drawingml/2006/main">
              <a:ext uri="{FF2B5EF4-FFF2-40B4-BE49-F238E27FC236}">
                <a16:creationId xmlns:a16="http://schemas.microsoft.com/office/drawing/2014/main" id="{E58C9D8C-02AE-4939-AFC0-ED58886B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wire adapter protects the core loop</a:t>
            </a:r>
          </a:p>
        </p:txBody>
      </p:sp>
      <p:cxnSp>
        <p:nvCxnSpPr>
          <p:cNvPr id="29" name="header-rule-27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15" name="footer-27">
            <a:extLst xmlns:a="http://schemas.openxmlformats.org/drawingml/2006/main">
              <a:ext uri="{FF2B5EF4-FFF2-40B4-BE49-F238E27FC236}">
                <a16:creationId xmlns:a16="http://schemas.microsoft.com/office/drawing/2014/main" id="{6D5A9454-B14C-443C-90AB-208B3C62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27   •   Tool definitions and wire format</a:t>
            </a:r>
          </a:p>
        </p:txBody>
      </p:sp>
    </p:spTree>
    <p:extLst>
      <p:ext uri="{BB962C8B-B14F-4D97-AF65-F5344CB8AC3E}">
        <p14:creationId xmlns:p14="http://schemas.microsoft.com/office/powerpoint/2010/main" val="17722874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49A70CE1-59EE-420A-A7E7-42BEB0D8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0AF4181B-5AA4-4021-9895-B7A63A5F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Arguments are the string "{ path: }". What should the dispatcher do?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100686BB-7F64-4FEE-A258-EBC55AE0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33FC452D-673B-4552-BDA9-9E663B56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92F8734F-9B3F-4205-A63B-C00B3218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Guess the path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77C0635F-3AB8-459F-8583-99B3448E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6FE3C1DB-D890-4D41-9DC2-7B3F4D07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DB18620A-892D-408A-9C28-845CB334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Ask the shell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3C78B9B2-0F56-475D-AF03-00C80776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5E11506B-7C91-4216-A63A-B4D606F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C981FB93-4C65-4C66-ACAA-87F5782F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Return a typed error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501BBFF3-68B3-40E5-BB8D-84EB203D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0C17805F-EEA4-4864-BA34-F0A6AA9B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F5EEF61A-3528-4E2B-A0B2-91CBC768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Return a typed, correlated error; do not execute or repair silently.</a:t>
            </a:r>
          </a:p>
        </p:txBody>
      </p:sp>
      <p:sp>
        <p:nvSpPr>
          <p:cNvPr id="15" name="eyebrow-28">
            <a:extLst xmlns:a="http://schemas.openxmlformats.org/drawingml/2006/main">
              <a:ext uri="{FF2B5EF4-FFF2-40B4-BE49-F238E27FC236}">
                <a16:creationId xmlns:a16="http://schemas.microsoft.com/office/drawing/2014/main" id="{2B0E4797-F59E-4CB4-9C7A-4597538A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CH 3  /  TOOL DEFINITIONS</a:t>
            </a:r>
          </a:p>
        </p:txBody>
      </p:sp>
      <p:sp>
        <p:nvSpPr>
          <p:cNvPr id="16" name="title-28">
            <a:extLst xmlns:a="http://schemas.openxmlformats.org/drawingml/2006/main">
              <a:ext uri="{FF2B5EF4-FFF2-40B4-BE49-F238E27FC236}">
                <a16:creationId xmlns:a16="http://schemas.microsoft.com/office/drawing/2014/main" id="{ADB732B0-BE2D-4C1E-A768-DBB6E378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Malformed arguments should fail before execution</a:t>
            </a:r>
          </a:p>
        </p:txBody>
      </p:sp>
      <p:cxnSp>
        <p:nvCxnSpPr>
          <p:cNvPr id="35" name="header-rule-28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18" name="footer-28">
            <a:extLst xmlns:a="http://schemas.openxmlformats.org/drawingml/2006/main">
              <a:ext uri="{FF2B5EF4-FFF2-40B4-BE49-F238E27FC236}">
                <a16:creationId xmlns:a16="http://schemas.microsoft.com/office/drawing/2014/main" id="{3067ED34-266B-4A05-9635-50AAAABC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28   •   Tool definitions and wire format</a:t>
            </a:r>
          </a:p>
        </p:txBody>
      </p:sp>
    </p:spTree>
    <p:extLst>
      <p:ext uri="{BB962C8B-B14F-4D97-AF65-F5344CB8AC3E}">
        <p14:creationId xmlns:p14="http://schemas.microsoft.com/office/powerpoint/2010/main" val="3324573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matrix-head-0">
            <a:extLst xmlns:a="http://schemas.openxmlformats.org/drawingml/2006/main">
              <a:ext uri="{FF2B5EF4-FFF2-40B4-BE49-F238E27FC236}">
                <a16:creationId xmlns:a16="http://schemas.microsoft.com/office/drawing/2014/main" id="{AF17272D-5C52-49B5-A16E-872CA297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2" name="matrix-head-text-0">
            <a:extLst xmlns:a="http://schemas.openxmlformats.org/drawingml/2006/main">
              <a:ext uri="{FF2B5EF4-FFF2-40B4-BE49-F238E27FC236}">
                <a16:creationId xmlns:a16="http://schemas.microsoft.com/office/drawing/2014/main" id="{6F27B5F8-FBF1-43D7-89A8-08BB5503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3" name="matrix-head-1">
            <a:extLst xmlns:a="http://schemas.openxmlformats.org/drawingml/2006/main">
              <a:ext uri="{FF2B5EF4-FFF2-40B4-BE49-F238E27FC236}">
                <a16:creationId xmlns:a16="http://schemas.microsoft.com/office/drawing/2014/main" id="{FDBE67CD-BF9D-4E8D-92A6-75BD0748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002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4" name="matrix-head-text-1">
            <a:extLst xmlns:a="http://schemas.openxmlformats.org/drawingml/2006/main">
              <a:ext uri="{FF2B5EF4-FFF2-40B4-BE49-F238E27FC236}">
                <a16:creationId xmlns:a16="http://schemas.microsoft.com/office/drawing/2014/main" id="{5ACE343A-3AAC-4C33-93C2-00851836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02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5" name="matrix-head-2">
            <a:extLst xmlns:a="http://schemas.openxmlformats.org/drawingml/2006/main">
              <a:ext uri="{FF2B5EF4-FFF2-40B4-BE49-F238E27FC236}">
                <a16:creationId xmlns:a16="http://schemas.microsoft.com/office/drawing/2014/main" id="{BCE406D1-14DA-4788-A4F6-1FC16723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9525">
            <a:solidFill>
              <a:srgbClr val="16856B"/>
            </a:solidFill>
            <a:prstDash val="solid"/>
          </a:ln>
        </p:spPr>
      </p:sp>
      <p:sp>
        <p:nvSpPr>
          <p:cNvPr id="6" name="matrix-head-text-2">
            <a:extLst xmlns:a="http://schemas.openxmlformats.org/drawingml/2006/main">
              <a:ext uri="{FF2B5EF4-FFF2-40B4-BE49-F238E27FC236}">
                <a16:creationId xmlns:a16="http://schemas.microsoft.com/office/drawing/2014/main" id="{58AA9753-C608-4F61-AD7F-A93E8677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7" name="matrix-bg-0-0">
            <a:extLst xmlns:a="http://schemas.openxmlformats.org/drawingml/2006/main">
              <a:ext uri="{FF2B5EF4-FFF2-40B4-BE49-F238E27FC236}">
                <a16:creationId xmlns:a16="http://schemas.microsoft.com/office/drawing/2014/main" id="{F5AEB304-C6FB-43AE-B574-0E666236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trix-0-0">
            <a:extLst xmlns:a="http://schemas.openxmlformats.org/drawingml/2006/main">
              <a:ext uri="{FF2B5EF4-FFF2-40B4-BE49-F238E27FC236}">
                <a16:creationId xmlns:a16="http://schemas.microsoft.com/office/drawing/2014/main" id="{7EEEC603-14E1-40DE-AB63-4B7D6D26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Is path a string?</a:t>
            </a:r>
          </a:p>
        </p:txBody>
      </p:sp>
      <p:cxnSp>
        <p:nvCxnSpPr>
          <p:cNvPr id="49" name="matrix-line-0-0"/>
          <p:cNvCxnSpPr/>
          <p:nvPr/>
        </p:nvCxnSpPr>
        <p:spPr>
          <a:xfrm xmlns:a="http://schemas.openxmlformats.org/drawingml/2006/main">
            <a:off x="533400" y="27432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0" name="matrix-0-1">
            <a:extLst xmlns:a="http://schemas.openxmlformats.org/drawingml/2006/main">
              <a:ext uri="{FF2B5EF4-FFF2-40B4-BE49-F238E27FC236}">
                <a16:creationId xmlns:a16="http://schemas.microsoft.com/office/drawing/2014/main" id="{3EC6520E-BA0B-4D13-BB0D-AD802B69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cxnSp>
        <p:nvCxnSpPr>
          <p:cNvPr id="51" name="matrix-line-0-1"/>
          <p:cNvCxnSpPr/>
          <p:nvPr/>
        </p:nvCxnSpPr>
        <p:spPr>
          <a:xfrm xmlns:a="http://schemas.openxmlformats.org/drawingml/2006/main">
            <a:off x="4724400" y="27432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2" name="matrix-bg-0-2">
            <a:extLst xmlns:a="http://schemas.openxmlformats.org/drawingml/2006/main">
              <a:ext uri="{FF2B5EF4-FFF2-40B4-BE49-F238E27FC236}">
                <a16:creationId xmlns:a16="http://schemas.microsoft.com/office/drawing/2014/main" id="{DCE2DED7-DF51-4C87-9A73-0C8EAFC7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3695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trix-0-2">
            <a:extLst xmlns:a="http://schemas.openxmlformats.org/drawingml/2006/main">
              <a:ext uri="{FF2B5EF4-FFF2-40B4-BE49-F238E27FC236}">
                <a16:creationId xmlns:a16="http://schemas.microsoft.com/office/drawing/2014/main" id="{94E7BF5E-6BCB-4C79-A3AA-DFEFFA23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cxnSp>
        <p:nvCxnSpPr>
          <p:cNvPr id="54" name="matrix-line-0-2"/>
          <p:cNvCxnSpPr/>
          <p:nvPr/>
        </p:nvCxnSpPr>
        <p:spPr>
          <a:xfrm xmlns:a="http://schemas.openxmlformats.org/drawingml/2006/main">
            <a:off x="7962900" y="27432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5" name="matrix-1-0">
            <a:extLst xmlns:a="http://schemas.openxmlformats.org/drawingml/2006/main">
              <a:ext uri="{FF2B5EF4-FFF2-40B4-BE49-F238E27FC236}">
                <a16:creationId xmlns:a16="http://schemas.microsoft.com/office/drawing/2014/main" id="{A0AD103C-6F1A-4F47-B994-E60B8832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Is it under workspace?</a:t>
            </a:r>
          </a:p>
        </p:txBody>
      </p:sp>
      <p:cxnSp>
        <p:nvCxnSpPr>
          <p:cNvPr id="56" name="matrix-line-1-0"/>
          <p:cNvCxnSpPr/>
          <p:nvPr/>
        </p:nvCxnSpPr>
        <p:spPr>
          <a:xfrm xmlns:a="http://schemas.openxmlformats.org/drawingml/2006/main">
            <a:off x="533400" y="333375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7" name="matrix-bg-1-1">
            <a:extLst xmlns:a="http://schemas.openxmlformats.org/drawingml/2006/main">
              <a:ext uri="{FF2B5EF4-FFF2-40B4-BE49-F238E27FC236}">
                <a16:creationId xmlns:a16="http://schemas.microsoft.com/office/drawing/2014/main" id="{E53768AD-E6E8-4619-93F4-481C0BFD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432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trix-1-1">
            <a:extLst xmlns:a="http://schemas.openxmlformats.org/drawingml/2006/main">
              <a:ext uri="{FF2B5EF4-FFF2-40B4-BE49-F238E27FC236}">
                <a16:creationId xmlns:a16="http://schemas.microsoft.com/office/drawing/2014/main" id="{5388C8F8-709A-46D5-A095-B1C28C4E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cxnSp>
        <p:nvCxnSpPr>
          <p:cNvPr id="59" name="matrix-line-1-1"/>
          <p:cNvCxnSpPr/>
          <p:nvPr/>
        </p:nvCxnSpPr>
        <p:spPr>
          <a:xfrm xmlns:a="http://schemas.openxmlformats.org/drawingml/2006/main">
            <a:off x="4724400" y="33337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0" name="matrix-1-2">
            <a:extLst xmlns:a="http://schemas.openxmlformats.org/drawingml/2006/main">
              <a:ext uri="{FF2B5EF4-FFF2-40B4-BE49-F238E27FC236}">
                <a16:creationId xmlns:a16="http://schemas.microsoft.com/office/drawing/2014/main" id="{69ECAC6A-92B0-43F5-AB8B-93E0673B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cxnSp>
        <p:nvCxnSpPr>
          <p:cNvPr id="61" name="matrix-line-1-2"/>
          <p:cNvCxnSpPr/>
          <p:nvPr/>
        </p:nvCxnSpPr>
        <p:spPr>
          <a:xfrm xmlns:a="http://schemas.openxmlformats.org/drawingml/2006/main">
            <a:off x="7962900" y="333375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2" name="matrix-bg-2-0">
            <a:extLst xmlns:a="http://schemas.openxmlformats.org/drawingml/2006/main">
              <a:ext uri="{FF2B5EF4-FFF2-40B4-BE49-F238E27FC236}">
                <a16:creationId xmlns:a16="http://schemas.microsoft.com/office/drawing/2014/main" id="{16A91DAB-11EF-4667-8970-6356B150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atrix-2-0">
            <a:extLst xmlns:a="http://schemas.openxmlformats.org/drawingml/2006/main">
              <a:ext uri="{FF2B5EF4-FFF2-40B4-BE49-F238E27FC236}">
                <a16:creationId xmlns:a16="http://schemas.microsoft.com/office/drawing/2014/main" id="{B5DA85D7-307B-4085-8D33-CCB5537E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Does the file exist?</a:t>
            </a:r>
          </a:p>
        </p:txBody>
      </p:sp>
      <p:cxnSp>
        <p:nvCxnSpPr>
          <p:cNvPr id="64" name="matrix-line-2-0"/>
          <p:cNvCxnSpPr/>
          <p:nvPr/>
        </p:nvCxnSpPr>
        <p:spPr>
          <a:xfrm xmlns:a="http://schemas.openxmlformats.org/drawingml/2006/main">
            <a:off x="533400" y="39243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5" name="matrix-2-1">
            <a:extLst xmlns:a="http://schemas.openxmlformats.org/drawingml/2006/main">
              <a:ext uri="{FF2B5EF4-FFF2-40B4-BE49-F238E27FC236}">
                <a16:creationId xmlns:a16="http://schemas.microsoft.com/office/drawing/2014/main" id="{0187C828-3EB0-4634-82DC-72474E7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cxnSp>
        <p:nvCxnSpPr>
          <p:cNvPr id="66" name="matrix-line-2-1"/>
          <p:cNvCxnSpPr/>
          <p:nvPr/>
        </p:nvCxnSpPr>
        <p:spPr>
          <a:xfrm xmlns:a="http://schemas.openxmlformats.org/drawingml/2006/main">
            <a:off x="4724400" y="39243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7" name="matrix-bg-2-2">
            <a:extLst xmlns:a="http://schemas.openxmlformats.org/drawingml/2006/main">
              <a:ext uri="{FF2B5EF4-FFF2-40B4-BE49-F238E27FC236}">
                <a16:creationId xmlns:a16="http://schemas.microsoft.com/office/drawing/2014/main" id="{03ED8DD0-BDAC-488E-B8D5-CFC6EDE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695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atrix-2-2">
            <a:extLst xmlns:a="http://schemas.openxmlformats.org/drawingml/2006/main">
              <a:ext uri="{FF2B5EF4-FFF2-40B4-BE49-F238E27FC236}">
                <a16:creationId xmlns:a16="http://schemas.microsoft.com/office/drawing/2014/main" id="{0975BD39-C5BD-4D71-8964-DD4B172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cxnSp>
        <p:nvCxnSpPr>
          <p:cNvPr id="69" name="matrix-line-2-2"/>
          <p:cNvCxnSpPr/>
          <p:nvPr/>
        </p:nvCxnSpPr>
        <p:spPr>
          <a:xfrm xmlns:a="http://schemas.openxmlformats.org/drawingml/2006/main">
            <a:off x="7962900" y="3924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0" name="matrix-3-0">
            <a:extLst xmlns:a="http://schemas.openxmlformats.org/drawingml/2006/main">
              <a:ext uri="{FF2B5EF4-FFF2-40B4-BE49-F238E27FC236}">
                <a16:creationId xmlns:a16="http://schemas.microsoft.com/office/drawing/2014/main" id="{D935D236-9FE7-4412-B7DD-D10B9AE9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May this run mutate?</a:t>
            </a:r>
          </a:p>
        </p:txBody>
      </p:sp>
      <p:cxnSp>
        <p:nvCxnSpPr>
          <p:cNvPr id="71" name="matrix-line-3-0"/>
          <p:cNvCxnSpPr/>
          <p:nvPr/>
        </p:nvCxnSpPr>
        <p:spPr>
          <a:xfrm xmlns:a="http://schemas.openxmlformats.org/drawingml/2006/main">
            <a:off x="533400" y="451485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2" name="matrix-bg-3-1">
            <a:extLst xmlns:a="http://schemas.openxmlformats.org/drawingml/2006/main">
              <a:ext uri="{FF2B5EF4-FFF2-40B4-BE49-F238E27FC236}">
                <a16:creationId xmlns:a16="http://schemas.microsoft.com/office/drawing/2014/main" id="{E7E7DC13-D8B2-4C92-B2C2-5434785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243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atrix-3-1">
            <a:extLst xmlns:a="http://schemas.openxmlformats.org/drawingml/2006/main">
              <a:ext uri="{FF2B5EF4-FFF2-40B4-BE49-F238E27FC236}">
                <a16:creationId xmlns:a16="http://schemas.microsoft.com/office/drawing/2014/main" id="{E342C1C3-1009-4452-8D4B-5958BADD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cxnSp>
        <p:nvCxnSpPr>
          <p:cNvPr id="74" name="matrix-line-3-1"/>
          <p:cNvCxnSpPr/>
          <p:nvPr/>
        </p:nvCxnSpPr>
        <p:spPr>
          <a:xfrm xmlns:a="http://schemas.openxmlformats.org/drawingml/2006/main">
            <a:off x="4724400" y="45148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5" name="matrix-3-2">
            <a:extLst xmlns:a="http://schemas.openxmlformats.org/drawingml/2006/main">
              <a:ext uri="{FF2B5EF4-FFF2-40B4-BE49-F238E27FC236}">
                <a16:creationId xmlns:a16="http://schemas.microsoft.com/office/drawing/2014/main" id="{E2FF33B9-2869-4FF9-AD50-1387AE7E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cxnSp>
        <p:nvCxnSpPr>
          <p:cNvPr id="76" name="matrix-line-3-2"/>
          <p:cNvCxnSpPr/>
          <p:nvPr/>
        </p:nvCxnSpPr>
        <p:spPr>
          <a:xfrm xmlns:a="http://schemas.openxmlformats.org/drawingml/2006/main">
            <a:off x="7962900" y="451485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7" name="eyebrow-29">
            <a:extLst xmlns:a="http://schemas.openxmlformats.org/drawingml/2006/main">
              <a:ext uri="{FF2B5EF4-FFF2-40B4-BE49-F238E27FC236}">
                <a16:creationId xmlns:a16="http://schemas.microsoft.com/office/drawing/2014/main" id="{49E418AF-AB3E-4F07-B598-87224B1E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CH 3  /  TOOL DEFINITIONS</a:t>
            </a:r>
          </a:p>
        </p:txBody>
      </p:sp>
      <p:sp>
        <p:nvSpPr>
          <p:cNvPr id="38" name="title-29">
            <a:extLst xmlns:a="http://schemas.openxmlformats.org/drawingml/2006/main">
              <a:ext uri="{FF2B5EF4-FFF2-40B4-BE49-F238E27FC236}">
                <a16:creationId xmlns:a16="http://schemas.microsoft.com/office/drawing/2014/main" id="{D36F7A79-E1CA-4A1A-9A8A-679A7B9E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Schema validation cannot authorize a path</a:t>
            </a:r>
          </a:p>
        </p:txBody>
      </p:sp>
      <p:cxnSp>
        <p:nvCxnSpPr>
          <p:cNvPr id="79" name="header-rule-29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40" name="footer-29">
            <a:extLst xmlns:a="http://schemas.openxmlformats.org/drawingml/2006/main">
              <a:ext uri="{FF2B5EF4-FFF2-40B4-BE49-F238E27FC236}">
                <a16:creationId xmlns:a16="http://schemas.microsoft.com/office/drawing/2014/main" id="{B908C3A6-A35B-4CA7-AEA4-B4858D6C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29   •   Tool definitions and wire format</a:t>
            </a:r>
          </a:p>
        </p:txBody>
      </p:sp>
    </p:spTree>
    <p:extLst>
      <p:ext uri="{BB962C8B-B14F-4D97-AF65-F5344CB8AC3E}">
        <p14:creationId xmlns:p14="http://schemas.microsoft.com/office/powerpoint/2010/main" val="18918567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xit-statement">
            <a:extLst xmlns:a="http://schemas.openxmlformats.org/drawingml/2006/main">
              <a:ext uri="{FF2B5EF4-FFF2-40B4-BE49-F238E27FC236}">
                <a16:creationId xmlns:a16="http://schemas.microsoft.com/office/drawing/2014/main" id="{41F4857E-2569-4F60-8315-FFEC1840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Parallel reads may be safe. Parallel writes can conflict. Every result still needs one stable call ID.</a:t>
            </a:r>
          </a:p>
        </p:txBody>
      </p:sp>
      <p:cxnSp>
        <p:nvCxnSpPr>
          <p:cNvPr id="10" name="exit-rule"/>
          <p:cNvCxnSpPr/>
          <p:nvPr/>
        </p:nvCxnSpPr>
        <p:spPr>
          <a:xfrm xmlns:a="http://schemas.openxmlformats.org/drawingml/2006/main">
            <a:off x="2571750" y="4000500"/>
            <a:ext cx="704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856B"/>
            </a:solidFill>
            <a:prstDash val="solid"/>
          </a:ln>
        </p:spPr>
      </p:cxnSp>
      <p:sp>
        <p:nvSpPr>
          <p:cNvPr id="3" name="exit-box">
            <a:extLst xmlns:a="http://schemas.openxmlformats.org/drawingml/2006/main">
              <a:ext uri="{FF2B5EF4-FFF2-40B4-BE49-F238E27FC236}">
                <a16:creationId xmlns:a16="http://schemas.microsoft.com/office/drawing/2014/main" id="{7E6343F4-DC14-446F-A456-5D5637DD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xit-question">
            <a:extLst xmlns:a="http://schemas.openxmlformats.org/drawingml/2006/main">
              <a:ext uri="{FF2B5EF4-FFF2-40B4-BE49-F238E27FC236}">
                <a16:creationId xmlns:a16="http://schemas.microsoft.com/office/drawing/2014/main" id="{552DC5A9-4FC3-4285-9986-100FF9B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Exit check: what proves that raw tool_calls changed nothing?</a:t>
            </a:r>
          </a:p>
        </p:txBody>
      </p:sp>
      <p:sp>
        <p:nvSpPr>
          <p:cNvPr id="5" name="eyebrow-30">
            <a:extLst xmlns:a="http://schemas.openxmlformats.org/drawingml/2006/main">
              <a:ext uri="{FF2B5EF4-FFF2-40B4-BE49-F238E27FC236}">
                <a16:creationId xmlns:a16="http://schemas.microsoft.com/office/drawing/2014/main" id="{6A60BCF6-1F98-4D7D-8846-49BBF84A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CH 3  /  TOOL DEFINITIONS</a:t>
            </a:r>
          </a:p>
        </p:txBody>
      </p:sp>
      <p:sp>
        <p:nvSpPr>
          <p:cNvPr id="6" name="title-30">
            <a:extLst xmlns:a="http://schemas.openxmlformats.org/drawingml/2006/main">
              <a:ext uri="{FF2B5EF4-FFF2-40B4-BE49-F238E27FC236}">
                <a16:creationId xmlns:a16="http://schemas.microsoft.com/office/drawing/2014/main" id="{E90B9526-8EFE-436C-8C20-34E45197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Defer parallel calls until correlation is boring</a:t>
            </a:r>
          </a:p>
        </p:txBody>
      </p:sp>
      <p:cxnSp>
        <p:nvCxnSpPr>
          <p:cNvPr id="15" name="header-rule-30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56B"/>
            </a:solidFill>
            <a:prstDash val="solid"/>
          </a:ln>
        </p:spPr>
      </p:cxnSp>
      <p:sp>
        <p:nvSpPr>
          <p:cNvPr id="8" name="footer-30">
            <a:extLst xmlns:a="http://schemas.openxmlformats.org/drawingml/2006/main">
              <a:ext uri="{FF2B5EF4-FFF2-40B4-BE49-F238E27FC236}">
                <a16:creationId xmlns:a16="http://schemas.microsoft.com/office/drawing/2014/main" id="{3DF24A14-2535-4994-A85F-E681C3B7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30   •   Tool definitions and wire format</a:t>
            </a:r>
          </a:p>
        </p:txBody>
      </p:sp>
    </p:spTree>
    <p:extLst>
      <p:ext uri="{BB962C8B-B14F-4D97-AF65-F5344CB8AC3E}">
        <p14:creationId xmlns:p14="http://schemas.microsoft.com/office/powerpoint/2010/main" val="13001126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F5AEF888-D3AA-4857-AB75-21ED1EF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396C6FF0-6C9C-4FC5-85BD-B300A35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{ "name":"run_command", "arguments": {"command":"rm -rf ..."} }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BFD6C071-DF35-4B4D-A561-5013F4B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1D1E0075-B2AC-4AA9-B94D-3C17DFBE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082D3974-FB92-49F8-8A38-3FF7991E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JSON blocks it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F6802F77-D766-41A9-9C1F-FC6CE619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477E7D53-DB9D-4E95-BE8B-8EF64453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968ED017-FF9C-4A55-A613-C17C2A84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Schema blocks it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326B1FEE-CD0E-47CF-9703-16FFB62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1F21FCE1-8D2D-43DE-A658-410A3A23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64CFB46F-E15E-454B-AF60-79D87E78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Capability policy must block it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A36C1981-4CEC-4A80-894C-64D61A4C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36A99323-87B4-4072-8C19-696E28A6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3C2E835E-9B08-4DDC-81CD-45853138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Structure is valid; an allowlisted capability policy must refuse the action.</a:t>
            </a:r>
          </a:p>
        </p:txBody>
      </p:sp>
      <p:sp>
        <p:nvSpPr>
          <p:cNvPr id="15" name="eyebrow-31">
            <a:extLst xmlns:a="http://schemas.openxmlformats.org/drawingml/2006/main">
              <a:ext uri="{FF2B5EF4-FFF2-40B4-BE49-F238E27FC236}">
                <a16:creationId xmlns:a16="http://schemas.microsoft.com/office/drawing/2014/main" id="{2378DFAC-04B5-48C2-B82C-3EF4E53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16" name="title-31">
            <a:extLst xmlns:a="http://schemas.openxmlformats.org/drawingml/2006/main">
              <a:ext uri="{FF2B5EF4-FFF2-40B4-BE49-F238E27FC236}">
                <a16:creationId xmlns:a16="http://schemas.microsoft.com/office/drawing/2014/main" id="{87876A99-6843-4ACB-8AEC-E5802CD8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Valid JSON can still request a dangerous action</a:t>
            </a:r>
          </a:p>
        </p:txBody>
      </p:sp>
      <p:cxnSp>
        <p:nvCxnSpPr>
          <p:cNvPr id="35" name="header-rule-31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18" name="footer-31">
            <a:extLst xmlns:a="http://schemas.openxmlformats.org/drawingml/2006/main">
              <a:ext uri="{FF2B5EF4-FFF2-40B4-BE49-F238E27FC236}">
                <a16:creationId xmlns:a16="http://schemas.microsoft.com/office/drawing/2014/main" id="{09298BEA-6844-401B-96C9-19FCA5F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31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10354185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mpare-panel-0">
            <a:extLst xmlns:a="http://schemas.openxmlformats.org/drawingml/2006/main">
              <a:ext uri="{FF2B5EF4-FFF2-40B4-BE49-F238E27FC236}">
                <a16:creationId xmlns:a16="http://schemas.microsoft.com/office/drawing/2014/main" id="{5CBBB998-B600-45F4-8913-08FEBA2B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81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FA397720-D5B7-44E6-ABCC-D31CCFCE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ARBITRARY COMMAND</a:t>
            </a:r>
          </a:p>
        </p:txBody>
      </p:sp>
      <p:sp>
        <p:nvSpPr>
          <p:cNvPr id="3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47D21348-E6CE-4CC8-ABA3-6A98C66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6101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free-form shell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quoting ambiguity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unbounded programs</a:t>
            </a:r>
          </a:p>
        </p:txBody>
      </p:sp>
      <p:sp>
        <p:nvSpPr>
          <p:cNvPr id="4" name="compare-panel-1">
            <a:extLst xmlns:a="http://schemas.openxmlformats.org/drawingml/2006/main">
              <a:ext uri="{FF2B5EF4-FFF2-40B4-BE49-F238E27FC236}">
                <a16:creationId xmlns:a16="http://schemas.microsoft.com/office/drawing/2014/main" id="{DF25E6A1-B563-4E78-AE55-BDE88E1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181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9A99B2F4-A592-4764-8B46-9E1EF77D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19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TASK ENUM</a:t>
            </a:r>
          </a:p>
        </p:txBody>
      </p:sp>
      <p:sp>
        <p:nvSpPr>
          <p:cNvPr id="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76AA6D0F-FE4F-44C1-9AC4-1BF82197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6101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configure</a:t>
            </a:r>
          </a:p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build</a:t>
            </a:r>
          </a:p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test</a:t>
            </a:r>
          </a:p>
        </p:txBody>
      </p:sp>
      <p:sp>
        <p:nvSpPr>
          <p:cNvPr id="7" name="eyebrow-32">
            <a:extLst xmlns:a="http://schemas.openxmlformats.org/drawingml/2006/main">
              <a:ext uri="{FF2B5EF4-FFF2-40B4-BE49-F238E27FC236}">
                <a16:creationId xmlns:a16="http://schemas.microsoft.com/office/drawing/2014/main" id="{C1FAF3DF-11B6-468E-BC55-A4565E12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8" name="title-32">
            <a:extLst xmlns:a="http://schemas.openxmlformats.org/drawingml/2006/main">
              <a:ext uri="{FF2B5EF4-FFF2-40B4-BE49-F238E27FC236}">
                <a16:creationId xmlns:a16="http://schemas.microsoft.com/office/drawing/2014/main" id="{E5B33F5D-F915-4B8B-BBD2-53AFD951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Narrow capabilities remove entire attack paths</a:t>
            </a:r>
          </a:p>
        </p:txBody>
      </p:sp>
      <p:cxnSp>
        <p:nvCxnSpPr>
          <p:cNvPr id="19" name="header-rule-32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10" name="footer-32">
            <a:extLst xmlns:a="http://schemas.openxmlformats.org/drawingml/2006/main">
              <a:ext uri="{FF2B5EF4-FFF2-40B4-BE49-F238E27FC236}">
                <a16:creationId xmlns:a16="http://schemas.microsoft.com/office/drawing/2014/main" id="{805D9929-6353-472D-8BC3-8F0C425B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32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2900801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flow-arrow-0"/>
          <p:cNvCxnSpPr/>
          <p:nvPr/>
        </p:nvCxnSpPr>
        <p:spPr>
          <a:xfrm xmlns:a="http://schemas.openxmlformats.org/drawingml/2006/main">
            <a:off x="2491740" y="3190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2" name="flow-node-0">
            <a:extLst xmlns:a="http://schemas.openxmlformats.org/drawingml/2006/main">
              <a:ext uri="{FF2B5EF4-FFF2-40B4-BE49-F238E27FC236}">
                <a16:creationId xmlns:a16="http://schemas.microsoft.com/office/drawing/2014/main" id="{31A469F9-453D-42F3-B976-B9D2361B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95834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3" name="flow-num-0">
            <a:extLst xmlns:a="http://schemas.openxmlformats.org/drawingml/2006/main">
              <a:ext uri="{FF2B5EF4-FFF2-40B4-BE49-F238E27FC236}">
                <a16:creationId xmlns:a16="http://schemas.microsoft.com/office/drawing/2014/main" id="{176D6947-3892-4676-87F8-E94ADE2F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19375"/>
            <a:ext cx="16725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flow-text-0">
            <a:extLst xmlns:a="http://schemas.openxmlformats.org/drawingml/2006/main">
              <a:ext uri="{FF2B5EF4-FFF2-40B4-BE49-F238E27FC236}">
                <a16:creationId xmlns:a16="http://schemas.microsoft.com/office/drawing/2014/main" id="{B47E664F-FBD3-45A7-9B88-4DCAE87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00375"/>
            <a:ext cx="167259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cxnSp>
        <p:nvCxnSpPr>
          <p:cNvPr id="29" name="flow-arrow-1"/>
          <p:cNvCxnSpPr/>
          <p:nvPr/>
        </p:nvCxnSpPr>
        <p:spPr>
          <a:xfrm xmlns:a="http://schemas.openxmlformats.org/drawingml/2006/main">
            <a:off x="4783455" y="3190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6" name="flow-node-1">
            <a:extLst xmlns:a="http://schemas.openxmlformats.org/drawingml/2006/main">
              <a:ext uri="{FF2B5EF4-FFF2-40B4-BE49-F238E27FC236}">
                <a16:creationId xmlns:a16="http://schemas.microsoft.com/office/drawing/2014/main" id="{301C4526-08B1-4938-90AE-CF24305E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115" y="2476500"/>
            <a:ext cx="195834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7" name="flow-num-1">
            <a:extLst xmlns:a="http://schemas.openxmlformats.org/drawingml/2006/main">
              <a:ext uri="{FF2B5EF4-FFF2-40B4-BE49-F238E27FC236}">
                <a16:creationId xmlns:a16="http://schemas.microsoft.com/office/drawing/2014/main" id="{C5D80692-0F3D-42F5-9A11-2435780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619375"/>
            <a:ext cx="16725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flow-text-1">
            <a:extLst xmlns:a="http://schemas.openxmlformats.org/drawingml/2006/main">
              <a:ext uri="{FF2B5EF4-FFF2-40B4-BE49-F238E27FC236}">
                <a16:creationId xmlns:a16="http://schemas.microsoft.com/office/drawing/2014/main" id="{A66689E4-C475-4060-B6B4-25514F12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000375"/>
            <a:ext cx="167259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cxnSp>
        <p:nvCxnSpPr>
          <p:cNvPr id="33" name="flow-arrow-2"/>
          <p:cNvCxnSpPr/>
          <p:nvPr/>
        </p:nvCxnSpPr>
        <p:spPr>
          <a:xfrm xmlns:a="http://schemas.openxmlformats.org/drawingml/2006/main">
            <a:off x="7075170" y="3190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10" name="flow-node-2">
            <a:extLst xmlns:a="http://schemas.openxmlformats.org/drawingml/2006/main">
              <a:ext uri="{FF2B5EF4-FFF2-40B4-BE49-F238E27FC236}">
                <a16:creationId xmlns:a16="http://schemas.microsoft.com/office/drawing/2014/main" id="{01695D2E-71E8-4934-A906-BDFF9316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2476500"/>
            <a:ext cx="195834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11" name="flow-num-2">
            <a:extLst xmlns:a="http://schemas.openxmlformats.org/drawingml/2006/main">
              <a:ext uri="{FF2B5EF4-FFF2-40B4-BE49-F238E27FC236}">
                <a16:creationId xmlns:a16="http://schemas.microsoft.com/office/drawing/2014/main" id="{2421AEC3-2F5F-4288-80B5-3256CD7C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705" y="2619375"/>
            <a:ext cx="16725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flow-text-2">
            <a:extLst xmlns:a="http://schemas.openxmlformats.org/drawingml/2006/main">
              <a:ext uri="{FF2B5EF4-FFF2-40B4-BE49-F238E27FC236}">
                <a16:creationId xmlns:a16="http://schemas.microsoft.com/office/drawing/2014/main" id="{4C745B9B-5C32-46AD-8E39-4388F2F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705" y="3000375"/>
            <a:ext cx="167259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Authorize</a:t>
            </a:r>
          </a:p>
        </p:txBody>
      </p:sp>
      <p:cxnSp>
        <p:nvCxnSpPr>
          <p:cNvPr id="37" name="flow-arrow-3"/>
          <p:cNvCxnSpPr/>
          <p:nvPr/>
        </p:nvCxnSpPr>
        <p:spPr>
          <a:xfrm xmlns:a="http://schemas.openxmlformats.org/drawingml/2006/main">
            <a:off x="9366885" y="3190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14" name="flow-node-3">
            <a:extLst xmlns:a="http://schemas.openxmlformats.org/drawingml/2006/main">
              <a:ext uri="{FF2B5EF4-FFF2-40B4-BE49-F238E27FC236}">
                <a16:creationId xmlns:a16="http://schemas.microsoft.com/office/drawing/2014/main" id="{B9AD8922-F378-4400-8286-4B11DB10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545" y="2476500"/>
            <a:ext cx="195834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15" name="flow-num-3">
            <a:extLst xmlns:a="http://schemas.openxmlformats.org/drawingml/2006/main">
              <a:ext uri="{FF2B5EF4-FFF2-40B4-BE49-F238E27FC236}">
                <a16:creationId xmlns:a16="http://schemas.microsoft.com/office/drawing/2014/main" id="{68293070-8C05-4521-A415-8CF3B7B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2619375"/>
            <a:ext cx="16725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flow-text-3">
            <a:extLst xmlns:a="http://schemas.openxmlformats.org/drawingml/2006/main">
              <a:ext uri="{FF2B5EF4-FFF2-40B4-BE49-F238E27FC236}">
                <a16:creationId xmlns:a16="http://schemas.microsoft.com/office/drawing/2014/main" id="{C42C07C0-A956-406E-A3E7-1F200278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3000375"/>
            <a:ext cx="167259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7" name="flow-node-4">
            <a:extLst xmlns:a="http://schemas.openxmlformats.org/drawingml/2006/main">
              <a:ext uri="{FF2B5EF4-FFF2-40B4-BE49-F238E27FC236}">
                <a16:creationId xmlns:a16="http://schemas.microsoft.com/office/drawing/2014/main" id="{8C5B8AF5-B0B7-4BF7-BDCE-B2F5309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2476500"/>
            <a:ext cx="195834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18" name="flow-num-4">
            <a:extLst xmlns:a="http://schemas.openxmlformats.org/drawingml/2006/main">
              <a:ext uri="{FF2B5EF4-FFF2-40B4-BE49-F238E27FC236}">
                <a16:creationId xmlns:a16="http://schemas.microsoft.com/office/drawing/2014/main" id="{7DF8CB05-80BD-4187-A0CC-E297BF0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135" y="2619375"/>
            <a:ext cx="16725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flow-text-4">
            <a:extLst xmlns:a="http://schemas.openxmlformats.org/drawingml/2006/main">
              <a:ext uri="{FF2B5EF4-FFF2-40B4-BE49-F238E27FC236}">
                <a16:creationId xmlns:a16="http://schemas.microsoft.com/office/drawing/2014/main" id="{EA9A9B3D-FC4B-4A75-86A4-A1998143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135" y="3000375"/>
            <a:ext cx="167259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Envelope</a:t>
            </a:r>
          </a:p>
        </p:txBody>
      </p:sp>
      <p:sp>
        <p:nvSpPr>
          <p:cNvPr id="20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F19A2163-F706-4230-9B68-278A33C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Each stage has a distinct failure class and test.</a:t>
            </a:r>
          </a:p>
        </p:txBody>
      </p:sp>
      <p:sp>
        <p:nvSpPr>
          <p:cNvPr id="21" name="eyebrow-33">
            <a:extLst xmlns:a="http://schemas.openxmlformats.org/drawingml/2006/main">
              <a:ext uri="{FF2B5EF4-FFF2-40B4-BE49-F238E27FC236}">
                <a16:creationId xmlns:a16="http://schemas.microsoft.com/office/drawing/2014/main" id="{3C56AD07-5464-4F8A-A912-F2E78299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22" name="title-33">
            <a:extLst xmlns:a="http://schemas.openxmlformats.org/drawingml/2006/main">
              <a:ext uri="{FF2B5EF4-FFF2-40B4-BE49-F238E27FC236}">
                <a16:creationId xmlns:a16="http://schemas.microsoft.com/office/drawing/2014/main" id="{E8D9B7DE-F95E-4FC5-AE61-EFBB1F86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Dispatch is a five-stage security pipeline</a:t>
            </a:r>
          </a:p>
        </p:txBody>
      </p:sp>
      <p:cxnSp>
        <p:nvCxnSpPr>
          <p:cNvPr id="47" name="header-rule-33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24" name="footer-33">
            <a:extLst xmlns:a="http://schemas.openxmlformats.org/drawingml/2006/main">
              <a:ext uri="{FF2B5EF4-FFF2-40B4-BE49-F238E27FC236}">
                <a16:creationId xmlns:a16="http://schemas.microsoft.com/office/drawing/2014/main" id="{4E1BA535-3FCC-4DED-8BDC-F9808254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33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16608170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mpare-panel-0">
            <a:extLst xmlns:a="http://schemas.openxmlformats.org/drawingml/2006/main">
              <a:ext uri="{FF2B5EF4-FFF2-40B4-BE49-F238E27FC236}">
                <a16:creationId xmlns:a16="http://schemas.microsoft.com/office/drawing/2014/main" id="{97FDEF14-D4BD-4D8C-B47D-06EE9052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81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ACB22668-5E9B-4CC9-AC4A-8E65325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3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B044C959-7CF0-416A-8E17-8309C39C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6101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ok: true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data: {...}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meta: bounded</a:t>
            </a:r>
          </a:p>
        </p:txBody>
      </p:sp>
      <p:sp>
        <p:nvSpPr>
          <p:cNvPr id="4" name="compare-panel-1">
            <a:extLst xmlns:a="http://schemas.openxmlformats.org/drawingml/2006/main">
              <a:ext uri="{FF2B5EF4-FFF2-40B4-BE49-F238E27FC236}">
                <a16:creationId xmlns:a16="http://schemas.microsoft.com/office/drawing/2014/main" id="{B8D0954E-9186-4A70-9464-640AC8F4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181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F56162C2-1886-44F2-85C3-8269213C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19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5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856B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A4EC59AF-756A-470B-8082-0228161D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6101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ok: false</a:t>
            </a:r>
          </a:p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error.code</a:t>
            </a:r>
          </a:p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error.message</a:t>
            </a:r>
          </a:p>
        </p:txBody>
      </p:sp>
      <p:sp>
        <p:nvSpPr>
          <p:cNvPr id="7" name="eyebrow-34">
            <a:extLst xmlns:a="http://schemas.openxmlformats.org/drawingml/2006/main">
              <a:ext uri="{FF2B5EF4-FFF2-40B4-BE49-F238E27FC236}">
                <a16:creationId xmlns:a16="http://schemas.microsoft.com/office/drawing/2014/main" id="{9E6EE0B7-0AF4-40BD-BD0E-9D3BE149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8" name="title-34">
            <a:extLst xmlns:a="http://schemas.openxmlformats.org/drawingml/2006/main">
              <a:ext uri="{FF2B5EF4-FFF2-40B4-BE49-F238E27FC236}">
                <a16:creationId xmlns:a16="http://schemas.microsoft.com/office/drawing/2014/main" id="{650A9ACF-F17E-45F2-BE8C-71082540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One result envelope carries success and failure</a:t>
            </a:r>
          </a:p>
        </p:txBody>
      </p:sp>
      <p:cxnSp>
        <p:nvCxnSpPr>
          <p:cNvPr id="19" name="header-rule-34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10" name="footer-34">
            <a:extLst xmlns:a="http://schemas.openxmlformats.org/drawingml/2006/main">
              <a:ext uri="{FF2B5EF4-FFF2-40B4-BE49-F238E27FC236}">
                <a16:creationId xmlns:a16="http://schemas.microsoft.com/office/drawing/2014/main" id="{373B8947-8847-42F3-ABDF-E8DA245C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34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8264332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corr-arrow"/>
          <p:cNvCxnSpPr/>
          <p:nvPr/>
        </p:nvCxnSpPr>
        <p:spPr>
          <a:xfrm xmlns:a="http://schemas.openxmlformats.org/drawingml/2006/main">
            <a:off x="4953000" y="33337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33D62"/>
            </a:solidFill>
            <a:prstDash val="solid"/>
          </a:ln>
        </p:spPr>
      </p:cxnSp>
      <p:sp>
        <p:nvSpPr>
          <p:cNvPr id="2" name="corr-call">
            <a:extLst xmlns:a="http://schemas.openxmlformats.org/drawingml/2006/main">
              <a:ext uri="{FF2B5EF4-FFF2-40B4-BE49-F238E27FC236}">
                <a16:creationId xmlns:a16="http://schemas.microsoft.com/office/drawing/2014/main" id="{68E2B4E1-A859-45EA-9C63-0841DEE1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810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3" name="corr-result">
            <a:extLst xmlns:a="http://schemas.openxmlformats.org/drawingml/2006/main">
              <a:ext uri="{FF2B5EF4-FFF2-40B4-BE49-F238E27FC236}">
                <a16:creationId xmlns:a16="http://schemas.microsoft.com/office/drawing/2014/main" id="{E377C1CF-6522-44A5-A395-E8F71337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810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0F9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4" name="corr-call-label">
            <a:extLst xmlns:a="http://schemas.openxmlformats.org/drawingml/2006/main">
              <a:ext uri="{FF2B5EF4-FFF2-40B4-BE49-F238E27FC236}">
                <a16:creationId xmlns:a16="http://schemas.microsoft.com/office/drawing/2014/main" id="{FFD58F9E-05EC-4744-A43A-AEF004FE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ASSISTANT TOOL CALL</a:t>
            </a:r>
          </a:p>
        </p:txBody>
      </p:sp>
      <p:sp>
        <p:nvSpPr>
          <p:cNvPr id="5" name="corr-call-id">
            <a:extLst xmlns:a="http://schemas.openxmlformats.org/drawingml/2006/main">
              <a:ext uri="{FF2B5EF4-FFF2-40B4-BE49-F238E27FC236}">
                <a16:creationId xmlns:a16="http://schemas.microsoft.com/office/drawing/2014/main" id="{498D58A1-547F-451C-902B-C44A3FDF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call_17</a:t>
            </a:r>
          </a:p>
        </p:txBody>
      </p:sp>
      <p:sp>
        <p:nvSpPr>
          <p:cNvPr id="6" name="corr-result-label">
            <a:extLst xmlns:a="http://schemas.openxmlformats.org/drawingml/2006/main">
              <a:ext uri="{FF2B5EF4-FFF2-40B4-BE49-F238E27FC236}">
                <a16:creationId xmlns:a16="http://schemas.microsoft.com/office/drawing/2014/main" id="{D8AA2B6E-F126-4C18-8202-58F4F1A2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TOOL RESULT</a:t>
            </a:r>
          </a:p>
        </p:txBody>
      </p:sp>
      <p:sp>
        <p:nvSpPr>
          <p:cNvPr id="7" name="corr-result-id">
            <a:extLst xmlns:a="http://schemas.openxmlformats.org/drawingml/2006/main">
              <a:ext uri="{FF2B5EF4-FFF2-40B4-BE49-F238E27FC236}">
                <a16:creationId xmlns:a16="http://schemas.microsoft.com/office/drawing/2014/main" id="{2F214ED2-0D53-4346-9097-85E5E7E2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call_17</a:t>
            </a:r>
          </a:p>
        </p:txBody>
      </p:sp>
      <p:sp>
        <p:nvSpPr>
          <p:cNvPr id="8" name="corr-caption">
            <a:extLst xmlns:a="http://schemas.openxmlformats.org/drawingml/2006/main">
              <a:ext uri="{FF2B5EF4-FFF2-40B4-BE49-F238E27FC236}">
                <a16:creationId xmlns:a16="http://schemas.microsoft.com/office/drawing/2014/main" id="{1751E335-7FB9-48F3-B8DE-B2B68A56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assistant.tool_call.id must equal tool_result.tool_call_id</a:t>
            </a:r>
          </a:p>
        </p:txBody>
      </p:sp>
      <p:sp>
        <p:nvSpPr>
          <p:cNvPr id="9" name="eyebrow-35">
            <a:extLst xmlns:a="http://schemas.openxmlformats.org/drawingml/2006/main">
              <a:ext uri="{FF2B5EF4-FFF2-40B4-BE49-F238E27FC236}">
                <a16:creationId xmlns:a16="http://schemas.microsoft.com/office/drawing/2014/main" id="{60BF74A5-2E6C-4B0B-8DDD-4585200E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10" name="title-35">
            <a:extLst xmlns:a="http://schemas.openxmlformats.org/drawingml/2006/main">
              <a:ext uri="{FF2B5EF4-FFF2-40B4-BE49-F238E27FC236}">
                <a16:creationId xmlns:a16="http://schemas.microsoft.com/office/drawing/2014/main" id="{17B35EC1-022A-4CC1-8C23-2D2459E6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Call IDs preserve causal history</a:t>
            </a:r>
          </a:p>
        </p:txBody>
      </p:sp>
      <p:cxnSp>
        <p:nvCxnSpPr>
          <p:cNvPr id="23" name="header-rule-35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12" name="footer-35">
            <a:extLst xmlns:a="http://schemas.openxmlformats.org/drawingml/2006/main">
              <a:ext uri="{FF2B5EF4-FFF2-40B4-BE49-F238E27FC236}">
                <a16:creationId xmlns:a16="http://schemas.microsoft.com/office/drawing/2014/main" id="{13DCA4C7-7E3B-4B63-89A7-E1DEF443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35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14680493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CE7E6843-A034-4733-B1EF-B7B8A6BB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5EEB521A-5144-4929-BB65-36D54730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process launched, output was captured, and the compiler exited 1. Is the tool envelope successful?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A4C170E4-458C-486F-9B41-2CCA0D0D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B0F5E693-148C-4265-8876-521A0CFA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E910E6E3-91DA-4978-AD67-7F13FC0D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Contradiction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1DD76434-245B-4B5A-8DF2-3BDADEC7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A21D103E-D0E8-4778-8C11-FE99C139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7BDB6EBF-C280-4F38-97D3-E7869404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Tool success; process failure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8F9CE192-AEEA-41F9-856D-3029398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D45B9443-D8EF-46DC-8CD9-F3D8B361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9082FE96-FEE7-4D44-85A5-95CB2A32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Full task success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CE89BA0E-2DF9-4A76-89B6-31EF6ADD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154CCFB2-7C79-4E46-A233-95C1EF6D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30EAE83E-F67D-408D-AEE2-F24A5D4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Tool success; process failure. The observation worked, and it observed a failing process.</a:t>
            </a:r>
          </a:p>
        </p:txBody>
      </p:sp>
      <p:sp>
        <p:nvSpPr>
          <p:cNvPr id="15" name="eyebrow-36">
            <a:extLst xmlns:a="http://schemas.openxmlformats.org/drawingml/2006/main">
              <a:ext uri="{FF2B5EF4-FFF2-40B4-BE49-F238E27FC236}">
                <a16:creationId xmlns:a16="http://schemas.microsoft.com/office/drawing/2014/main" id="{7F4F21CD-F76C-4C02-AB01-AA4AD514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16" name="title-36">
            <a:extLst xmlns:a="http://schemas.openxmlformats.org/drawingml/2006/main">
              <a:ext uri="{FF2B5EF4-FFF2-40B4-BE49-F238E27FC236}">
                <a16:creationId xmlns:a16="http://schemas.microsoft.com/office/drawing/2014/main" id="{43CA571D-282E-4468-86F4-44E505AA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ok: true and exit_code: 1 can both be correct</a:t>
            </a:r>
          </a:p>
        </p:txBody>
      </p:sp>
      <p:cxnSp>
        <p:nvCxnSpPr>
          <p:cNvPr id="35" name="header-rule-36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18" name="footer-36">
            <a:extLst xmlns:a="http://schemas.openxmlformats.org/drawingml/2006/main">
              <a:ext uri="{FF2B5EF4-FFF2-40B4-BE49-F238E27FC236}">
                <a16:creationId xmlns:a16="http://schemas.microsoft.com/office/drawing/2014/main" id="{D34DE0AE-2A6F-431E-AC07-1EB5353C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36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14409286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ayer-0">
            <a:extLst xmlns:a="http://schemas.openxmlformats.org/drawingml/2006/main">
              <a:ext uri="{FF2B5EF4-FFF2-40B4-BE49-F238E27FC236}">
                <a16:creationId xmlns:a16="http://schemas.microsoft.com/office/drawing/2014/main" id="{0A3FED74-2CA6-430F-A2B7-A997986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383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2" name="layer-name-0">
            <a:extLst xmlns:a="http://schemas.openxmlformats.org/drawingml/2006/main">
              <a:ext uri="{FF2B5EF4-FFF2-40B4-BE49-F238E27FC236}">
                <a16:creationId xmlns:a16="http://schemas.microsoft.com/office/drawing/2014/main" id="{BF8EEA4E-5A1A-425E-99D3-E83DAE3E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638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3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F0CD6-7CD0-430A-AC90-193C72B1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38300"/>
            <a:ext cx="630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repair accepted</a:t>
            </a:r>
          </a:p>
        </p:txBody>
      </p:sp>
      <p:sp>
        <p:nvSpPr>
          <p:cNvPr id="4" name="layer-1">
            <a:extLst xmlns:a="http://schemas.openxmlformats.org/drawingml/2006/main">
              <a:ext uri="{FF2B5EF4-FFF2-40B4-BE49-F238E27FC236}">
                <a16:creationId xmlns:a16="http://schemas.microsoft.com/office/drawing/2014/main" id="{96365130-8878-4243-B8D2-5CF787D5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286000"/>
            <a:ext cx="7762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5" name="layer-name-1">
            <a:extLst xmlns:a="http://schemas.openxmlformats.org/drawingml/2006/main">
              <a:ext uri="{FF2B5EF4-FFF2-40B4-BE49-F238E27FC236}">
                <a16:creationId xmlns:a16="http://schemas.microsoft.com/office/drawing/2014/main" id="{C475C290-6639-4B73-873A-1ACA088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2286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6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9FB8597C-9D9D-4322-8F41-48264A9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813" y="2286000"/>
            <a:ext cx="5210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exit code / tests</a:t>
            </a:r>
          </a:p>
        </p:txBody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B4AFB799-8019-4E0B-A158-F562045B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337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8" name="layer-name-2">
            <a:extLst xmlns:a="http://schemas.openxmlformats.org/drawingml/2006/main">
              <a:ext uri="{FF2B5EF4-FFF2-40B4-BE49-F238E27FC236}">
                <a16:creationId xmlns:a16="http://schemas.microsoft.com/office/drawing/2014/main" id="{3A24A3E6-E07F-4947-87D6-14301C5C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9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FFA1E855-2CA0-4A43-A8F2-D0559722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411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operation observed</a:t>
            </a:r>
          </a:p>
        </p:txBody>
      </p:sp>
      <p:sp>
        <p:nvSpPr>
          <p:cNvPr id="10" name="layer-3">
            <a:extLst xmlns:a="http://schemas.openxmlformats.org/drawingml/2006/main">
              <a:ext uri="{FF2B5EF4-FFF2-40B4-BE49-F238E27FC236}">
                <a16:creationId xmlns:a16="http://schemas.microsoft.com/office/drawing/2014/main" id="{691047A3-7288-4202-BCAE-563E4E2E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3581400"/>
            <a:ext cx="557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1" name="layer-name-3">
            <a:extLst xmlns:a="http://schemas.openxmlformats.org/drawingml/2006/main">
              <a:ext uri="{FF2B5EF4-FFF2-40B4-BE49-F238E27FC236}">
                <a16:creationId xmlns:a16="http://schemas.microsoft.com/office/drawing/2014/main" id="{8861AC3D-75FE-49CD-B15C-F2041882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5814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DISPATCH</a:t>
            </a:r>
          </a:p>
        </p:txBody>
      </p:sp>
      <p:sp>
        <p:nvSpPr>
          <p:cNvPr id="12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6AC80CBC-6A82-480C-A16C-9B85554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3581400"/>
            <a:ext cx="3019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authorized call</a:t>
            </a:r>
          </a:p>
        </p:txBody>
      </p:sp>
      <p:sp>
        <p:nvSpPr>
          <p:cNvPr id="13" name="layer-4">
            <a:extLst xmlns:a="http://schemas.openxmlformats.org/drawingml/2006/main">
              <a:ext uri="{FF2B5EF4-FFF2-40B4-BE49-F238E27FC236}">
                <a16:creationId xmlns:a16="http://schemas.microsoft.com/office/drawing/2014/main" id="{9DF05143-122F-4C9F-99C6-BC8B7A9D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291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4" name="layer-name-4">
            <a:extLst xmlns:a="http://schemas.openxmlformats.org/drawingml/2006/main">
              <a:ext uri="{FF2B5EF4-FFF2-40B4-BE49-F238E27FC236}">
                <a16:creationId xmlns:a16="http://schemas.microsoft.com/office/drawing/2014/main" id="{D28A16D9-B50E-4B72-9BBC-1A510847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29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15" name="layer-body-4">
            <a:extLst xmlns:a="http://schemas.openxmlformats.org/drawingml/2006/main">
              <a:ext uri="{FF2B5EF4-FFF2-40B4-BE49-F238E27FC236}">
                <a16:creationId xmlns:a16="http://schemas.microsoft.com/office/drawing/2014/main" id="{D1E4C812-C70A-43D9-AD34-A02B1300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29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valid arguments</a:t>
            </a:r>
          </a:p>
        </p:txBody>
      </p:sp>
      <p:sp>
        <p:nvSpPr>
          <p:cNvPr id="16" name="layer-question">
            <a:extLst xmlns:a="http://schemas.openxmlformats.org/drawingml/2006/main">
              <a:ext uri="{FF2B5EF4-FFF2-40B4-BE49-F238E27FC236}">
                <a16:creationId xmlns:a16="http://schemas.microsoft.com/office/drawing/2014/main" id="{E863D678-367B-4F98-B499-3C283923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Where does exit_code live?  Process outcome inside a successful tool result.</a:t>
            </a:r>
          </a:p>
        </p:txBody>
      </p:sp>
      <p:sp>
        <p:nvSpPr>
          <p:cNvPr id="17" name="eyebrow-37">
            <a:extLst xmlns:a="http://schemas.openxmlformats.org/drawingml/2006/main">
              <a:ext uri="{FF2B5EF4-FFF2-40B4-BE49-F238E27FC236}">
                <a16:creationId xmlns:a16="http://schemas.microsoft.com/office/drawing/2014/main" id="{178D9D66-1661-42AB-B455-0A339FE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18" name="title-37">
            <a:extLst xmlns:a="http://schemas.openxmlformats.org/drawingml/2006/main">
              <a:ext uri="{FF2B5EF4-FFF2-40B4-BE49-F238E27FC236}">
                <a16:creationId xmlns:a16="http://schemas.microsoft.com/office/drawing/2014/main" id="{12CDBA62-A424-4EA9-BBCB-BEEECC2C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Two success layers prevent false claims</a:t>
            </a:r>
          </a:p>
        </p:txBody>
      </p:sp>
      <p:cxnSp>
        <p:nvCxnSpPr>
          <p:cNvPr id="39" name="header-rule-37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20" name="footer-37">
            <a:extLst xmlns:a="http://schemas.openxmlformats.org/drawingml/2006/main">
              <a:ext uri="{FF2B5EF4-FFF2-40B4-BE49-F238E27FC236}">
                <a16:creationId xmlns:a16="http://schemas.microsoft.com/office/drawing/2014/main" id="{08ADFC5C-CFE8-4A37-9EF8-B0CB4FF3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37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5622208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boundary-arrow-1"/>
          <p:cNvCxnSpPr/>
          <p:nvPr/>
        </p:nvCxnSpPr>
        <p:spPr>
          <a:xfrm xmlns:a="http://schemas.openxmlformats.org/drawingml/2006/main">
            <a:off x="3086100" y="2952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cxnSp>
        <p:nvCxnSpPr>
          <p:cNvPr id="17" name="boundary-arrow-2"/>
          <p:cNvCxnSpPr/>
          <p:nvPr/>
        </p:nvCxnSpPr>
        <p:spPr>
          <a:xfrm xmlns:a="http://schemas.openxmlformats.org/drawingml/2006/main">
            <a:off x="6791325" y="2952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3" name="boundary-node-0">
            <a:extLst xmlns:a="http://schemas.openxmlformats.org/drawingml/2006/main">
              <a:ext uri="{FF2B5EF4-FFF2-40B4-BE49-F238E27FC236}">
                <a16:creationId xmlns:a16="http://schemas.microsoft.com/office/drawing/2014/main" id="{A2AE9154-62D7-4155-A4C5-D705E06D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4" name="boundary-node-text-0">
            <a:extLst xmlns:a="http://schemas.openxmlformats.org/drawingml/2006/main">
              <a:ext uri="{FF2B5EF4-FFF2-40B4-BE49-F238E27FC236}">
                <a16:creationId xmlns:a16="http://schemas.microsoft.com/office/drawing/2014/main" id="{5AE5930E-5C90-4A42-B1E9-6EB3A30D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WORKSPACE ROOT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canonical</a:t>
            </a:r>
          </a:p>
        </p:txBody>
      </p:sp>
      <p:sp>
        <p:nvSpPr>
          <p:cNvPr id="5" name="boundary-node-1">
            <a:extLst xmlns:a="http://schemas.openxmlformats.org/drawingml/2006/main">
              <a:ext uri="{FF2B5EF4-FFF2-40B4-BE49-F238E27FC236}">
                <a16:creationId xmlns:a16="http://schemas.microsoft.com/office/drawing/2014/main" id="{661E2EFE-7E70-48AA-87A6-63E7F49B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0F9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6" name="boundary-node-text-1">
            <a:extLst xmlns:a="http://schemas.openxmlformats.org/drawingml/2006/main">
              <a:ext uri="{FF2B5EF4-FFF2-40B4-BE49-F238E27FC236}">
                <a16:creationId xmlns:a16="http://schemas.microsoft.com/office/drawing/2014/main" id="{F5C5A17E-BEFC-4633-B479-56F92C7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REQUESTED PATH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resolve</a:t>
            </a:r>
          </a:p>
        </p:txBody>
      </p:sp>
      <p:sp>
        <p:nvSpPr>
          <p:cNvPr id="7" name="boundary-node-2">
            <a:extLst xmlns:a="http://schemas.openxmlformats.org/drawingml/2006/main">
              <a:ext uri="{FF2B5EF4-FFF2-40B4-BE49-F238E27FC236}">
                <a16:creationId xmlns:a16="http://schemas.microsoft.com/office/drawing/2014/main" id="{36040C1D-12EB-49C6-A8A8-73337A4D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8" name="boundary-node-text-2">
            <a:extLst xmlns:a="http://schemas.openxmlformats.org/drawingml/2006/main">
              <a:ext uri="{FF2B5EF4-FFF2-40B4-BE49-F238E27FC236}">
                <a16:creationId xmlns:a16="http://schemas.microsoft.com/office/drawing/2014/main" id="{881CE18B-B395-464D-BDC1-A5E4D67E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438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TARGET</a:t>
            </a:r>
          </a:p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relative or reject</a:t>
            </a:r>
          </a:p>
        </p:txBody>
      </p:sp>
      <p:sp>
        <p:nvSpPr>
          <p:cNvPr id="9" name="boundary-label-1">
            <a:extLst xmlns:a="http://schemas.openxmlformats.org/drawingml/2006/main">
              <a:ext uri="{FF2B5EF4-FFF2-40B4-BE49-F238E27FC236}">
                <a16:creationId xmlns:a16="http://schemas.microsoft.com/office/drawing/2014/main" id="{FE9C7ADF-CD85-4EAA-B80A-69781FB4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join + normalize</a:t>
            </a:r>
          </a:p>
        </p:txBody>
      </p:sp>
      <p:sp>
        <p:nvSpPr>
          <p:cNvPr id="10" name="boundary-label-2">
            <a:extLst xmlns:a="http://schemas.openxmlformats.org/drawingml/2006/main">
              <a:ext uri="{FF2B5EF4-FFF2-40B4-BE49-F238E27FC236}">
                <a16:creationId xmlns:a16="http://schemas.microsoft.com/office/drawing/2014/main" id="{359E163B-C10A-4E8A-A861-2E873E37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parent check</a:t>
            </a:r>
          </a:p>
        </p:txBody>
      </p:sp>
      <p:sp>
        <p:nvSpPr>
          <p:cNvPr id="11" name="boundary-caption">
            <a:extLst xmlns:a="http://schemas.openxmlformats.org/drawingml/2006/main">
              <a:ext uri="{FF2B5EF4-FFF2-40B4-BE49-F238E27FC236}">
                <a16:creationId xmlns:a16="http://schemas.microsoft.com/office/drawing/2014/main" id="{774073F0-BC12-4AE3-8F2A-E71D127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Reject absolute paths, escapes, and symlink routes that leave the root.</a:t>
            </a:r>
          </a:p>
        </p:txBody>
      </p:sp>
      <p:sp>
        <p:nvSpPr>
          <p:cNvPr id="12" name="eyebrow-38">
            <a:extLst xmlns:a="http://schemas.openxmlformats.org/drawingml/2006/main">
              <a:ext uri="{FF2B5EF4-FFF2-40B4-BE49-F238E27FC236}">
                <a16:creationId xmlns:a16="http://schemas.microsoft.com/office/drawing/2014/main" id="{061FE529-FAF3-421E-881D-603B4E77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13" name="title-38">
            <a:extLst xmlns:a="http://schemas.openxmlformats.org/drawingml/2006/main">
              <a:ext uri="{FF2B5EF4-FFF2-40B4-BE49-F238E27FC236}">
                <a16:creationId xmlns:a16="http://schemas.microsoft.com/office/drawing/2014/main" id="{CCAA40A8-25D1-4B8D-943C-9D9F0535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Canonical paths turn workspace policy into code</a:t>
            </a:r>
          </a:p>
        </p:txBody>
      </p:sp>
      <p:cxnSp>
        <p:nvCxnSpPr>
          <p:cNvPr id="29" name="header-rule-38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15" name="footer-38">
            <a:extLst xmlns:a="http://schemas.openxmlformats.org/drawingml/2006/main">
              <a:ext uri="{FF2B5EF4-FFF2-40B4-BE49-F238E27FC236}">
                <a16:creationId xmlns:a16="http://schemas.microsoft.com/office/drawing/2014/main" id="{26B6DD61-1328-4EC9-9171-EE2E6657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38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197136981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five-rule-0"/>
          <p:cNvCxnSpPr/>
          <p:nvPr/>
        </p:nvCxnSpPr>
        <p:spPr>
          <a:xfrm xmlns:a="http://schemas.openxmlformats.org/drawingml/2006/main">
            <a:off x="53340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33D62"/>
            </a:solidFill>
            <a:prstDash val="solid"/>
          </a:ln>
        </p:spPr>
      </p:cxnSp>
      <p:sp>
        <p:nvSpPr>
          <p:cNvPr id="2" name="five-title-0">
            <a:extLst xmlns:a="http://schemas.openxmlformats.org/drawingml/2006/main">
              <a:ext uri="{FF2B5EF4-FFF2-40B4-BE49-F238E27FC236}">
                <a16:creationId xmlns:a16="http://schemas.microsoft.com/office/drawing/2014/main" id="{97925DBF-54FD-408B-A522-1FBB2BC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DIRECT EXEC</a:t>
            </a:r>
          </a:p>
        </p:txBody>
      </p:sp>
      <p:sp>
        <p:nvSpPr>
          <p:cNvPr id="3" name="five-body-0">
            <a:extLst xmlns:a="http://schemas.openxmlformats.org/drawingml/2006/main">
              <a:ext uri="{FF2B5EF4-FFF2-40B4-BE49-F238E27FC236}">
                <a16:creationId xmlns:a16="http://schemas.microsoft.com/office/drawing/2014/main" id="{FAC1DE3B-C510-4D97-A983-3322733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no shell interpolation</a:t>
            </a:r>
          </a:p>
        </p:txBody>
      </p:sp>
      <p:sp>
        <p:nvSpPr>
          <p:cNvPr id="4" name="five-num-0">
            <a:extLst xmlns:a="http://schemas.openxmlformats.org/drawingml/2006/main">
              <a:ext uri="{FF2B5EF4-FFF2-40B4-BE49-F238E27FC236}">
                <a16:creationId xmlns:a16="http://schemas.microsoft.com/office/drawing/2014/main" id="{1A2ADDCF-FD23-4546-89B9-676701D6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9" name="five-rule-1"/>
          <p:cNvCxnSpPr/>
          <p:nvPr/>
        </p:nvCxnSpPr>
        <p:spPr>
          <a:xfrm xmlns:a="http://schemas.openxmlformats.org/drawingml/2006/main">
            <a:off x="279273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33D62"/>
            </a:solidFill>
            <a:prstDash val="solid"/>
          </a:ln>
        </p:spPr>
      </p:cxnSp>
      <p:sp>
        <p:nvSpPr>
          <p:cNvPr id="6" name="five-title-1">
            <a:extLst xmlns:a="http://schemas.openxmlformats.org/drawingml/2006/main">
              <a:ext uri="{FF2B5EF4-FFF2-40B4-BE49-F238E27FC236}">
                <a16:creationId xmlns:a16="http://schemas.microsoft.com/office/drawing/2014/main" id="{0634330E-CBA0-43B5-9BF8-E5062214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TIMEOUT</a:t>
            </a:r>
          </a:p>
        </p:txBody>
      </p:sp>
      <p:sp>
        <p:nvSpPr>
          <p:cNvPr id="7" name="five-body-1">
            <a:extLst xmlns:a="http://schemas.openxmlformats.org/drawingml/2006/main">
              <a:ext uri="{FF2B5EF4-FFF2-40B4-BE49-F238E27FC236}">
                <a16:creationId xmlns:a16="http://schemas.microsoft.com/office/drawing/2014/main" id="{AF73E333-3326-4C9C-81C3-54DE386F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terminate late work</a:t>
            </a:r>
          </a:p>
        </p:txBody>
      </p:sp>
      <p:sp>
        <p:nvSpPr>
          <p:cNvPr id="8" name="five-num-1">
            <a:extLst xmlns:a="http://schemas.openxmlformats.org/drawingml/2006/main">
              <a:ext uri="{FF2B5EF4-FFF2-40B4-BE49-F238E27FC236}">
                <a16:creationId xmlns:a16="http://schemas.microsoft.com/office/drawing/2014/main" id="{6043CEA9-6B6A-4455-8CE3-2A4BEC01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33" name="five-rule-2"/>
          <p:cNvCxnSpPr/>
          <p:nvPr/>
        </p:nvCxnSpPr>
        <p:spPr>
          <a:xfrm xmlns:a="http://schemas.openxmlformats.org/drawingml/2006/main">
            <a:off x="505206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33D62"/>
            </a:solidFill>
            <a:prstDash val="solid"/>
          </a:ln>
        </p:spPr>
      </p:cxnSp>
      <p:sp>
        <p:nvSpPr>
          <p:cNvPr id="10" name="five-title-2">
            <a:extLst xmlns:a="http://schemas.openxmlformats.org/drawingml/2006/main">
              <a:ext uri="{FF2B5EF4-FFF2-40B4-BE49-F238E27FC236}">
                <a16:creationId xmlns:a16="http://schemas.microsoft.com/office/drawing/2014/main" id="{9FB9C799-A239-4848-9637-92E7CCEC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OUTPUT CAP</a:t>
            </a:r>
          </a:p>
        </p:txBody>
      </p:sp>
      <p:sp>
        <p:nvSpPr>
          <p:cNvPr id="11" name="five-body-2">
            <a:extLst xmlns:a="http://schemas.openxmlformats.org/drawingml/2006/main">
              <a:ext uri="{FF2B5EF4-FFF2-40B4-BE49-F238E27FC236}">
                <a16:creationId xmlns:a16="http://schemas.microsoft.com/office/drawing/2014/main" id="{B5057982-E968-4EC4-AA53-1F1E1714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bound memory + context</a:t>
            </a:r>
          </a:p>
        </p:txBody>
      </p:sp>
      <p:sp>
        <p:nvSpPr>
          <p:cNvPr id="12" name="five-num-2">
            <a:extLst xmlns:a="http://schemas.openxmlformats.org/drawingml/2006/main">
              <a:ext uri="{FF2B5EF4-FFF2-40B4-BE49-F238E27FC236}">
                <a16:creationId xmlns:a16="http://schemas.microsoft.com/office/drawing/2014/main" id="{9590635D-9E04-4C6E-8E8E-51A92BA3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7" name="five-rule-3"/>
          <p:cNvCxnSpPr/>
          <p:nvPr/>
        </p:nvCxnSpPr>
        <p:spPr>
          <a:xfrm xmlns:a="http://schemas.openxmlformats.org/drawingml/2006/main">
            <a:off x="731139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33D62"/>
            </a:solidFill>
            <a:prstDash val="solid"/>
          </a:ln>
        </p:spPr>
      </p:cxnSp>
      <p:sp>
        <p:nvSpPr>
          <p:cNvPr id="14" name="five-title-3">
            <a:extLst xmlns:a="http://schemas.openxmlformats.org/drawingml/2006/main">
              <a:ext uri="{FF2B5EF4-FFF2-40B4-BE49-F238E27FC236}">
                <a16:creationId xmlns:a16="http://schemas.microsoft.com/office/drawing/2014/main" id="{A4B1CC04-39BB-4A11-BB93-5C65A88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ENV FILTER</a:t>
            </a:r>
          </a:p>
        </p:txBody>
      </p:sp>
      <p:sp>
        <p:nvSpPr>
          <p:cNvPr id="15" name="five-body-3">
            <a:extLst xmlns:a="http://schemas.openxmlformats.org/drawingml/2006/main">
              <a:ext uri="{FF2B5EF4-FFF2-40B4-BE49-F238E27FC236}">
                <a16:creationId xmlns:a16="http://schemas.microsoft.com/office/drawing/2014/main" id="{6B5E0783-2537-42BF-8D53-1976BC54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remove provider keys</a:t>
            </a:r>
          </a:p>
        </p:txBody>
      </p:sp>
      <p:sp>
        <p:nvSpPr>
          <p:cNvPr id="16" name="five-num-3">
            <a:extLst xmlns:a="http://schemas.openxmlformats.org/drawingml/2006/main">
              <a:ext uri="{FF2B5EF4-FFF2-40B4-BE49-F238E27FC236}">
                <a16:creationId xmlns:a16="http://schemas.microsoft.com/office/drawing/2014/main" id="{21B9A346-A2E8-490F-A892-FF808870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41" name="five-rule-4"/>
          <p:cNvCxnSpPr/>
          <p:nvPr/>
        </p:nvCxnSpPr>
        <p:spPr>
          <a:xfrm xmlns:a="http://schemas.openxmlformats.org/drawingml/2006/main">
            <a:off x="957072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33D62"/>
            </a:solidFill>
            <a:prstDash val="solid"/>
          </a:ln>
        </p:spPr>
      </p:cxnSp>
      <p:sp>
        <p:nvSpPr>
          <p:cNvPr id="18" name="five-title-4">
            <a:extLst xmlns:a="http://schemas.openxmlformats.org/drawingml/2006/main">
              <a:ext uri="{FF2B5EF4-FFF2-40B4-BE49-F238E27FC236}">
                <a16:creationId xmlns:a16="http://schemas.microsoft.com/office/drawing/2014/main" id="{93C43A37-B1BC-4B37-88AE-0B3D4349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WORKDIR</a:t>
            </a:r>
          </a:p>
        </p:txBody>
      </p:sp>
      <p:sp>
        <p:nvSpPr>
          <p:cNvPr id="19" name="five-body-4">
            <a:extLst xmlns:a="http://schemas.openxmlformats.org/drawingml/2006/main">
              <a:ext uri="{FF2B5EF4-FFF2-40B4-BE49-F238E27FC236}">
                <a16:creationId xmlns:a16="http://schemas.microsoft.com/office/drawing/2014/main" id="{5B85D040-8DD0-45DC-B3BD-F6F45158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fixed workspace</a:t>
            </a:r>
          </a:p>
        </p:txBody>
      </p:sp>
      <p:sp>
        <p:nvSpPr>
          <p:cNvPr id="20" name="five-num-4">
            <a:extLst xmlns:a="http://schemas.openxmlformats.org/drawingml/2006/main">
              <a:ext uri="{FF2B5EF4-FFF2-40B4-BE49-F238E27FC236}">
                <a16:creationId xmlns:a16="http://schemas.microsoft.com/office/drawing/2014/main" id="{CE209175-76B9-456A-BB38-1AF7EC34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eyebrow-39">
            <a:extLst xmlns:a="http://schemas.openxmlformats.org/drawingml/2006/main">
              <a:ext uri="{FF2B5EF4-FFF2-40B4-BE49-F238E27FC236}">
                <a16:creationId xmlns:a16="http://schemas.microsoft.com/office/drawing/2014/main" id="{D8F9D3EB-62D1-4EA5-A861-7CF5C126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22" name="title-39">
            <a:extLst xmlns:a="http://schemas.openxmlformats.org/drawingml/2006/main">
              <a:ext uri="{FF2B5EF4-FFF2-40B4-BE49-F238E27FC236}">
                <a16:creationId xmlns:a16="http://schemas.microsoft.com/office/drawing/2014/main" id="{B602A5A4-3409-4231-9974-63B00553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Process execution must be bounded by construction</a:t>
            </a:r>
          </a:p>
        </p:txBody>
      </p:sp>
      <p:cxnSp>
        <p:nvCxnSpPr>
          <p:cNvPr id="47" name="header-rule-39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24" name="footer-39">
            <a:extLst xmlns:a="http://schemas.openxmlformats.org/drawingml/2006/main">
              <a:ext uri="{FF2B5EF4-FFF2-40B4-BE49-F238E27FC236}">
                <a16:creationId xmlns:a16="http://schemas.microsoft.com/office/drawing/2014/main" id="{BE94CC10-64FB-4F9E-AD80-12E8DCFF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39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180766263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7020AB2C-6778-47AF-A1B8-0842818C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8DE3925F-C7CA-4D31-838A-92CCFDF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80066ED5-5BDC-4102-A6B8-1D864859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365ED221-C618-4559-808B-4532268A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call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EC7015FE-82F3-456D-BF2E-26580F34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AE99691D-4E7A-4F97-9E13-52613119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5B2C2975-36A4-4063-AAE1-E23AD26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95108FC5-167F-454B-858B-EB7DBA14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args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C5937954-7778-4A52-8F6D-64BD9C30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9E672785-FC29-4AB0-8859-5E6E95A0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0FD8E5D7-5B4A-4182-8F70-8DD05FC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AUTHORIZE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4D3A95AC-AD6D-460F-8B38-46E21C94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path/task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786DB37C-0BE7-4E0E-8B00-711C5A42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FFAC0A39-BBBE-422E-A056-A7C5CEFD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6F84AADC-B9F0-467A-A8CB-9029498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687AB270-4488-4D0A-979A-722AEE2F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bounded</a:t>
            </a:r>
          </a:p>
        </p:txBody>
      </p:sp>
      <p:sp>
        <p:nvSpPr>
          <p:cNvPr id="18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B0806517-9DAC-4AE6-83DB-D3AD0F50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19" name="timeline-label-4">
            <a:extLst xmlns:a="http://schemas.openxmlformats.org/drawingml/2006/main">
              <a:ext uri="{FF2B5EF4-FFF2-40B4-BE49-F238E27FC236}">
                <a16:creationId xmlns:a16="http://schemas.microsoft.com/office/drawing/2014/main" id="{BFFE500E-46AB-41A7-B96A-954CC51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10A31958-01FE-476F-96E8-F8A49E14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21" name="timeline-body-4">
            <a:extLst xmlns:a="http://schemas.openxmlformats.org/drawingml/2006/main">
              <a:ext uri="{FF2B5EF4-FFF2-40B4-BE49-F238E27FC236}">
                <a16:creationId xmlns:a16="http://schemas.microsoft.com/office/drawing/2014/main" id="{86BD1891-82D6-4823-88DA-3D1AAB9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2" name="timeline-dot-5">
            <a:extLst xmlns:a="http://schemas.openxmlformats.org/drawingml/2006/main">
              <a:ext uri="{FF2B5EF4-FFF2-40B4-BE49-F238E27FC236}">
                <a16:creationId xmlns:a16="http://schemas.microsoft.com/office/drawing/2014/main" id="{3A22C753-0EB2-4EF2-8DF6-3CB04113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3D62"/>
          </a:solidFill>
          <a:ln xmlns:a="http://schemas.openxmlformats.org/drawingml/2006/main" w="9525">
            <a:solidFill>
              <a:srgbClr val="C33D62"/>
            </a:solidFill>
            <a:prstDash val="solid"/>
          </a:ln>
        </p:spPr>
      </p:sp>
      <p:sp>
        <p:nvSpPr>
          <p:cNvPr id="23" name="timeline-label-5">
            <a:extLst xmlns:a="http://schemas.openxmlformats.org/drawingml/2006/main">
              <a:ext uri="{FF2B5EF4-FFF2-40B4-BE49-F238E27FC236}">
                <a16:creationId xmlns:a16="http://schemas.microsoft.com/office/drawing/2014/main" id="{D5E4982B-246A-4CE2-8B3B-0550B3A6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timeline-title-5">
            <a:extLst xmlns:a="http://schemas.openxmlformats.org/drawingml/2006/main">
              <a:ext uri="{FF2B5EF4-FFF2-40B4-BE49-F238E27FC236}">
                <a16:creationId xmlns:a16="http://schemas.microsoft.com/office/drawing/2014/main" id="{456C2CF0-AF41-42D7-B31B-52790CE0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5" name="timeline-body-5">
            <a:extLst xmlns:a="http://schemas.openxmlformats.org/drawingml/2006/main">
              <a:ext uri="{FF2B5EF4-FFF2-40B4-BE49-F238E27FC236}">
                <a16:creationId xmlns:a16="http://schemas.microsoft.com/office/drawing/2014/main" id="{796D8A36-83FF-46C1-B197-E0DADC3D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next claim</a:t>
            </a:r>
          </a:p>
        </p:txBody>
      </p:sp>
      <p:sp>
        <p:nvSpPr>
          <p:cNvPr id="26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C6CB669A-FA20-4386-B449-C123B7B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Acceptance: matched ID, bounded output, explicit exit code, no secret leakage.</a:t>
            </a:r>
          </a:p>
        </p:txBody>
      </p:sp>
      <p:sp>
        <p:nvSpPr>
          <p:cNvPr id="27" name="eyebrow-40">
            <a:extLst xmlns:a="http://schemas.openxmlformats.org/drawingml/2006/main">
              <a:ext uri="{FF2B5EF4-FFF2-40B4-BE49-F238E27FC236}">
                <a16:creationId xmlns:a16="http://schemas.microsoft.com/office/drawing/2014/main" id="{DBEB70C9-37A9-492C-9039-0F590255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33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33D62"/>
                </a:solidFill>
                <a:latin typeface="Aptos"/>
                <a:ea typeface="Aptos"/>
                <a:cs typeface="Aptos"/>
              </a:rPr>
              <a:t>CH 4  /  TOOL EXECUTION</a:t>
            </a:r>
          </a:p>
        </p:txBody>
      </p:sp>
      <p:sp>
        <p:nvSpPr>
          <p:cNvPr id="28" name="title-40">
            <a:extLst xmlns:a="http://schemas.openxmlformats.org/drawingml/2006/main">
              <a:ext uri="{FF2B5EF4-FFF2-40B4-BE49-F238E27FC236}">
                <a16:creationId xmlns:a16="http://schemas.microsoft.com/office/drawing/2014/main" id="{8A3C53C0-E28F-446D-B42B-D3803349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manual round trip proves every boundary</a:t>
            </a:r>
          </a:p>
        </p:txBody>
      </p:sp>
      <p:cxnSp>
        <p:nvCxnSpPr>
          <p:cNvPr id="59" name="header-rule-40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D62"/>
            </a:solidFill>
            <a:prstDash val="solid"/>
          </a:ln>
        </p:spPr>
      </p:cxnSp>
      <p:sp>
        <p:nvSpPr>
          <p:cNvPr id="30" name="footer-40">
            <a:extLst xmlns:a="http://schemas.openxmlformats.org/drawingml/2006/main">
              <a:ext uri="{FF2B5EF4-FFF2-40B4-BE49-F238E27FC236}">
                <a16:creationId xmlns:a16="http://schemas.microsoft.com/office/drawing/2014/main" id="{D7A963C2-A5C7-44AC-B8D2-1FCB01F4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40   •   Safe tool execution</a:t>
            </a:r>
          </a:p>
        </p:txBody>
      </p:sp>
    </p:spTree>
    <p:extLst>
      <p:ext uri="{BB962C8B-B14F-4D97-AF65-F5344CB8AC3E}">
        <p14:creationId xmlns:p14="http://schemas.microsoft.com/office/powerpoint/2010/main" val="15027458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DC3EF4D0-7297-4A8A-BD0D-DD81F7B8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3ADDBACD-30E6-4264-8C07-E62E6881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read_file returns the source. What must happen before any edit?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27474D5D-D51E-4249-9684-BE734E4C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5BD33ED8-34F0-4143-A272-734A6935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81890969-12C0-45D7-AC70-79F34712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F68C9EB1-B1C0-4D6B-A398-90FDD5D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6262385F-DA84-4290-A019-17A0637C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B2579535-18CD-41A4-8B63-0687634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Call the model with the result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0A622270-BE01-4847-ACDB-5292F45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8F8A2385-70E3-49E6-BFB0-518C175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4D4AF94C-37BB-4463-8343-A5BADBDA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Execute a guessed patch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0ACD5B38-6B59-471B-ACFC-E11EF071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D8B9C431-0541-4041-88C2-EB2D7114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91C3BCAA-C686-42E2-BEA8-746E1D78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Append the correlated result, then call the model with updated history.</a:t>
            </a:r>
          </a:p>
        </p:txBody>
      </p:sp>
      <p:sp>
        <p:nvSpPr>
          <p:cNvPr id="15" name="eyebrow-41">
            <a:extLst xmlns:a="http://schemas.openxmlformats.org/drawingml/2006/main">
              <a:ext uri="{FF2B5EF4-FFF2-40B4-BE49-F238E27FC236}">
                <a16:creationId xmlns:a16="http://schemas.microsoft.com/office/drawing/2014/main" id="{A8E06832-C0A2-4209-9064-D6D7375F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16" name="title-41">
            <a:extLst xmlns:a="http://schemas.openxmlformats.org/drawingml/2006/main">
              <a:ext uri="{FF2B5EF4-FFF2-40B4-BE49-F238E27FC236}">
                <a16:creationId xmlns:a16="http://schemas.microsoft.com/office/drawing/2014/main" id="{47DB4975-C2DC-405E-B16E-4DDC9307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After the first read, the loop needs another decision</a:t>
            </a:r>
          </a:p>
        </p:txBody>
      </p:sp>
      <p:cxnSp>
        <p:nvCxnSpPr>
          <p:cNvPr id="35" name="header-rule-41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18" name="footer-41">
            <a:extLst xmlns:a="http://schemas.openxmlformats.org/drawingml/2006/main">
              <a:ext uri="{FF2B5EF4-FFF2-40B4-BE49-F238E27FC236}">
                <a16:creationId xmlns:a16="http://schemas.microsoft.com/office/drawing/2014/main" id="{8336D81D-1758-497B-A28A-2177BEA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41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39053421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de-frame">
            <a:extLst xmlns:a="http://schemas.openxmlformats.org/drawingml/2006/main">
              <a:ext uri="{FF2B5EF4-FFF2-40B4-BE49-F238E27FC236}">
                <a16:creationId xmlns:a16="http://schemas.microsoft.com/office/drawing/2014/main" id="{2CB58FA7-F674-4AFA-B234-A177A01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6667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2" name="code-text">
            <a:extLst xmlns:a="http://schemas.openxmlformats.org/drawingml/2006/main">
              <a:ext uri="{FF2B5EF4-FFF2-40B4-BE49-F238E27FC236}">
                <a16:creationId xmlns:a16="http://schemas.microsoft.com/office/drawing/2014/main" id="{986E3E3F-F119-4BA9-B0AD-11B4C3A6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60960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repeat until limit: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response = model(history, tools)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append(response.message)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if no tool_calls: return response.text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for call in tool_calls: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result = dispatch(call)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append(result)</a:t>
            </a:r>
          </a:p>
        </p:txBody>
      </p:sp>
      <p:sp>
        <p:nvSpPr>
          <p:cNvPr id="3" name="code-callout">
            <a:extLst xmlns:a="http://schemas.openxmlformats.org/drawingml/2006/main">
              <a:ext uri="{FF2B5EF4-FFF2-40B4-BE49-F238E27FC236}">
                <a16:creationId xmlns:a16="http://schemas.microsoft.com/office/drawing/2014/main" id="{0B8C5CA1-6C78-4E66-BC5B-2B0DF63C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Three invariants</a:t>
            </a:r>
          </a:p>
        </p:txBody>
      </p:sp>
      <p:sp>
        <p:nvSpPr>
          <p:cNvPr id="4" name="code-bullets">
            <a:extLst xmlns:a="http://schemas.openxmlformats.org/drawingml/2006/main">
              <a:ext uri="{FF2B5EF4-FFF2-40B4-BE49-F238E27FC236}">
                <a16:creationId xmlns:a16="http://schemas.microsoft.com/office/drawing/2014/main" id="{836C7184-45D4-43F1-9546-73D2218D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571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Append assistant before tool results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Correlate every result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Stop only on explicit conditions</a:t>
            </a:r>
          </a:p>
        </p:txBody>
      </p:sp>
      <p:sp>
        <p:nvSpPr>
          <p:cNvPr id="5" name="code-evidence">
            <a:extLst xmlns:a="http://schemas.openxmlformats.org/drawingml/2006/main">
              <a:ext uri="{FF2B5EF4-FFF2-40B4-BE49-F238E27FC236}">
                <a16:creationId xmlns:a16="http://schemas.microsoft.com/office/drawing/2014/main" id="{D0FE5092-7D0B-4665-95A9-CBC4191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0"/>
            <a:ext cx="3571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evidence-text">
            <a:extLst xmlns:a="http://schemas.openxmlformats.org/drawingml/2006/main">
              <a:ext uri="{FF2B5EF4-FFF2-40B4-BE49-F238E27FC236}">
                <a16:creationId xmlns:a16="http://schemas.microsoft.com/office/drawing/2014/main" id="{A2C3353F-99EE-435D-AFEC-AD748CF9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102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Inspect the bytes before trusting the claim.</a:t>
            </a:r>
          </a:p>
        </p:txBody>
      </p:sp>
      <p:sp>
        <p:nvSpPr>
          <p:cNvPr id="7" name="eyebrow-42">
            <a:extLst xmlns:a="http://schemas.openxmlformats.org/drawingml/2006/main">
              <a:ext uri="{FF2B5EF4-FFF2-40B4-BE49-F238E27FC236}">
                <a16:creationId xmlns:a16="http://schemas.microsoft.com/office/drawing/2014/main" id="{1D0CD4C2-3646-4FC3-A482-818098C3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8" name="title-42">
            <a:extLst xmlns:a="http://schemas.openxmlformats.org/drawingml/2006/main">
              <a:ext uri="{FF2B5EF4-FFF2-40B4-BE49-F238E27FC236}">
                <a16:creationId xmlns:a16="http://schemas.microsoft.com/office/drawing/2014/main" id="{DF3F3C59-962C-4538-8A28-FD4A4A5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core loop has one small causal shape</a:t>
            </a:r>
          </a:p>
        </p:txBody>
      </p:sp>
      <p:cxnSp>
        <p:nvCxnSpPr>
          <p:cNvPr id="19" name="header-rule-42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10" name="footer-42">
            <a:extLst xmlns:a="http://schemas.openxmlformats.org/drawingml/2006/main">
              <a:ext uri="{FF2B5EF4-FFF2-40B4-BE49-F238E27FC236}">
                <a16:creationId xmlns:a16="http://schemas.microsoft.com/office/drawing/2014/main" id="{FAFD0312-B0B8-4F16-A227-A4C16AF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42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6849297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corr-arrow"/>
          <p:cNvCxnSpPr/>
          <p:nvPr/>
        </p:nvCxnSpPr>
        <p:spPr>
          <a:xfrm xmlns:a="http://schemas.openxmlformats.org/drawingml/2006/main">
            <a:off x="4953000" y="33337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F6F79"/>
            </a:solidFill>
            <a:prstDash val="solid"/>
          </a:ln>
        </p:spPr>
      </p:cxnSp>
      <p:sp>
        <p:nvSpPr>
          <p:cNvPr id="2" name="corr-call">
            <a:extLst xmlns:a="http://schemas.openxmlformats.org/drawingml/2006/main">
              <a:ext uri="{FF2B5EF4-FFF2-40B4-BE49-F238E27FC236}">
                <a16:creationId xmlns:a16="http://schemas.microsoft.com/office/drawing/2014/main" id="{05E6B154-537F-43FA-BF05-19BD14CB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810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3" name="corr-result">
            <a:extLst xmlns:a="http://schemas.openxmlformats.org/drawingml/2006/main">
              <a:ext uri="{FF2B5EF4-FFF2-40B4-BE49-F238E27FC236}">
                <a16:creationId xmlns:a16="http://schemas.microsoft.com/office/drawing/2014/main" id="{570A8151-E006-4A1A-ACD3-71CF9E42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810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0F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4" name="corr-call-label">
            <a:extLst xmlns:a="http://schemas.openxmlformats.org/drawingml/2006/main">
              <a:ext uri="{FF2B5EF4-FFF2-40B4-BE49-F238E27FC236}">
                <a16:creationId xmlns:a16="http://schemas.microsoft.com/office/drawing/2014/main" id="{3A21DAF7-F23F-408B-846A-C1CB84A2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ASSISTANT TOOL CALL</a:t>
            </a:r>
          </a:p>
        </p:txBody>
      </p:sp>
      <p:sp>
        <p:nvSpPr>
          <p:cNvPr id="5" name="corr-call-id">
            <a:extLst xmlns:a="http://schemas.openxmlformats.org/drawingml/2006/main">
              <a:ext uri="{FF2B5EF4-FFF2-40B4-BE49-F238E27FC236}">
                <a16:creationId xmlns:a16="http://schemas.microsoft.com/office/drawing/2014/main" id="{EC66DAF6-6A33-4D2C-8128-8432E21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assistant: call_23</a:t>
            </a:r>
          </a:p>
        </p:txBody>
      </p:sp>
      <p:sp>
        <p:nvSpPr>
          <p:cNvPr id="6" name="corr-result-label">
            <a:extLst xmlns:a="http://schemas.openxmlformats.org/drawingml/2006/main">
              <a:ext uri="{FF2B5EF4-FFF2-40B4-BE49-F238E27FC236}">
                <a16:creationId xmlns:a16="http://schemas.microsoft.com/office/drawing/2014/main" id="{486490CE-E5B7-45E8-89EE-58276DDB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TOOL RESULT</a:t>
            </a:r>
          </a:p>
        </p:txBody>
      </p:sp>
      <p:sp>
        <p:nvSpPr>
          <p:cNvPr id="7" name="corr-result-id">
            <a:extLst xmlns:a="http://schemas.openxmlformats.org/drawingml/2006/main">
              <a:ext uri="{FF2B5EF4-FFF2-40B4-BE49-F238E27FC236}">
                <a16:creationId xmlns:a16="http://schemas.microsoft.com/office/drawing/2014/main" id="{E8A02631-7431-41C7-AF10-FD95D120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tool: call_23</a:t>
            </a:r>
          </a:p>
        </p:txBody>
      </p:sp>
      <p:sp>
        <p:nvSpPr>
          <p:cNvPr id="8" name="corr-caption">
            <a:extLst xmlns:a="http://schemas.openxmlformats.org/drawingml/2006/main">
              <a:ext uri="{FF2B5EF4-FFF2-40B4-BE49-F238E27FC236}">
                <a16:creationId xmlns:a16="http://schemas.microsoft.com/office/drawing/2014/main" id="{2462225A-D2C9-4246-B1A9-E92FE296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Deleting or reordering either event breaks causality.</a:t>
            </a:r>
          </a:p>
        </p:txBody>
      </p:sp>
      <p:sp>
        <p:nvSpPr>
          <p:cNvPr id="9" name="eyebrow-43">
            <a:extLst xmlns:a="http://schemas.openxmlformats.org/drawingml/2006/main">
              <a:ext uri="{FF2B5EF4-FFF2-40B4-BE49-F238E27FC236}">
                <a16:creationId xmlns:a16="http://schemas.microsoft.com/office/drawing/2014/main" id="{36CFF90D-0B80-4628-9561-51B765A0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10" name="title-43">
            <a:extLst xmlns:a="http://schemas.openxmlformats.org/drawingml/2006/main">
              <a:ext uri="{FF2B5EF4-FFF2-40B4-BE49-F238E27FC236}">
                <a16:creationId xmlns:a16="http://schemas.microsoft.com/office/drawing/2014/main" id="{3E6F52DB-2372-4237-AB0D-49706BBD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History must preserve call before result</a:t>
            </a:r>
          </a:p>
        </p:txBody>
      </p:sp>
      <p:cxnSp>
        <p:nvCxnSpPr>
          <p:cNvPr id="23" name="header-rule-43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12" name="footer-43">
            <a:extLst xmlns:a="http://schemas.openxmlformats.org/drawingml/2006/main">
              <a:ext uri="{FF2B5EF4-FFF2-40B4-BE49-F238E27FC236}">
                <a16:creationId xmlns:a16="http://schemas.microsoft.com/office/drawing/2014/main" id="{149E04AA-1057-4AA9-8F6E-7A30A17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43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25239040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our-num-0">
            <a:extLst xmlns:a="http://schemas.openxmlformats.org/drawingml/2006/main">
              <a:ext uri="{FF2B5EF4-FFF2-40B4-BE49-F238E27FC236}">
                <a16:creationId xmlns:a16="http://schemas.microsoft.com/office/drawing/2014/main" id="{6E5E10BA-1485-4C3E-9379-A3D9B712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2" name="four-rule-0"/>
          <p:cNvCxnSpPr/>
          <p:nvPr/>
        </p:nvCxnSpPr>
        <p:spPr>
          <a:xfrm xmlns:a="http://schemas.openxmlformats.org/drawingml/2006/main">
            <a:off x="533400" y="2143125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3" name="four-title-0">
            <a:extLst xmlns:a="http://schemas.openxmlformats.org/drawingml/2006/main">
              <a:ext uri="{FF2B5EF4-FFF2-40B4-BE49-F238E27FC236}">
                <a16:creationId xmlns:a16="http://schemas.microsoft.com/office/drawing/2014/main" id="{39B8671E-5B9B-4702-B235-5B1F3403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ITERATIONS</a:t>
            </a:r>
          </a:p>
        </p:txBody>
      </p:sp>
      <p:sp>
        <p:nvSpPr>
          <p:cNvPr id="4" name="four-body-0">
            <a:extLst xmlns:a="http://schemas.openxmlformats.org/drawingml/2006/main">
              <a:ext uri="{FF2B5EF4-FFF2-40B4-BE49-F238E27FC236}">
                <a16:creationId xmlns:a16="http://schemas.microsoft.com/office/drawing/2014/main" id="{9F18B13F-D4BD-4FA3-887F-E01AD23A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model turns</a:t>
            </a:r>
          </a:p>
        </p:txBody>
      </p:sp>
      <p:sp>
        <p:nvSpPr>
          <p:cNvPr id="5" name="four-num-1">
            <a:extLst xmlns:a="http://schemas.openxmlformats.org/drawingml/2006/main">
              <a:ext uri="{FF2B5EF4-FFF2-40B4-BE49-F238E27FC236}">
                <a16:creationId xmlns:a16="http://schemas.microsoft.com/office/drawing/2014/main" id="{4C9D5902-4960-498D-804C-957E2B98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26" name="four-rule-1"/>
          <p:cNvCxnSpPr/>
          <p:nvPr/>
        </p:nvCxnSpPr>
        <p:spPr>
          <a:xfrm xmlns:a="http://schemas.openxmlformats.org/drawingml/2006/main">
            <a:off x="6381750" y="2143125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7" name="four-title-1">
            <a:extLst xmlns:a="http://schemas.openxmlformats.org/drawingml/2006/main">
              <a:ext uri="{FF2B5EF4-FFF2-40B4-BE49-F238E27FC236}">
                <a16:creationId xmlns:a16="http://schemas.microsoft.com/office/drawing/2014/main" id="{6D2A9C99-625B-47E3-AF50-78763A84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8" name="four-body-1">
            <a:extLst xmlns:a="http://schemas.openxmlformats.org/drawingml/2006/main">
              <a:ext uri="{FF2B5EF4-FFF2-40B4-BE49-F238E27FC236}">
                <a16:creationId xmlns:a16="http://schemas.microsoft.com/office/drawing/2014/main" id="{4AD92E7B-CAF3-4B74-9A55-04531B13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total effects</a:t>
            </a:r>
          </a:p>
        </p:txBody>
      </p:sp>
      <p:sp>
        <p:nvSpPr>
          <p:cNvPr id="9" name="four-num-2">
            <a:extLst xmlns:a="http://schemas.openxmlformats.org/drawingml/2006/main">
              <a:ext uri="{FF2B5EF4-FFF2-40B4-BE49-F238E27FC236}">
                <a16:creationId xmlns:a16="http://schemas.microsoft.com/office/drawing/2014/main" id="{E1DABE5D-2CC4-4109-9B24-57C429D7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0" name="four-rule-2"/>
          <p:cNvCxnSpPr/>
          <p:nvPr/>
        </p:nvCxnSpPr>
        <p:spPr>
          <a:xfrm xmlns:a="http://schemas.openxmlformats.org/drawingml/2006/main">
            <a:off x="533400" y="42862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11" name="four-title-2">
            <a:extLst xmlns:a="http://schemas.openxmlformats.org/drawingml/2006/main">
              <a:ext uri="{FF2B5EF4-FFF2-40B4-BE49-F238E27FC236}">
                <a16:creationId xmlns:a16="http://schemas.microsoft.com/office/drawing/2014/main" id="{3455E98E-8CD8-4BC4-9E0D-B9209A3B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12" name="four-body-2">
            <a:extLst xmlns:a="http://schemas.openxmlformats.org/drawingml/2006/main">
              <a:ext uri="{FF2B5EF4-FFF2-40B4-BE49-F238E27FC236}">
                <a16:creationId xmlns:a16="http://schemas.microsoft.com/office/drawing/2014/main" id="{E00B6A55-717D-4AAC-B2DF-A644B0F4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244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consecutive same signature</a:t>
            </a:r>
          </a:p>
        </p:txBody>
      </p:sp>
      <p:sp>
        <p:nvSpPr>
          <p:cNvPr id="13" name="four-num-3">
            <a:extLst xmlns:a="http://schemas.openxmlformats.org/drawingml/2006/main">
              <a:ext uri="{FF2B5EF4-FFF2-40B4-BE49-F238E27FC236}">
                <a16:creationId xmlns:a16="http://schemas.microsoft.com/office/drawing/2014/main" id="{66097F6B-D15C-4AAA-86EC-002B7C64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34" name="four-rule-3"/>
          <p:cNvCxnSpPr/>
          <p:nvPr/>
        </p:nvCxnSpPr>
        <p:spPr>
          <a:xfrm xmlns:a="http://schemas.openxmlformats.org/drawingml/2006/main">
            <a:off x="6381750" y="42862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15" name="four-title-3">
            <a:extLst xmlns:a="http://schemas.openxmlformats.org/drawingml/2006/main">
              <a:ext uri="{FF2B5EF4-FFF2-40B4-BE49-F238E27FC236}">
                <a16:creationId xmlns:a16="http://schemas.microsoft.com/office/drawing/2014/main" id="{BADFDABD-2B14-45A2-86D6-53F5AAD6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WALL CLOCK</a:t>
            </a:r>
          </a:p>
        </p:txBody>
      </p:sp>
      <p:sp>
        <p:nvSpPr>
          <p:cNvPr id="16" name="four-body-3">
            <a:extLst xmlns:a="http://schemas.openxmlformats.org/drawingml/2006/main">
              <a:ext uri="{FF2B5EF4-FFF2-40B4-BE49-F238E27FC236}">
                <a16:creationId xmlns:a16="http://schemas.microsoft.com/office/drawing/2014/main" id="{B2863539-2C6B-4D06-848D-D1F82B81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244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elapsed time</a:t>
            </a:r>
          </a:p>
        </p:txBody>
      </p:sp>
      <p:sp>
        <p:nvSpPr>
          <p:cNvPr id="17" name="eyebrow-44">
            <a:extLst xmlns:a="http://schemas.openxmlformats.org/drawingml/2006/main">
              <a:ext uri="{FF2B5EF4-FFF2-40B4-BE49-F238E27FC236}">
                <a16:creationId xmlns:a16="http://schemas.microsoft.com/office/drawing/2014/main" id="{0F9B5CF5-164C-4AF8-BE0C-39BC97D7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18" name="title-44">
            <a:extLst xmlns:a="http://schemas.openxmlformats.org/drawingml/2006/main">
              <a:ext uri="{FF2B5EF4-FFF2-40B4-BE49-F238E27FC236}">
                <a16:creationId xmlns:a16="http://schemas.microsoft.com/office/drawing/2014/main" id="{AD454A1D-4CA0-4D32-80A9-6DBD22A8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Four independent limits bound the run</a:t>
            </a:r>
          </a:p>
        </p:txBody>
      </p:sp>
      <p:cxnSp>
        <p:nvCxnSpPr>
          <p:cNvPr id="39" name="header-rule-44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20" name="footer-44">
            <a:extLst xmlns:a="http://schemas.openxmlformats.org/drawingml/2006/main">
              <a:ext uri="{FF2B5EF4-FFF2-40B4-BE49-F238E27FC236}">
                <a16:creationId xmlns:a16="http://schemas.microsoft.com/office/drawing/2014/main" id="{C76D6BFF-C5EB-45F1-A8B4-6A58FE01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44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187388260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D8DCD7A3-2DAB-4D4D-AF0B-C8591490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46F1D47D-17E3-4941-95C7-3A0BB3EF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agent reads main.cpp, edits it, then reads main.cpp again. Should the repeat limit fire?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2FF5250F-C3EA-4AB1-95FE-044C0D0C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D7D90653-2964-4831-BFE9-FC066C84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DEFCBDBD-8713-4C66-9ED1-9F6F3B2D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Always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F7788501-342D-4CD2-9C24-D36D86AB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C61E8C5D-090A-47D1-AC01-4B285F0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3D01406E-7F0C-41A8-88A2-EEB67DFD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Never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D3B31E62-C03F-42CD-84A6-19DC738E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075D3A24-8945-447C-AEB9-9C09265B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D25DF6D8-1038-4D5F-8DE4-4E743A9F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Only without intervening progress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3F285099-9257-4A28-8543-A50FADAC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985D9025-18AE-42BA-B2FD-04951EA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3E1D6EA7-C38C-4BC2-85DC-511920E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Only without progress; edits or new evidence reset the consecutive signature count.</a:t>
            </a:r>
          </a:p>
        </p:txBody>
      </p:sp>
      <p:sp>
        <p:nvSpPr>
          <p:cNvPr id="15" name="eyebrow-45">
            <a:extLst xmlns:a="http://schemas.openxmlformats.org/drawingml/2006/main">
              <a:ext uri="{FF2B5EF4-FFF2-40B4-BE49-F238E27FC236}">
                <a16:creationId xmlns:a16="http://schemas.microsoft.com/office/drawing/2014/main" id="{6B77CFC7-248E-411E-8CAC-32F72F21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16" name="title-45">
            <a:extLst xmlns:a="http://schemas.openxmlformats.org/drawingml/2006/main">
              <a:ext uri="{FF2B5EF4-FFF2-40B4-BE49-F238E27FC236}">
                <a16:creationId xmlns:a16="http://schemas.microsoft.com/office/drawing/2014/main" id="{0203442F-CD91-4FEA-91D7-40F96C1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repeated read is not automatically a loop</a:t>
            </a:r>
          </a:p>
        </p:txBody>
      </p:sp>
      <p:cxnSp>
        <p:nvCxnSpPr>
          <p:cNvPr id="35" name="header-rule-45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18" name="footer-45">
            <a:extLst xmlns:a="http://schemas.openxmlformats.org/drawingml/2006/main">
              <a:ext uri="{FF2B5EF4-FFF2-40B4-BE49-F238E27FC236}">
                <a16:creationId xmlns:a16="http://schemas.microsoft.com/office/drawing/2014/main" id="{A8A0C69F-9731-459B-8C60-D173C2F6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45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99289767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3DDD7960-848D-4C34-A65F-FE5EB5FA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14434AFB-4D71-4E45-8AA2-17E2ABEC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59D4147C-AC0D-4833-95D5-409A401B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READ A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565B46B8-10F1-45F1-8F53-B01D74B5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sig=A#1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3C0CCE6E-95A7-457E-865A-724E6A63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33D1B754-4822-4CFC-9EE0-D6B2E8BB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8A1A0A89-C5C1-4A7E-91C0-DCEBA84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READ A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17E90AE0-71D5-4B8D-BBEB-86F5FB8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sig=A#2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A3ACA5CF-93FD-4312-B9C7-A6610D2F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EE808CF0-C03B-4D3F-8539-411AF6A6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1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B891AC7B-1722-4300-8D2B-1D1C5E88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WRITE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4927A693-CF4A-493B-B65F-2E7C9B97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6407159E-0AD7-408F-A1D9-BD348E0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3D724802-361C-4F18-B490-FC04FADA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685C4461-9DEC-495A-AEDB-3D892BF1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READ A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0E4CA93F-6522-4BD5-91EF-A5716CB0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sig=A#1</a:t>
            </a:r>
          </a:p>
        </p:txBody>
      </p:sp>
      <p:sp>
        <p:nvSpPr>
          <p:cNvPr id="18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E7E6D130-6A00-4943-83A4-E0018F5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 consecutive sameness, not lifetime frequency.</a:t>
            </a:r>
          </a:p>
        </p:txBody>
      </p:sp>
      <p:sp>
        <p:nvSpPr>
          <p:cNvPr id="19" name="eyebrow-46">
            <a:extLst xmlns:a="http://schemas.openxmlformats.org/drawingml/2006/main">
              <a:ext uri="{FF2B5EF4-FFF2-40B4-BE49-F238E27FC236}">
                <a16:creationId xmlns:a16="http://schemas.microsoft.com/office/drawing/2014/main" id="{9BF208B5-E365-4406-9737-28513F06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20" name="title-46">
            <a:extLst xmlns:a="http://schemas.openxmlformats.org/drawingml/2006/main">
              <a:ext uri="{FF2B5EF4-FFF2-40B4-BE49-F238E27FC236}">
                <a16:creationId xmlns:a16="http://schemas.microsoft.com/office/drawing/2014/main" id="{C502DAFF-B533-467A-A8A4-E998FB7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Progress-sensitive repeat detection resets on change</a:t>
            </a:r>
          </a:p>
        </p:txBody>
      </p:sp>
      <p:cxnSp>
        <p:nvCxnSpPr>
          <p:cNvPr id="43" name="header-rule-46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22" name="footer-46">
            <a:extLst xmlns:a="http://schemas.openxmlformats.org/drawingml/2006/main">
              <a:ext uri="{FF2B5EF4-FFF2-40B4-BE49-F238E27FC236}">
                <a16:creationId xmlns:a16="http://schemas.microsoft.com/office/drawing/2014/main" id="{F654E256-EBD4-4248-BE40-B34C9AC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46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94517960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898AA957-887A-4CD9-842C-AA0A5AAE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70B8CBEB-0A09-4B0F-9E8E-9998071D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16A6E08C-5E1E-4C43-8C71-10A07709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5A939A05-75A6-43B1-B780-3735D94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365442B1-4AE9-48BD-BF4A-1FA25DD3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639CB68E-AF76-4114-92EA-0BDA79ED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1E667928-E4EE-46FD-ACEA-FDB5B744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CONFIGURE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E9FBC4F4-D5DB-4B49-960C-CD32954C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4B562D9E-1F9F-4766-AE55-D2C3EA0B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EB5742AD-8461-4572-8CD9-411B6366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1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8F0A99FE-6A4D-4A30-A7B3-54A986F4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COMPILE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4BDF5248-9D3C-4726-8CAB-65C44758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fails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FCCF8E7A-C5B0-482B-8015-9B60C95C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590F6F06-7C9D-4875-A8C9-E671B6A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EE3EE56B-BE78-42CE-8E41-D4423A3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EDIT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B4AC5449-5950-43B8-B7EF-D1AA0BD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syntax</a:t>
            </a:r>
          </a:p>
        </p:txBody>
      </p:sp>
      <p:sp>
        <p:nvSpPr>
          <p:cNvPr id="18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DA3644D2-4F45-4055-9B77-D7AB9975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failing compiler output narrows the next action.</a:t>
            </a:r>
          </a:p>
        </p:txBody>
      </p:sp>
      <p:sp>
        <p:nvSpPr>
          <p:cNvPr id="19" name="eyebrow-47">
            <a:extLst xmlns:a="http://schemas.openxmlformats.org/drawingml/2006/main">
              <a:ext uri="{FF2B5EF4-FFF2-40B4-BE49-F238E27FC236}">
                <a16:creationId xmlns:a16="http://schemas.microsoft.com/office/drawing/2014/main" id="{6A701BA8-D074-4F67-BF39-FF46793C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20" name="title-47">
            <a:extLst xmlns:a="http://schemas.openxmlformats.org/drawingml/2006/main">
              <a:ext uri="{FF2B5EF4-FFF2-40B4-BE49-F238E27FC236}">
                <a16:creationId xmlns:a16="http://schemas.microsoft.com/office/drawing/2014/main" id="{AFB76232-AF59-45B4-9B26-BAD84FCE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Repair trace A turns compiler output into a targeted edit</a:t>
            </a:r>
          </a:p>
        </p:txBody>
      </p:sp>
      <p:cxnSp>
        <p:nvCxnSpPr>
          <p:cNvPr id="43" name="header-rule-47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22" name="footer-47">
            <a:extLst xmlns:a="http://schemas.openxmlformats.org/drawingml/2006/main">
              <a:ext uri="{FF2B5EF4-FFF2-40B4-BE49-F238E27FC236}">
                <a16:creationId xmlns:a16="http://schemas.microsoft.com/office/drawing/2014/main" id="{64E2CACD-AD80-45B7-8E2E-4093EA2A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47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176531501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8CE0B2A9-3FB4-4D91-9A5E-B117082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0F1F747B-66AF-4EAB-9A8A-396700C6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E2C2E436-F473-42CE-8931-5808F207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752DB8BE-6307-4A4E-9DDE-9735EBBF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passes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0C7BADB6-EEE6-450D-B6EE-FE11DD40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82660709-EC37-4DCB-99E1-38E8351A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C9E3D8EE-AE9E-45BB-B77C-BBA85A4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FCCC319E-718A-42E6-B5F9-54C11D9E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fails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9307231E-C1BE-4BE9-BB42-F10B6FB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CAD24E79-A126-44C5-9F6A-3049A2FD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1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806775C6-B93E-4B93-B855-A2E7E194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EDIT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F468E55E-D33E-4A44-A01C-A88C082C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DBBE31D1-34DD-4067-8077-C3ED3892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9"/>
          </a:solidFill>
          <a:ln xmlns:a="http://schemas.openxmlformats.org/drawingml/2006/main" w="9525">
            <a:solidFill>
              <a:srgbClr val="2F6F79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07CEAF57-97D3-42ED-9F47-DB64221B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BF2FF862-6D6C-4996-8D28-52280724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31020762-7ECB-4BB0-BB99-7136544B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passes</a:t>
            </a:r>
          </a:p>
        </p:txBody>
      </p:sp>
      <p:sp>
        <p:nvSpPr>
          <p:cNvPr id="18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F354F7D2-52A2-43B4-8DCC-98A95003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Compilation is a gate, not the final proof.</a:t>
            </a:r>
          </a:p>
        </p:txBody>
      </p:sp>
      <p:sp>
        <p:nvSpPr>
          <p:cNvPr id="19" name="eyebrow-48">
            <a:extLst xmlns:a="http://schemas.openxmlformats.org/drawingml/2006/main">
              <a:ext uri="{FF2B5EF4-FFF2-40B4-BE49-F238E27FC236}">
                <a16:creationId xmlns:a16="http://schemas.microsoft.com/office/drawing/2014/main" id="{591D7F7C-5799-41FA-BC24-FA4E05D7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20" name="title-48">
            <a:extLst xmlns:a="http://schemas.openxmlformats.org/drawingml/2006/main">
              <a:ext uri="{FF2B5EF4-FFF2-40B4-BE49-F238E27FC236}">
                <a16:creationId xmlns:a16="http://schemas.microsoft.com/office/drawing/2014/main" id="{046A839B-F64B-477A-9F8F-B983AFC1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Repair trace B follows behavior evidence to passing tests</a:t>
            </a:r>
          </a:p>
        </p:txBody>
      </p:sp>
      <p:cxnSp>
        <p:nvCxnSpPr>
          <p:cNvPr id="43" name="header-rule-48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22" name="footer-48">
            <a:extLst xmlns:a="http://schemas.openxmlformats.org/drawingml/2006/main">
              <a:ext uri="{FF2B5EF4-FFF2-40B4-BE49-F238E27FC236}">
                <a16:creationId xmlns:a16="http://schemas.microsoft.com/office/drawing/2014/main" id="{4FD608A7-0F4A-4E74-BC62-962E122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48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86396671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our-num-0">
            <a:extLst xmlns:a="http://schemas.openxmlformats.org/drawingml/2006/main">
              <a:ext uri="{FF2B5EF4-FFF2-40B4-BE49-F238E27FC236}">
                <a16:creationId xmlns:a16="http://schemas.microsoft.com/office/drawing/2014/main" id="{ADA9D50C-6BA4-4B71-A7FD-43A1CE28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2" name="four-rule-0"/>
          <p:cNvCxnSpPr/>
          <p:nvPr/>
        </p:nvCxnSpPr>
        <p:spPr>
          <a:xfrm xmlns:a="http://schemas.openxmlformats.org/drawingml/2006/main">
            <a:off x="533400" y="2143125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3" name="four-title-0">
            <a:extLst xmlns:a="http://schemas.openxmlformats.org/drawingml/2006/main">
              <a:ext uri="{FF2B5EF4-FFF2-40B4-BE49-F238E27FC236}">
                <a16:creationId xmlns:a16="http://schemas.microsoft.com/office/drawing/2014/main" id="{40E56667-9B21-4191-829B-B63F79F3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PREMATURE</a:t>
            </a:r>
          </a:p>
        </p:txBody>
      </p:sp>
      <p:sp>
        <p:nvSpPr>
          <p:cNvPr id="4" name="four-body-0">
            <a:extLst xmlns:a="http://schemas.openxmlformats.org/drawingml/2006/main">
              <a:ext uri="{FF2B5EF4-FFF2-40B4-BE49-F238E27FC236}">
                <a16:creationId xmlns:a16="http://schemas.microsoft.com/office/drawing/2014/main" id="{7BA59837-2106-4E75-8F9A-FEC5ED09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final text without tests</a:t>
            </a:r>
          </a:p>
        </p:txBody>
      </p:sp>
      <p:sp>
        <p:nvSpPr>
          <p:cNvPr id="5" name="four-num-1">
            <a:extLst xmlns:a="http://schemas.openxmlformats.org/drawingml/2006/main">
              <a:ext uri="{FF2B5EF4-FFF2-40B4-BE49-F238E27FC236}">
                <a16:creationId xmlns:a16="http://schemas.microsoft.com/office/drawing/2014/main" id="{1E7506AE-800E-41F7-B026-C102E49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26" name="four-rule-1"/>
          <p:cNvCxnSpPr/>
          <p:nvPr/>
        </p:nvCxnSpPr>
        <p:spPr>
          <a:xfrm xmlns:a="http://schemas.openxmlformats.org/drawingml/2006/main">
            <a:off x="6381750" y="2143125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7" name="four-title-1">
            <a:extLst xmlns:a="http://schemas.openxmlformats.org/drawingml/2006/main">
              <a:ext uri="{FF2B5EF4-FFF2-40B4-BE49-F238E27FC236}">
                <a16:creationId xmlns:a16="http://schemas.microsoft.com/office/drawing/2014/main" id="{B3454E0D-24E8-4FD1-AC2A-06F6E885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THRASHING</a:t>
            </a:r>
          </a:p>
        </p:txBody>
      </p:sp>
      <p:sp>
        <p:nvSpPr>
          <p:cNvPr id="8" name="four-body-1">
            <a:extLst xmlns:a="http://schemas.openxmlformats.org/drawingml/2006/main">
              <a:ext uri="{FF2B5EF4-FFF2-40B4-BE49-F238E27FC236}">
                <a16:creationId xmlns:a16="http://schemas.microsoft.com/office/drawing/2014/main" id="{431B8728-D323-4263-87B8-4992F9E4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repeat limit</a:t>
            </a:r>
          </a:p>
        </p:txBody>
      </p:sp>
      <p:sp>
        <p:nvSpPr>
          <p:cNvPr id="9" name="four-num-2">
            <a:extLst xmlns:a="http://schemas.openxmlformats.org/drawingml/2006/main">
              <a:ext uri="{FF2B5EF4-FFF2-40B4-BE49-F238E27FC236}">
                <a16:creationId xmlns:a16="http://schemas.microsoft.com/office/drawing/2014/main" id="{E9F30FA8-FFFD-4278-B5C7-FF657DF3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0" name="four-rule-2"/>
          <p:cNvCxnSpPr/>
          <p:nvPr/>
        </p:nvCxnSpPr>
        <p:spPr>
          <a:xfrm xmlns:a="http://schemas.openxmlformats.org/drawingml/2006/main">
            <a:off x="533400" y="42862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11" name="four-title-2">
            <a:extLst xmlns:a="http://schemas.openxmlformats.org/drawingml/2006/main">
              <a:ext uri="{FF2B5EF4-FFF2-40B4-BE49-F238E27FC236}">
                <a16:creationId xmlns:a16="http://schemas.microsoft.com/office/drawing/2014/main" id="{26CCB61B-CDFF-4A26-87DF-E28B2463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EMPTY FINAL</a:t>
            </a:r>
          </a:p>
        </p:txBody>
      </p:sp>
      <p:sp>
        <p:nvSpPr>
          <p:cNvPr id="12" name="four-body-2">
            <a:extLst xmlns:a="http://schemas.openxmlformats.org/drawingml/2006/main">
              <a:ext uri="{FF2B5EF4-FFF2-40B4-BE49-F238E27FC236}">
                <a16:creationId xmlns:a16="http://schemas.microsoft.com/office/drawing/2014/main" id="{35FB7D14-E03E-44A9-A5C8-319E74E7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244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typed failure</a:t>
            </a:r>
          </a:p>
        </p:txBody>
      </p:sp>
      <p:sp>
        <p:nvSpPr>
          <p:cNvPr id="13" name="four-num-3">
            <a:extLst xmlns:a="http://schemas.openxmlformats.org/drawingml/2006/main">
              <a:ext uri="{FF2B5EF4-FFF2-40B4-BE49-F238E27FC236}">
                <a16:creationId xmlns:a16="http://schemas.microsoft.com/office/drawing/2014/main" id="{5F775D93-2D44-4F16-A8C6-E56E3FC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34" name="four-rule-3"/>
          <p:cNvCxnSpPr/>
          <p:nvPr/>
        </p:nvCxnSpPr>
        <p:spPr>
          <a:xfrm xmlns:a="http://schemas.openxmlformats.org/drawingml/2006/main">
            <a:off x="6381750" y="42862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15" name="four-title-3">
            <a:extLst xmlns:a="http://schemas.openxmlformats.org/drawingml/2006/main">
              <a:ext uri="{FF2B5EF4-FFF2-40B4-BE49-F238E27FC236}">
                <a16:creationId xmlns:a16="http://schemas.microsoft.com/office/drawing/2014/main" id="{22E7DD1B-6FC3-49C3-959B-8934F46A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16" name="four-body-3">
            <a:extLst xmlns:a="http://schemas.openxmlformats.org/drawingml/2006/main">
              <a:ext uri="{FF2B5EF4-FFF2-40B4-BE49-F238E27FC236}">
                <a16:creationId xmlns:a16="http://schemas.microsoft.com/office/drawing/2014/main" id="{FF4F3F97-6054-40BB-BA53-B50EBDE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244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classified retry / stop</a:t>
            </a:r>
          </a:p>
        </p:txBody>
      </p:sp>
      <p:sp>
        <p:nvSpPr>
          <p:cNvPr id="17" name="eyebrow-49">
            <a:extLst xmlns:a="http://schemas.openxmlformats.org/drawingml/2006/main">
              <a:ext uri="{FF2B5EF4-FFF2-40B4-BE49-F238E27FC236}">
                <a16:creationId xmlns:a16="http://schemas.microsoft.com/office/drawing/2014/main" id="{AECA6D58-EAB9-47A4-9B31-C88DF490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18" name="title-49">
            <a:extLst xmlns:a="http://schemas.openxmlformats.org/drawingml/2006/main">
              <a:ext uri="{FF2B5EF4-FFF2-40B4-BE49-F238E27FC236}">
                <a16:creationId xmlns:a16="http://schemas.microsoft.com/office/drawing/2014/main" id="{67472BDC-F938-48C7-B7A6-14675B2B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Pathologies need explicit terminal states</a:t>
            </a:r>
          </a:p>
        </p:txBody>
      </p:sp>
      <p:cxnSp>
        <p:nvCxnSpPr>
          <p:cNvPr id="39" name="header-rule-49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20" name="footer-49">
            <a:extLst xmlns:a="http://schemas.openxmlformats.org/drawingml/2006/main">
              <a:ext uri="{FF2B5EF4-FFF2-40B4-BE49-F238E27FC236}">
                <a16:creationId xmlns:a16="http://schemas.microsoft.com/office/drawing/2014/main" id="{0F64E006-0DE2-49FD-874D-349E9A7D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49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152979049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xit-statement">
            <a:extLst xmlns:a="http://schemas.openxmlformats.org/drawingml/2006/main">
              <a:ext uri="{FF2B5EF4-FFF2-40B4-BE49-F238E27FC236}">
                <a16:creationId xmlns:a16="http://schemas.microsoft.com/office/drawing/2014/main" id="{E28199D8-9E99-402D-ABBF-50672F0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“Fixed” is credible only when the latest build/test events support it—and their results are still in the trace.</a:t>
            </a:r>
          </a:p>
        </p:txBody>
      </p:sp>
      <p:cxnSp>
        <p:nvCxnSpPr>
          <p:cNvPr id="10" name="exit-rule"/>
          <p:cNvCxnSpPr/>
          <p:nvPr/>
        </p:nvCxnSpPr>
        <p:spPr>
          <a:xfrm xmlns:a="http://schemas.openxmlformats.org/drawingml/2006/main">
            <a:off x="2571750" y="4000500"/>
            <a:ext cx="704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F6F79"/>
            </a:solidFill>
            <a:prstDash val="solid"/>
          </a:ln>
        </p:spPr>
      </p:cxnSp>
      <p:sp>
        <p:nvSpPr>
          <p:cNvPr id="3" name="exit-box">
            <a:extLst xmlns:a="http://schemas.openxmlformats.org/drawingml/2006/main">
              <a:ext uri="{FF2B5EF4-FFF2-40B4-BE49-F238E27FC236}">
                <a16:creationId xmlns:a16="http://schemas.microsoft.com/office/drawing/2014/main" id="{F1CFB343-9991-407B-A9AF-707A087D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xit-question">
            <a:extLst xmlns:a="http://schemas.openxmlformats.org/drawingml/2006/main">
              <a:ext uri="{FF2B5EF4-FFF2-40B4-BE49-F238E27FC236}">
                <a16:creationId xmlns:a16="http://schemas.microsoft.com/office/drawing/2014/main" id="{6D0424BC-2783-4BD7-9988-FA5EA9C2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Exit check: underline the latest build and test evidence.</a:t>
            </a:r>
          </a:p>
        </p:txBody>
      </p:sp>
      <p:sp>
        <p:nvSpPr>
          <p:cNvPr id="5" name="eyebrow-50">
            <a:extLst xmlns:a="http://schemas.openxmlformats.org/drawingml/2006/main">
              <a:ext uri="{FF2B5EF4-FFF2-40B4-BE49-F238E27FC236}">
                <a16:creationId xmlns:a16="http://schemas.microsoft.com/office/drawing/2014/main" id="{244B9C10-C75A-46DD-B4A7-2ED2C9A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79"/>
                </a:solidFill>
                <a:latin typeface="Aptos"/>
                <a:ea typeface="Aptos"/>
                <a:cs typeface="Aptos"/>
              </a:rPr>
              <a:t>CH 5  /  AGENT LOOP</a:t>
            </a:r>
          </a:p>
        </p:txBody>
      </p:sp>
      <p:sp>
        <p:nvSpPr>
          <p:cNvPr id="6" name="title-50">
            <a:extLst xmlns:a="http://schemas.openxmlformats.org/drawingml/2006/main">
              <a:ext uri="{FF2B5EF4-FFF2-40B4-BE49-F238E27FC236}">
                <a16:creationId xmlns:a16="http://schemas.microsoft.com/office/drawing/2014/main" id="{52E6817B-EB65-42E7-8A93-5A03FD9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Completion text must agree with the latest evidence</a:t>
            </a:r>
          </a:p>
        </p:txBody>
      </p:sp>
      <p:cxnSp>
        <p:nvCxnSpPr>
          <p:cNvPr id="15" name="header-rule-50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79"/>
            </a:solidFill>
            <a:prstDash val="solid"/>
          </a:ln>
        </p:spPr>
      </p:cxnSp>
      <p:sp>
        <p:nvSpPr>
          <p:cNvPr id="8" name="footer-50">
            <a:extLst xmlns:a="http://schemas.openxmlformats.org/drawingml/2006/main">
              <a:ext uri="{FF2B5EF4-FFF2-40B4-BE49-F238E27FC236}">
                <a16:creationId xmlns:a16="http://schemas.microsoft.com/office/drawing/2014/main" id="{B08A9113-D028-4004-85BD-20FDE618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50   •   The bounded agent loop</a:t>
            </a:r>
          </a:p>
        </p:txBody>
      </p:sp>
    </p:spTree>
    <p:extLst>
      <p:ext uri="{BB962C8B-B14F-4D97-AF65-F5344CB8AC3E}">
        <p14:creationId xmlns:p14="http://schemas.microsoft.com/office/powerpoint/2010/main" val="53067959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95809160-7A7A-4975-8178-6F78D660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90E3D92A-F2EA-4D39-BF5F-22C0A271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run has 4 model requests and 7 tool calls. How many turns, model calls, and tools?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CAE93F39-178E-4A30-9FAD-22C824DC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6B18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18921BAC-69C9-41EA-894D-B9D50FD4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41D4F1D9-9903-40CD-8A3F-55C5CC47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All equal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21E8AA9B-0EA8-4C44-ADE7-4C166341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6B18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3A24B002-06B6-43CE-90DD-BCA1DF8D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229FA830-BD5F-4A7C-A0A3-895F5B9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4 / 4 / 7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1939007D-1530-47E9-8D70-708ED39A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6B18"/>
          </a:solidFill>
          <a:ln xmlns:a="http://schemas.openxmlformats.org/drawingml/2006/main" w="9525">
            <a:solidFill>
              <a:srgbClr val="8B6B18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9D5C4D8C-F87B-445D-BE6D-D3D6249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7976FB68-72C0-4859-813B-D505ACCB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1 / 4 / 7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1E4F5C06-B3DB-4C8A-BA68-8C38398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1747DB97-1C9D-498D-8D6E-4CEDB8A9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EA94605A-2D5D-4345-A049-115B9958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Define the unit first: one task run, four model calls, seven tool calls.</a:t>
            </a:r>
          </a:p>
        </p:txBody>
      </p:sp>
      <p:sp>
        <p:nvSpPr>
          <p:cNvPr id="15" name="eyebrow-51">
            <a:extLst xmlns:a="http://schemas.openxmlformats.org/drawingml/2006/main">
              <a:ext uri="{FF2B5EF4-FFF2-40B4-BE49-F238E27FC236}">
                <a16:creationId xmlns:a16="http://schemas.microsoft.com/office/drawing/2014/main" id="{F7FE75DF-A84A-49B8-B384-2437F7E6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CH 6  /  CONTEXT + COST</a:t>
            </a:r>
          </a:p>
        </p:txBody>
      </p:sp>
      <p:sp>
        <p:nvSpPr>
          <p:cNvPr id="16" name="title-51">
            <a:extLst xmlns:a="http://schemas.openxmlformats.org/drawingml/2006/main">
              <a:ext uri="{FF2B5EF4-FFF2-40B4-BE49-F238E27FC236}">
                <a16:creationId xmlns:a16="http://schemas.microsoft.com/office/drawing/2014/main" id="{B055E2D9-51AA-4849-A416-2AA19454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One repair task contains three different counts</a:t>
            </a:r>
          </a:p>
        </p:txBody>
      </p:sp>
      <p:cxnSp>
        <p:nvCxnSpPr>
          <p:cNvPr id="35" name="header-rule-51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18" name="footer-51">
            <a:extLst xmlns:a="http://schemas.openxmlformats.org/drawingml/2006/main">
              <a:ext uri="{FF2B5EF4-FFF2-40B4-BE49-F238E27FC236}">
                <a16:creationId xmlns:a16="http://schemas.microsoft.com/office/drawing/2014/main" id="{3F78625B-1415-47A7-805D-462F395A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51   •   Context, usage, and cost</a:t>
            </a:r>
          </a:p>
        </p:txBody>
      </p:sp>
    </p:spTree>
    <p:extLst>
      <p:ext uri="{BB962C8B-B14F-4D97-AF65-F5344CB8AC3E}">
        <p14:creationId xmlns:p14="http://schemas.microsoft.com/office/powerpoint/2010/main" val="114375449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metric-rule-0"/>
          <p:cNvCxnSpPr/>
          <p:nvPr/>
        </p:nvCxnSpPr>
        <p:spPr>
          <a:xfrm xmlns:a="http://schemas.openxmlformats.org/drawingml/2006/main">
            <a:off x="533400" y="2095500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B6B18"/>
            </a:solidFill>
            <a:prstDash val="solid"/>
          </a:ln>
        </p:spPr>
      </p:cxnSp>
      <p:sp>
        <p:nvSpPr>
          <p:cNvPr id="2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502D3EE9-D105-4A7A-8A37-0F007D79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TASK RUNS</a:t>
            </a:r>
          </a:p>
        </p:txBody>
      </p:sp>
      <p:sp>
        <p:nvSpPr>
          <p:cNvPr id="3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F3CE8B41-A354-4D12-82EA-E4689400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cxnSp>
        <p:nvCxnSpPr>
          <p:cNvPr id="20" name="metric-rule-1"/>
          <p:cNvCxnSpPr/>
          <p:nvPr/>
        </p:nvCxnSpPr>
        <p:spPr>
          <a:xfrm xmlns:a="http://schemas.openxmlformats.org/drawingml/2006/main">
            <a:off x="3371850" y="2095500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B6B18"/>
            </a:solidFill>
            <a:prstDash val="solid"/>
          </a:ln>
        </p:spPr>
      </p:cxn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64EB93F-567E-4951-8EDD-8C7AA149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28875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MODEL CALLS</a:t>
            </a:r>
          </a:p>
        </p:txBody>
      </p:sp>
      <p:sp>
        <p:nvSpPr>
          <p:cNvPr id="6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8F60F0B2-1622-417A-9044-74D533E3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2900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cxnSp>
        <p:nvCxnSpPr>
          <p:cNvPr id="23" name="metric-rule-2"/>
          <p:cNvCxnSpPr/>
          <p:nvPr/>
        </p:nvCxnSpPr>
        <p:spPr>
          <a:xfrm xmlns:a="http://schemas.openxmlformats.org/drawingml/2006/main">
            <a:off x="6210300" y="2095500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B6B18"/>
            </a:solidFill>
            <a:prstDash val="solid"/>
          </a:ln>
        </p:spPr>
      </p:cxn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DFFFBA6F-BCB6-4090-A2F1-AC98C707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28875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60951E0B-C593-4054-8633-335C888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cxnSp>
        <p:nvCxnSpPr>
          <p:cNvPr id="26" name="metric-rule-3"/>
          <p:cNvCxnSpPr/>
          <p:nvPr/>
        </p:nvCxnSpPr>
        <p:spPr>
          <a:xfrm xmlns:a="http://schemas.openxmlformats.org/drawingml/2006/main">
            <a:off x="9048750" y="2095500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B6B18"/>
            </a:solidFill>
            <a:prstDash val="solid"/>
          </a:ln>
        </p:spPr>
      </p:cxnSp>
      <p:sp>
        <p:nvSpPr>
          <p:cNvPr id="11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D740B1E-4649-450F-A144-ED0F4B89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D2DA19D3-F9D9-4E51-BEFE-CB62D980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230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3" name="eyebrow-52">
            <a:extLst xmlns:a="http://schemas.openxmlformats.org/drawingml/2006/main">
              <a:ext uri="{FF2B5EF4-FFF2-40B4-BE49-F238E27FC236}">
                <a16:creationId xmlns:a16="http://schemas.microsoft.com/office/drawing/2014/main" id="{297C7084-A548-4B77-9329-369935C1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CH 6  /  CONTEXT + COST</a:t>
            </a:r>
          </a:p>
        </p:txBody>
      </p:sp>
      <p:sp>
        <p:nvSpPr>
          <p:cNvPr id="14" name="title-52">
            <a:extLst xmlns:a="http://schemas.openxmlformats.org/drawingml/2006/main">
              <a:ext uri="{FF2B5EF4-FFF2-40B4-BE49-F238E27FC236}">
                <a16:creationId xmlns:a16="http://schemas.microsoft.com/office/drawing/2014/main" id="{A2AFB739-2E78-423E-8FCF-A8B359B9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 events from the trace, not intuition</a:t>
            </a:r>
          </a:p>
        </p:txBody>
      </p:sp>
      <p:cxnSp>
        <p:nvCxnSpPr>
          <p:cNvPr id="31" name="header-rule-52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16" name="footer-52">
            <a:extLst xmlns:a="http://schemas.openxmlformats.org/drawingml/2006/main">
              <a:ext uri="{FF2B5EF4-FFF2-40B4-BE49-F238E27FC236}">
                <a16:creationId xmlns:a16="http://schemas.microsoft.com/office/drawing/2014/main" id="{8695D9AF-6E3C-48C0-889C-C2EA87FE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52   •   Context, usage, and cost</a:t>
            </a:r>
          </a:p>
        </p:txBody>
      </p:sp>
    </p:spTree>
    <p:extLst>
      <p:ext uri="{BB962C8B-B14F-4D97-AF65-F5344CB8AC3E}">
        <p14:creationId xmlns:p14="http://schemas.microsoft.com/office/powerpoint/2010/main" val="147331293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tack-0">
            <a:extLst xmlns:a="http://schemas.openxmlformats.org/drawingml/2006/main">
              <a:ext uri="{FF2B5EF4-FFF2-40B4-BE49-F238E27FC236}">
                <a16:creationId xmlns:a16="http://schemas.microsoft.com/office/drawing/2014/main" id="{56DF302F-D398-45C6-AA19-54F75F1E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2" name="stack-title-0">
            <a:extLst xmlns:a="http://schemas.openxmlformats.org/drawingml/2006/main">
              <a:ext uri="{FF2B5EF4-FFF2-40B4-BE49-F238E27FC236}">
                <a16:creationId xmlns:a16="http://schemas.microsoft.com/office/drawing/2014/main" id="{162E566D-5413-46EA-90BC-B6241C4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REQUEST 1</a:t>
            </a:r>
          </a:p>
        </p:txBody>
      </p:sp>
      <p:sp>
        <p:nvSpPr>
          <p:cNvPr id="3" name="stack-body-0">
            <a:extLst xmlns:a="http://schemas.openxmlformats.org/drawingml/2006/main">
              <a:ext uri="{FF2B5EF4-FFF2-40B4-BE49-F238E27FC236}">
                <a16:creationId xmlns:a16="http://schemas.microsoft.com/office/drawing/2014/main" id="{F9B214AA-3850-4952-B37F-87393403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14500"/>
            <a:ext cx="855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system + user</a:t>
            </a:r>
          </a:p>
        </p:txBody>
      </p:sp>
      <p:sp>
        <p:nvSpPr>
          <p:cNvPr id="4" name="stack-1">
            <a:extLst xmlns:a="http://schemas.openxmlformats.org/drawingml/2006/main">
              <a:ext uri="{FF2B5EF4-FFF2-40B4-BE49-F238E27FC236}">
                <a16:creationId xmlns:a16="http://schemas.microsoft.com/office/drawing/2014/main" id="{C6B296EC-7926-454D-AEFD-8F470A2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90800"/>
            <a:ext cx="1007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5" name="stack-title-1">
            <a:extLst xmlns:a="http://schemas.openxmlformats.org/drawingml/2006/main">
              <a:ext uri="{FF2B5EF4-FFF2-40B4-BE49-F238E27FC236}">
                <a16:creationId xmlns:a16="http://schemas.microsoft.com/office/drawing/2014/main" id="{1E76286F-45CB-452E-BD02-9C343361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5908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REQUEST 2</a:t>
            </a:r>
          </a:p>
        </p:txBody>
      </p:sp>
      <p:sp>
        <p:nvSpPr>
          <p:cNvPr id="6" name="stack-body-1">
            <a:extLst xmlns:a="http://schemas.openxmlformats.org/drawingml/2006/main">
              <a:ext uri="{FF2B5EF4-FFF2-40B4-BE49-F238E27FC236}">
                <a16:creationId xmlns:a16="http://schemas.microsoft.com/office/drawing/2014/main" id="{3A89412B-4043-414A-8296-BA250F58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90800"/>
            <a:ext cx="7505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+ assistant call + tool result</a:t>
            </a:r>
          </a:p>
        </p:txBody>
      </p:sp>
      <p:sp>
        <p:nvSpPr>
          <p:cNvPr id="7" name="stack-2">
            <a:extLst xmlns:a="http://schemas.openxmlformats.org/drawingml/2006/main">
              <a:ext uri="{FF2B5EF4-FFF2-40B4-BE49-F238E27FC236}">
                <a16:creationId xmlns:a16="http://schemas.microsoft.com/office/drawing/2014/main" id="{9E3D6D0D-B228-4955-A1A6-FDE8217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9029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8" name="stack-title-2">
            <a:extLst xmlns:a="http://schemas.openxmlformats.org/drawingml/2006/main">
              <a:ext uri="{FF2B5EF4-FFF2-40B4-BE49-F238E27FC236}">
                <a16:creationId xmlns:a16="http://schemas.microsoft.com/office/drawing/2014/main" id="{DC854871-E7C8-4FCB-AA62-7F0B8A4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671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REQUEST 3</a:t>
            </a:r>
          </a:p>
        </p:txBody>
      </p:sp>
      <p:sp>
        <p:nvSpPr>
          <p:cNvPr id="9" name="stack-body-2">
            <a:extLst xmlns:a="http://schemas.openxmlformats.org/drawingml/2006/main">
              <a:ext uri="{FF2B5EF4-FFF2-40B4-BE49-F238E27FC236}">
                <a16:creationId xmlns:a16="http://schemas.microsoft.com/office/drawing/2014/main" id="{26F9F4FE-AAB1-463B-B1F1-8ECB70C8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67100"/>
            <a:ext cx="645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+ edit + build output</a:t>
            </a:r>
          </a:p>
        </p:txBody>
      </p:sp>
      <p:sp>
        <p:nvSpPr>
          <p:cNvPr id="10" name="stack-3">
            <a:extLst xmlns:a="http://schemas.openxmlformats.org/drawingml/2006/main">
              <a:ext uri="{FF2B5EF4-FFF2-40B4-BE49-F238E27FC236}">
                <a16:creationId xmlns:a16="http://schemas.microsoft.com/office/drawing/2014/main" id="{980761BA-4563-488B-80A5-5D9D02E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343400"/>
            <a:ext cx="7981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18"/>
          </a:solidFill>
          <a:ln xmlns:a="http://schemas.openxmlformats.org/drawingml/2006/main" w="9525">
            <a:solidFill>
              <a:srgbClr val="8B6B18"/>
            </a:solidFill>
            <a:prstDash val="solid"/>
          </a:ln>
        </p:spPr>
      </p:sp>
      <p:sp>
        <p:nvSpPr>
          <p:cNvPr id="11" name="stack-title-3">
            <a:extLst xmlns:a="http://schemas.openxmlformats.org/drawingml/2006/main">
              <a:ext uri="{FF2B5EF4-FFF2-40B4-BE49-F238E27FC236}">
                <a16:creationId xmlns:a16="http://schemas.microsoft.com/office/drawing/2014/main" id="{CE2CEA86-21EA-4F7C-B37E-059C5DC7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3434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 4</a:t>
            </a:r>
          </a:p>
        </p:txBody>
      </p:sp>
      <p:sp>
        <p:nvSpPr>
          <p:cNvPr id="12" name="stack-body-3">
            <a:extLst xmlns:a="http://schemas.openxmlformats.org/drawingml/2006/main">
              <a:ext uri="{FF2B5EF4-FFF2-40B4-BE49-F238E27FC236}">
                <a16:creationId xmlns:a16="http://schemas.microsoft.com/office/drawing/2014/main" id="{CBF2448F-7EC3-41B5-B51A-22A0030D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43400"/>
            <a:ext cx="541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tests + final evidence</a:t>
            </a:r>
          </a:p>
        </p:txBody>
      </p:sp>
      <p:sp>
        <p:nvSpPr>
          <p:cNvPr id="13" name="eyebrow-53">
            <a:extLst xmlns:a="http://schemas.openxmlformats.org/drawingml/2006/main">
              <a:ext uri="{FF2B5EF4-FFF2-40B4-BE49-F238E27FC236}">
                <a16:creationId xmlns:a16="http://schemas.microsoft.com/office/drawing/2014/main" id="{310FA456-176B-4685-A644-91041AF1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CH 6  /  CONTEXT + COST</a:t>
            </a:r>
          </a:p>
        </p:txBody>
      </p:sp>
      <p:sp>
        <p:nvSpPr>
          <p:cNvPr id="14" name="title-53">
            <a:extLst xmlns:a="http://schemas.openxmlformats.org/drawingml/2006/main">
              <a:ext uri="{FF2B5EF4-FFF2-40B4-BE49-F238E27FC236}">
                <a16:creationId xmlns:a16="http://schemas.microsoft.com/office/drawing/2014/main" id="{E64A7AD7-DD6D-4D63-8266-101E423C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Each request carries a growing causal history</a:t>
            </a:r>
          </a:p>
        </p:txBody>
      </p:sp>
      <p:cxnSp>
        <p:nvCxnSpPr>
          <p:cNvPr id="31" name="header-rule-53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16" name="footer-53">
            <a:extLst xmlns:a="http://schemas.openxmlformats.org/drawingml/2006/main">
              <a:ext uri="{FF2B5EF4-FFF2-40B4-BE49-F238E27FC236}">
                <a16:creationId xmlns:a16="http://schemas.microsoft.com/office/drawing/2014/main" id="{BC9CE9A1-EDBE-498C-9B31-C9F36184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53   •   Context, usage, and cost</a:t>
            </a:r>
          </a:p>
        </p:txBody>
      </p:sp>
    </p:spTree>
    <p:extLst>
      <p:ext uri="{BB962C8B-B14F-4D97-AF65-F5344CB8AC3E}">
        <p14:creationId xmlns:p14="http://schemas.microsoft.com/office/powerpoint/2010/main" val="137300979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A12DC0FB-0F79-422D-BDB2-535D241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2FFBA87B-882A-4AF4-A2A2-E1322E0A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Choose one to compact: task constraints, latest failing test, or superseded build log.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84D6A6EA-B035-43E7-82E9-0846A576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6B18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3DDD3F5A-F28A-4B5E-B9AA-D049D05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522DCA55-DB1F-45FF-9D40-E04A7666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Task constraints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CF8C129D-7E06-45EB-A3EC-8B2D53A8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6B18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592FB5D8-5316-43FB-8611-66567490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CD272F3C-C600-48B9-9974-D774CBA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Latest failing test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D60DE67A-D120-42AF-844A-D5F17A41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6B18"/>
          </a:solidFill>
          <a:ln xmlns:a="http://schemas.openxmlformats.org/drawingml/2006/main" w="9525">
            <a:solidFill>
              <a:srgbClr val="8B6B18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B924C7D1-D6CC-486A-87A8-1CF0CF7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4D51403E-5B34-4A0C-BF9B-1415A55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Superseded build log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FEE65F13-FD69-4E22-B995-A551EAA5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86BA04BB-F336-4DA5-95D8-0701C18C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E84C71D4-2F4A-4F56-BF69-4EAD71FC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superseded log can be summarized or removed from prompt context; keep it in the raw trace.</a:t>
            </a:r>
          </a:p>
        </p:txBody>
      </p:sp>
      <p:sp>
        <p:nvSpPr>
          <p:cNvPr id="15" name="eyebrow-54">
            <a:extLst xmlns:a="http://schemas.openxmlformats.org/drawingml/2006/main">
              <a:ext uri="{FF2B5EF4-FFF2-40B4-BE49-F238E27FC236}">
                <a16:creationId xmlns:a16="http://schemas.microsoft.com/office/drawing/2014/main" id="{1569FF71-305C-4850-B9B9-48A9B53C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CH 6  /  CONTEXT + COST</a:t>
            </a:r>
          </a:p>
        </p:txBody>
      </p:sp>
      <p:sp>
        <p:nvSpPr>
          <p:cNvPr id="16" name="title-54">
            <a:extLst xmlns:a="http://schemas.openxmlformats.org/drawingml/2006/main">
              <a:ext uri="{FF2B5EF4-FFF2-40B4-BE49-F238E27FC236}">
                <a16:creationId xmlns:a16="http://schemas.microsoft.com/office/drawing/2014/main" id="{8B2E47D9-0656-484B-BBD7-7296B2C9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Which old output can leave prompt context?</a:t>
            </a:r>
          </a:p>
        </p:txBody>
      </p:sp>
      <p:cxnSp>
        <p:nvCxnSpPr>
          <p:cNvPr id="35" name="header-rule-54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18" name="footer-54">
            <a:extLst xmlns:a="http://schemas.openxmlformats.org/drawingml/2006/main">
              <a:ext uri="{FF2B5EF4-FFF2-40B4-BE49-F238E27FC236}">
                <a16:creationId xmlns:a16="http://schemas.microsoft.com/office/drawing/2014/main" id="{D41000D9-27CF-44AC-959E-2A0126A1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54   •   Context, usage, and cost</a:t>
            </a:r>
          </a:p>
        </p:txBody>
      </p:sp>
    </p:spTree>
    <p:extLst>
      <p:ext uri="{BB962C8B-B14F-4D97-AF65-F5344CB8AC3E}">
        <p14:creationId xmlns:p14="http://schemas.microsoft.com/office/powerpoint/2010/main" val="92707826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ayer-0">
            <a:extLst xmlns:a="http://schemas.openxmlformats.org/drawingml/2006/main">
              <a:ext uri="{FF2B5EF4-FFF2-40B4-BE49-F238E27FC236}">
                <a16:creationId xmlns:a16="http://schemas.microsoft.com/office/drawing/2014/main" id="{0D5BF07A-AC0F-4459-A625-02D18BCC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383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18"/>
          </a:solidFill>
          <a:ln xmlns:a="http://schemas.openxmlformats.org/drawingml/2006/main" w="9525">
            <a:solidFill>
              <a:srgbClr val="8B6B18"/>
            </a:solidFill>
            <a:prstDash val="solid"/>
          </a:ln>
        </p:spPr>
      </p:sp>
      <p:sp>
        <p:nvSpPr>
          <p:cNvPr id="2" name="layer-name-0">
            <a:extLst xmlns:a="http://schemas.openxmlformats.org/drawingml/2006/main">
              <a:ext uri="{FF2B5EF4-FFF2-40B4-BE49-F238E27FC236}">
                <a16:creationId xmlns:a16="http://schemas.microsoft.com/office/drawing/2014/main" id="{A0D43E33-4D48-4A90-A315-D29772B9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638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3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AD835B1D-FB4D-4F82-BF1B-174F5D3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38300"/>
            <a:ext cx="630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always</a:t>
            </a:r>
          </a:p>
        </p:txBody>
      </p:sp>
      <p:sp>
        <p:nvSpPr>
          <p:cNvPr id="4" name="layer-1">
            <a:extLst xmlns:a="http://schemas.openxmlformats.org/drawingml/2006/main">
              <a:ext uri="{FF2B5EF4-FFF2-40B4-BE49-F238E27FC236}">
                <a16:creationId xmlns:a16="http://schemas.microsoft.com/office/drawing/2014/main" id="{A25D09A6-1BCC-4FFD-BAEB-DF8CB766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286000"/>
            <a:ext cx="798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5" name="layer-name-1">
            <a:extLst xmlns:a="http://schemas.openxmlformats.org/drawingml/2006/main">
              <a:ext uri="{FF2B5EF4-FFF2-40B4-BE49-F238E27FC236}">
                <a16:creationId xmlns:a16="http://schemas.microsoft.com/office/drawing/2014/main" id="{29FD306D-7BF1-4414-99EC-0879E28A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86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6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33600AA3-2F72-456D-B931-9C15188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always</a:t>
            </a:r>
          </a:p>
        </p:txBody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C38BC86-F1F1-4DB8-BF09-EB0B90FE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33700"/>
            <a:ext cx="7105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8" name="layer-name-2">
            <a:extLst xmlns:a="http://schemas.openxmlformats.org/drawingml/2006/main">
              <a:ext uri="{FF2B5EF4-FFF2-40B4-BE49-F238E27FC236}">
                <a16:creationId xmlns:a16="http://schemas.microsoft.com/office/drawing/2014/main" id="{8DF5F40A-4988-4D41-83F6-B6CA8F10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33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LATEST EVIDENCE</a:t>
            </a:r>
          </a:p>
        </p:txBody>
      </p:sp>
      <p:sp>
        <p:nvSpPr>
          <p:cNvPr id="9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B22F3AAD-7080-4616-8674-577DE18A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933700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0" name="layer-3">
            <a:extLst xmlns:a="http://schemas.openxmlformats.org/drawingml/2006/main">
              <a:ext uri="{FF2B5EF4-FFF2-40B4-BE49-F238E27FC236}">
                <a16:creationId xmlns:a16="http://schemas.microsoft.com/office/drawing/2014/main" id="{1E95E39C-7863-498D-A027-40EC13B6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81400"/>
            <a:ext cx="622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1" name="layer-name-3">
            <a:extLst xmlns:a="http://schemas.openxmlformats.org/drawingml/2006/main">
              <a:ext uri="{FF2B5EF4-FFF2-40B4-BE49-F238E27FC236}">
                <a16:creationId xmlns:a16="http://schemas.microsoft.com/office/drawing/2014/main" id="{8062A4F9-A876-4264-8E9B-277736DA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814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CURRENT DIFF</a:t>
            </a:r>
          </a:p>
        </p:txBody>
      </p:sp>
      <p:sp>
        <p:nvSpPr>
          <p:cNvPr id="12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F7FBFE22-BDDC-4085-848E-E70E64A0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58140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3" name="layer-4">
            <a:extLst xmlns:a="http://schemas.openxmlformats.org/drawingml/2006/main">
              <a:ext uri="{FF2B5EF4-FFF2-40B4-BE49-F238E27FC236}">
                <a16:creationId xmlns:a16="http://schemas.microsoft.com/office/drawing/2014/main" id="{3D0CF339-6F11-47B0-9452-F13D97CB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2910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4" name="layer-name-4">
            <a:extLst xmlns:a="http://schemas.openxmlformats.org/drawingml/2006/main">
              <a:ext uri="{FF2B5EF4-FFF2-40B4-BE49-F238E27FC236}">
                <a16:creationId xmlns:a16="http://schemas.microsoft.com/office/drawing/2014/main" id="{46F64780-B51F-4204-8270-AD07BC75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229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SUPERSEDED LOGS</a:t>
            </a:r>
          </a:p>
        </p:txBody>
      </p:sp>
      <p:sp>
        <p:nvSpPr>
          <p:cNvPr id="15" name="layer-body-4">
            <a:extLst xmlns:a="http://schemas.openxmlformats.org/drawingml/2006/main">
              <a:ext uri="{FF2B5EF4-FFF2-40B4-BE49-F238E27FC236}">
                <a16:creationId xmlns:a16="http://schemas.microsoft.com/office/drawing/2014/main" id="{85AD647F-981D-4D12-9998-291AF0F2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2291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compact</a:t>
            </a:r>
          </a:p>
        </p:txBody>
      </p:sp>
      <p:sp>
        <p:nvSpPr>
          <p:cNvPr id="16" name="layer-5">
            <a:extLst xmlns:a="http://schemas.openxmlformats.org/drawingml/2006/main">
              <a:ext uri="{FF2B5EF4-FFF2-40B4-BE49-F238E27FC236}">
                <a16:creationId xmlns:a16="http://schemas.microsoft.com/office/drawing/2014/main" id="{30983C74-EDC3-4B15-8DE8-7FDCBEBF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76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7" name="layer-name-5">
            <a:extLst xmlns:a="http://schemas.openxmlformats.org/drawingml/2006/main">
              <a:ext uri="{FF2B5EF4-FFF2-40B4-BE49-F238E27FC236}">
                <a16:creationId xmlns:a16="http://schemas.microsoft.com/office/drawing/2014/main" id="{27DF06C2-4524-42E2-9CDF-09664B0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876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RAW TRACE</a:t>
            </a:r>
          </a:p>
        </p:txBody>
      </p:sp>
      <p:sp>
        <p:nvSpPr>
          <p:cNvPr id="18" name="layer-body-5">
            <a:extLst xmlns:a="http://schemas.openxmlformats.org/drawingml/2006/main">
              <a:ext uri="{FF2B5EF4-FFF2-40B4-BE49-F238E27FC236}">
                <a16:creationId xmlns:a16="http://schemas.microsoft.com/office/drawing/2014/main" id="{DB31B9A9-31F6-40DE-A908-CD2EDE75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76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archive outside prompt</a:t>
            </a:r>
          </a:p>
        </p:txBody>
      </p:sp>
      <p:sp>
        <p:nvSpPr>
          <p:cNvPr id="19" name="layer-question">
            <a:extLst xmlns:a="http://schemas.openxmlformats.org/drawingml/2006/main">
              <a:ext uri="{FF2B5EF4-FFF2-40B4-BE49-F238E27FC236}">
                <a16:creationId xmlns:a16="http://schemas.microsoft.com/office/drawing/2014/main" id="{E8663FDD-0B45-4978-8939-442AD8CA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stays auditable after compaction?  The immutable raw trace.</a:t>
            </a:r>
          </a:p>
        </p:txBody>
      </p:sp>
      <p:sp>
        <p:nvSpPr>
          <p:cNvPr id="20" name="eyebrow-55">
            <a:extLst xmlns:a="http://schemas.openxmlformats.org/drawingml/2006/main">
              <a:ext uri="{FF2B5EF4-FFF2-40B4-BE49-F238E27FC236}">
                <a16:creationId xmlns:a16="http://schemas.microsoft.com/office/drawing/2014/main" id="{083EA36E-3213-4C75-B43F-D31DF66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CH 6  /  CONTEXT + COST</a:t>
            </a:r>
          </a:p>
        </p:txBody>
      </p:sp>
      <p:sp>
        <p:nvSpPr>
          <p:cNvPr id="21" name="title-55">
            <a:extLst xmlns:a="http://schemas.openxmlformats.org/drawingml/2006/main">
              <a:ext uri="{FF2B5EF4-FFF2-40B4-BE49-F238E27FC236}">
                <a16:creationId xmlns:a16="http://schemas.microsoft.com/office/drawing/2014/main" id="{38233B2C-D925-4320-B388-6D63017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Retain decisions and latest evidence before old bytes</a:t>
            </a:r>
          </a:p>
        </p:txBody>
      </p:sp>
      <p:cxnSp>
        <p:nvCxnSpPr>
          <p:cNvPr id="45" name="header-rule-55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23" name="footer-55">
            <a:extLst xmlns:a="http://schemas.openxmlformats.org/drawingml/2006/main">
              <a:ext uri="{FF2B5EF4-FFF2-40B4-BE49-F238E27FC236}">
                <a16:creationId xmlns:a16="http://schemas.microsoft.com/office/drawing/2014/main" id="{9F034690-BE54-48A4-AFC4-25C00179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55   •   Context, usage, and cost</a:t>
            </a:r>
          </a:p>
        </p:txBody>
      </p:sp>
    </p:spTree>
    <p:extLst>
      <p:ext uri="{BB962C8B-B14F-4D97-AF65-F5344CB8AC3E}">
        <p14:creationId xmlns:p14="http://schemas.microsoft.com/office/powerpoint/2010/main" val="31058959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our-num-0">
            <a:extLst xmlns:a="http://schemas.openxmlformats.org/drawingml/2006/main">
              <a:ext uri="{FF2B5EF4-FFF2-40B4-BE49-F238E27FC236}">
                <a16:creationId xmlns:a16="http://schemas.microsoft.com/office/drawing/2014/main" id="{8E4C396B-D87C-4F0F-9D14-27BBCEF6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2" name="four-rule-0"/>
          <p:cNvCxnSpPr/>
          <p:nvPr/>
        </p:nvCxnSpPr>
        <p:spPr>
          <a:xfrm xmlns:a="http://schemas.openxmlformats.org/drawingml/2006/main">
            <a:off x="533400" y="2143125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3" name="four-title-0">
            <a:extLst xmlns:a="http://schemas.openxmlformats.org/drawingml/2006/main">
              <a:ext uri="{FF2B5EF4-FFF2-40B4-BE49-F238E27FC236}">
                <a16:creationId xmlns:a16="http://schemas.microsoft.com/office/drawing/2014/main" id="{4479BCD9-EDA9-4BE6-B938-48AFFD1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EXPLICIT HISTORY</a:t>
            </a:r>
          </a:p>
        </p:txBody>
      </p:sp>
      <p:sp>
        <p:nvSpPr>
          <p:cNvPr id="4" name="four-body-0">
            <a:extLst xmlns:a="http://schemas.openxmlformats.org/drawingml/2006/main">
              <a:ext uri="{FF2B5EF4-FFF2-40B4-BE49-F238E27FC236}">
                <a16:creationId xmlns:a16="http://schemas.microsoft.com/office/drawing/2014/main" id="{7F662060-496C-4605-91BE-CFBEEA2F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full control</a:t>
            </a:r>
          </a:p>
        </p:txBody>
      </p:sp>
      <p:sp>
        <p:nvSpPr>
          <p:cNvPr id="5" name="four-num-1">
            <a:extLst xmlns:a="http://schemas.openxmlformats.org/drawingml/2006/main">
              <a:ext uri="{FF2B5EF4-FFF2-40B4-BE49-F238E27FC236}">
                <a16:creationId xmlns:a16="http://schemas.microsoft.com/office/drawing/2014/main" id="{147FB98C-ECCA-4D00-BEB3-06C6F12A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26" name="four-rule-1"/>
          <p:cNvCxnSpPr/>
          <p:nvPr/>
        </p:nvCxnSpPr>
        <p:spPr>
          <a:xfrm xmlns:a="http://schemas.openxmlformats.org/drawingml/2006/main">
            <a:off x="6381750" y="2143125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7" name="four-title-1">
            <a:extLst xmlns:a="http://schemas.openxmlformats.org/drawingml/2006/main">
              <a:ext uri="{FF2B5EF4-FFF2-40B4-BE49-F238E27FC236}">
                <a16:creationId xmlns:a16="http://schemas.microsoft.com/office/drawing/2014/main" id="{3A74FC66-027C-4289-830B-1EABDAA8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PROVIDER STATE</a:t>
            </a:r>
          </a:p>
        </p:txBody>
      </p:sp>
      <p:sp>
        <p:nvSpPr>
          <p:cNvPr id="8" name="four-body-1">
            <a:extLst xmlns:a="http://schemas.openxmlformats.org/drawingml/2006/main">
              <a:ext uri="{FF2B5EF4-FFF2-40B4-BE49-F238E27FC236}">
                <a16:creationId xmlns:a16="http://schemas.microsoft.com/office/drawing/2014/main" id="{37940BC4-9D8D-4526-80F6-8925435B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delegated continuity</a:t>
            </a:r>
          </a:p>
        </p:txBody>
      </p:sp>
      <p:sp>
        <p:nvSpPr>
          <p:cNvPr id="9" name="four-num-2">
            <a:extLst xmlns:a="http://schemas.openxmlformats.org/drawingml/2006/main">
              <a:ext uri="{FF2B5EF4-FFF2-40B4-BE49-F238E27FC236}">
                <a16:creationId xmlns:a16="http://schemas.microsoft.com/office/drawing/2014/main" id="{BBA3EBCB-522F-4FD8-9C7D-6012570C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0" name="four-rule-2"/>
          <p:cNvCxnSpPr/>
          <p:nvPr/>
        </p:nvCxnSpPr>
        <p:spPr>
          <a:xfrm xmlns:a="http://schemas.openxmlformats.org/drawingml/2006/main">
            <a:off x="533400" y="42862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11" name="four-title-2">
            <a:extLst xmlns:a="http://schemas.openxmlformats.org/drawingml/2006/main">
              <a:ext uri="{FF2B5EF4-FFF2-40B4-BE49-F238E27FC236}">
                <a16:creationId xmlns:a16="http://schemas.microsoft.com/office/drawing/2014/main" id="{9376A9C9-4F85-40B3-9563-0A032156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COMPACTION</a:t>
            </a:r>
          </a:p>
        </p:txBody>
      </p:sp>
      <p:sp>
        <p:nvSpPr>
          <p:cNvPr id="12" name="four-body-2">
            <a:extLst xmlns:a="http://schemas.openxmlformats.org/drawingml/2006/main">
              <a:ext uri="{FF2B5EF4-FFF2-40B4-BE49-F238E27FC236}">
                <a16:creationId xmlns:a16="http://schemas.microsoft.com/office/drawing/2014/main" id="{5E158D72-39FF-46B8-BF13-F9F9F9EE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244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smaller prompt</a:t>
            </a:r>
          </a:p>
        </p:txBody>
      </p:sp>
      <p:sp>
        <p:nvSpPr>
          <p:cNvPr id="13" name="four-num-3">
            <a:extLst xmlns:a="http://schemas.openxmlformats.org/drawingml/2006/main">
              <a:ext uri="{FF2B5EF4-FFF2-40B4-BE49-F238E27FC236}">
                <a16:creationId xmlns:a16="http://schemas.microsoft.com/office/drawing/2014/main" id="{3B78FA83-D25D-407F-A807-AB8DB22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34" name="four-rule-3"/>
          <p:cNvCxnSpPr/>
          <p:nvPr/>
        </p:nvCxnSpPr>
        <p:spPr>
          <a:xfrm xmlns:a="http://schemas.openxmlformats.org/drawingml/2006/main">
            <a:off x="6381750" y="42862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15" name="four-title-3">
            <a:extLst xmlns:a="http://schemas.openxmlformats.org/drawingml/2006/main">
              <a:ext uri="{FF2B5EF4-FFF2-40B4-BE49-F238E27FC236}">
                <a16:creationId xmlns:a16="http://schemas.microsoft.com/office/drawing/2014/main" id="{F4A66F1D-F93A-4C7F-8DAB-26E64A2D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CACHING</a:t>
            </a:r>
          </a:p>
        </p:txBody>
      </p:sp>
      <p:sp>
        <p:nvSpPr>
          <p:cNvPr id="16" name="four-body-3">
            <a:extLst xmlns:a="http://schemas.openxmlformats.org/drawingml/2006/main">
              <a:ext uri="{FF2B5EF4-FFF2-40B4-BE49-F238E27FC236}">
                <a16:creationId xmlns:a16="http://schemas.microsoft.com/office/drawing/2014/main" id="{9E15EAEF-9B57-4A63-9240-A8A9460E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244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reuse prefix</a:t>
            </a:r>
          </a:p>
        </p:txBody>
      </p:sp>
      <p:sp>
        <p:nvSpPr>
          <p:cNvPr id="17" name="eyebrow-56">
            <a:extLst xmlns:a="http://schemas.openxmlformats.org/drawingml/2006/main">
              <a:ext uri="{FF2B5EF4-FFF2-40B4-BE49-F238E27FC236}">
                <a16:creationId xmlns:a16="http://schemas.microsoft.com/office/drawing/2014/main" id="{8288739B-1778-472B-B0FC-EA7FD0BD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6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6B18"/>
                </a:solidFill>
                <a:latin typeface="Aptos"/>
                <a:ea typeface="Aptos"/>
                <a:cs typeface="Aptos"/>
              </a:rPr>
              <a:t>CH 6  /  CONTEXT + COST</a:t>
            </a:r>
          </a:p>
        </p:txBody>
      </p:sp>
      <p:sp>
        <p:nvSpPr>
          <p:cNvPr id="18" name="title-56">
            <a:extLst xmlns:a="http://schemas.openxmlformats.org/drawingml/2006/main">
              <a:ext uri="{FF2B5EF4-FFF2-40B4-BE49-F238E27FC236}">
                <a16:creationId xmlns:a16="http://schemas.microsoft.com/office/drawing/2014/main" id="{BD335558-E275-424A-8ABB-4806CD68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Every context strategy is finite and measurable</a:t>
            </a:r>
          </a:p>
        </p:txBody>
      </p:sp>
      <p:cxnSp>
        <p:nvCxnSpPr>
          <p:cNvPr id="39" name="header-rule-56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B18"/>
            </a:solidFill>
            <a:prstDash val="solid"/>
          </a:ln>
        </p:spPr>
      </p:cxnSp>
      <p:sp>
        <p:nvSpPr>
          <p:cNvPr id="20" name="footer-56">
            <a:extLst xmlns:a="http://schemas.openxmlformats.org/drawingml/2006/main">
              <a:ext uri="{FF2B5EF4-FFF2-40B4-BE49-F238E27FC236}">
                <a16:creationId xmlns:a16="http://schemas.microsoft.com/office/drawing/2014/main" id="{88318976-474F-43F7-B9B4-7E12771A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56   •   Context, usage, and cost</a:t>
            </a:r>
          </a:p>
        </p:txBody>
      </p:sp>
    </p:spTree>
    <p:extLst>
      <p:ext uri="{BB962C8B-B14F-4D97-AF65-F5344CB8AC3E}">
        <p14:creationId xmlns:p14="http://schemas.microsoft.com/office/powerpoint/2010/main" val="4821582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A18DBA4A-7108-4D19-875B-7A37CE66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CAE7DBA9-3BCB-43AD-9170-9CD2801E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Which component must decide?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0773985A-C9CC-45E7-941B-D4648C92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BEC3C67B-E97F-4998-886C-7D3C9DA2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041AB27F-AC1C-4E16-897D-8DBFA50A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system prompt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EC6D8C91-ADE0-44F0-90BD-1F3CDC6F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C598CE49-AEA4-4D76-9A82-A350526F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FD51E589-ADD4-47E1-8532-6F937236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model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13AC514E-D5DD-4ABA-9457-ABC4A308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9F26CA6D-4E0B-46BB-A337-2B3E0A2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A01D4E29-5820-43ED-AE4A-D899EC31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dispatcher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4AB3CAEB-80FC-4E04-932C-0E329B7A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3DEA9237-A13A-42CE-8A87-7D635B6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4AF622F8-3824-4ABE-9B6C-DF1B9E90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dispatcher resolves and rejects the path before any read.</a:t>
            </a:r>
          </a:p>
        </p:txBody>
      </p:sp>
      <p:sp>
        <p:nvSpPr>
          <p:cNvPr id="15" name="eyebrow-57">
            <a:extLst xmlns:a="http://schemas.openxmlformats.org/drawingml/2006/main">
              <a:ext uri="{FF2B5EF4-FFF2-40B4-BE49-F238E27FC236}">
                <a16:creationId xmlns:a16="http://schemas.microsoft.com/office/drawing/2014/main" id="{DE298672-8C10-43BD-85C9-065B5E0C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CH 7  /  SAFETY + EVALS</a:t>
            </a:r>
          </a:p>
        </p:txBody>
      </p:sp>
      <p:sp>
        <p:nvSpPr>
          <p:cNvPr id="16" name="title-57">
            <a:extLst xmlns:a="http://schemas.openxmlformats.org/drawingml/2006/main">
              <a:ext uri="{FF2B5EF4-FFF2-40B4-BE49-F238E27FC236}">
                <a16:creationId xmlns:a16="http://schemas.microsoft.com/office/drawing/2014/main" id="{0A00E31A-C5D0-4C9A-8C71-27493CA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prompt says stay inside; the call says ../../private.txt</a:t>
            </a:r>
          </a:p>
        </p:txBody>
      </p:sp>
      <p:cxnSp>
        <p:nvCxnSpPr>
          <p:cNvPr id="35" name="header-rule-57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18" name="footer-57">
            <a:extLst xmlns:a="http://schemas.openxmlformats.org/drawingml/2006/main">
              <a:ext uri="{FF2B5EF4-FFF2-40B4-BE49-F238E27FC236}">
                <a16:creationId xmlns:a16="http://schemas.microsoft.com/office/drawing/2014/main" id="{8212AD13-3B06-4464-BC93-3E5245B9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57   •   Safety architecture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510121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de-frame">
            <a:extLst xmlns:a="http://schemas.openxmlformats.org/drawingml/2006/main">
              <a:ext uri="{FF2B5EF4-FFF2-40B4-BE49-F238E27FC236}">
                <a16:creationId xmlns:a16="http://schemas.microsoft.com/office/drawing/2014/main" id="{B7FB9AD2-CECF-4D92-8D2A-1A4153A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6667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2" name="code-text">
            <a:extLst xmlns:a="http://schemas.openxmlformats.org/drawingml/2006/main">
              <a:ext uri="{FF2B5EF4-FFF2-40B4-BE49-F238E27FC236}">
                <a16:creationId xmlns:a16="http://schemas.microsoft.com/office/drawing/2014/main" id="{48A1F7C3-CD71-4C8A-ADFF-633DF563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60960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"ok": false,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"error": {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"code": "path_outside_workspace",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  "message": "target rejected"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  "tool_call_id": "call_escape"</a:t>
            </a:r>
          </a:p>
          <a:p xmlns:a="http://schemas.openxmlformats.org/drawingml/2006/main">
            <a:pPr algn="l">
              <a:defRPr sz="1350" b="0">
                <a:solidFill>
                  <a:srgbClr val="D8E3F2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3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code-callout">
            <a:extLst xmlns:a="http://schemas.openxmlformats.org/drawingml/2006/main">
              <a:ext uri="{FF2B5EF4-FFF2-40B4-BE49-F238E27FC236}">
                <a16:creationId xmlns:a16="http://schemas.microsoft.com/office/drawing/2014/main" id="{9CB608AF-F397-4DF7-AAEB-777DE6C3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Evidence to keep</a:t>
            </a:r>
          </a:p>
        </p:txBody>
      </p:sp>
      <p:sp>
        <p:nvSpPr>
          <p:cNvPr id="4" name="code-bullets">
            <a:extLst xmlns:a="http://schemas.openxmlformats.org/drawingml/2006/main">
              <a:ext uri="{FF2B5EF4-FFF2-40B4-BE49-F238E27FC236}">
                <a16:creationId xmlns:a16="http://schemas.microsoft.com/office/drawing/2014/main" id="{3D4B4B48-25E2-4470-B90C-CA833FC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571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Typed code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Matched call ID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No file content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• Trace timestamp</a:t>
            </a:r>
          </a:p>
        </p:txBody>
      </p:sp>
      <p:sp>
        <p:nvSpPr>
          <p:cNvPr id="5" name="code-evidence">
            <a:extLst xmlns:a="http://schemas.openxmlformats.org/drawingml/2006/main">
              <a:ext uri="{FF2B5EF4-FFF2-40B4-BE49-F238E27FC236}">
                <a16:creationId xmlns:a16="http://schemas.microsoft.com/office/drawing/2014/main" id="{B588F348-AE9C-49F6-896F-C6C2FB8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0"/>
            <a:ext cx="3571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evidence-text">
            <a:extLst xmlns:a="http://schemas.openxmlformats.org/drawingml/2006/main">
              <a:ext uri="{FF2B5EF4-FFF2-40B4-BE49-F238E27FC236}">
                <a16:creationId xmlns:a16="http://schemas.microsoft.com/office/drawing/2014/main" id="{C66E024D-E986-4491-9E52-E37AA7E5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102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Inspect the bytes before trusting the claim.</a:t>
            </a:r>
          </a:p>
        </p:txBody>
      </p:sp>
      <p:sp>
        <p:nvSpPr>
          <p:cNvPr id="7" name="eyebrow-58">
            <a:extLst xmlns:a="http://schemas.openxmlformats.org/drawingml/2006/main">
              <a:ext uri="{FF2B5EF4-FFF2-40B4-BE49-F238E27FC236}">
                <a16:creationId xmlns:a16="http://schemas.microsoft.com/office/drawing/2014/main" id="{D22E265B-651E-43BA-BCED-8D8EFB76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CH 7  /  SAFETY + EVALS</a:t>
            </a:r>
          </a:p>
        </p:txBody>
      </p:sp>
      <p:sp>
        <p:nvSpPr>
          <p:cNvPr id="8" name="title-58">
            <a:extLst xmlns:a="http://schemas.openxmlformats.org/drawingml/2006/main">
              <a:ext uri="{FF2B5EF4-FFF2-40B4-BE49-F238E27FC236}">
                <a16:creationId xmlns:a16="http://schemas.microsoft.com/office/drawing/2014/main" id="{A8EFECFB-0CB1-4740-A4F6-9E98A358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Enforcement turns policy into a deterministic rejection</a:t>
            </a:r>
          </a:p>
        </p:txBody>
      </p:sp>
      <p:cxnSp>
        <p:nvCxnSpPr>
          <p:cNvPr id="19" name="header-rule-58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10" name="footer-58">
            <a:extLst xmlns:a="http://schemas.openxmlformats.org/drawingml/2006/main">
              <a:ext uri="{FF2B5EF4-FFF2-40B4-BE49-F238E27FC236}">
                <a16:creationId xmlns:a16="http://schemas.microsoft.com/office/drawing/2014/main" id="{B64F9095-2CDE-40BA-A50F-EB77E500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58   •   Safety architecture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179785731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matrix-head-0">
            <a:extLst xmlns:a="http://schemas.openxmlformats.org/drawingml/2006/main">
              <a:ext uri="{FF2B5EF4-FFF2-40B4-BE49-F238E27FC236}">
                <a16:creationId xmlns:a16="http://schemas.microsoft.com/office/drawing/2014/main" id="{A8C74069-E507-4041-BF9C-6DFDCEF8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2" name="matrix-head-text-0">
            <a:extLst xmlns:a="http://schemas.openxmlformats.org/drawingml/2006/main">
              <a:ext uri="{FF2B5EF4-FFF2-40B4-BE49-F238E27FC236}">
                <a16:creationId xmlns:a16="http://schemas.microsoft.com/office/drawing/2014/main" id="{AE53466F-3E12-47F8-899E-B4ADBF4C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THREAT</a:t>
            </a:r>
          </a:p>
        </p:txBody>
      </p:sp>
      <p:sp>
        <p:nvSpPr>
          <p:cNvPr id="3" name="matrix-head-1">
            <a:extLst xmlns:a="http://schemas.openxmlformats.org/drawingml/2006/main">
              <a:ext uri="{FF2B5EF4-FFF2-40B4-BE49-F238E27FC236}">
                <a16:creationId xmlns:a16="http://schemas.microsoft.com/office/drawing/2014/main" id="{5AEEA760-6A75-4963-8692-75702D8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002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4" name="matrix-head-text-1">
            <a:extLst xmlns:a="http://schemas.openxmlformats.org/drawingml/2006/main">
              <a:ext uri="{FF2B5EF4-FFF2-40B4-BE49-F238E27FC236}">
                <a16:creationId xmlns:a16="http://schemas.microsoft.com/office/drawing/2014/main" id="{A85AF3F3-E462-4060-8C2D-65FD940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02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ENTRY</a:t>
            </a:r>
          </a:p>
        </p:txBody>
      </p:sp>
      <p:sp>
        <p:nvSpPr>
          <p:cNvPr id="5" name="matrix-head-2">
            <a:extLst xmlns:a="http://schemas.openxmlformats.org/drawingml/2006/main">
              <a:ext uri="{FF2B5EF4-FFF2-40B4-BE49-F238E27FC236}">
                <a16:creationId xmlns:a16="http://schemas.microsoft.com/office/drawing/2014/main" id="{2C96EBA7-6EF6-4D4D-A2F1-EC174D22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6" name="matrix-head-text-2">
            <a:extLst xmlns:a="http://schemas.openxmlformats.org/drawingml/2006/main">
              <a:ext uri="{FF2B5EF4-FFF2-40B4-BE49-F238E27FC236}">
                <a16:creationId xmlns:a16="http://schemas.microsoft.com/office/drawing/2014/main" id="{0389CD3F-B656-4B40-AE85-A21546CF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7" name="matrix-bg-0-0">
            <a:extLst xmlns:a="http://schemas.openxmlformats.org/drawingml/2006/main">
              <a:ext uri="{FF2B5EF4-FFF2-40B4-BE49-F238E27FC236}">
                <a16:creationId xmlns:a16="http://schemas.microsoft.com/office/drawing/2014/main" id="{1A6BED5E-0939-417A-8F0E-129183AD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trix-0-0">
            <a:extLst xmlns:a="http://schemas.openxmlformats.org/drawingml/2006/main">
              <a:ext uri="{FF2B5EF4-FFF2-40B4-BE49-F238E27FC236}">
                <a16:creationId xmlns:a16="http://schemas.microsoft.com/office/drawing/2014/main" id="{1DF4B8EF-A848-4DDE-AA09-C562737B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Injection</a:t>
            </a:r>
          </a:p>
        </p:txBody>
      </p:sp>
      <p:cxnSp>
        <p:nvCxnSpPr>
          <p:cNvPr id="64" name="matrix-line-0-0"/>
          <p:cNvCxnSpPr/>
          <p:nvPr/>
        </p:nvCxnSpPr>
        <p:spPr>
          <a:xfrm xmlns:a="http://schemas.openxmlformats.org/drawingml/2006/main">
            <a:off x="533400" y="27432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0" name="matrix-0-1">
            <a:extLst xmlns:a="http://schemas.openxmlformats.org/drawingml/2006/main">
              <a:ext uri="{FF2B5EF4-FFF2-40B4-BE49-F238E27FC236}">
                <a16:creationId xmlns:a16="http://schemas.microsoft.com/office/drawing/2014/main" id="{5E6592A9-5D21-4CAC-BA30-1B19F8EA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repo text</a:t>
            </a:r>
          </a:p>
        </p:txBody>
      </p:sp>
      <p:cxnSp>
        <p:nvCxnSpPr>
          <p:cNvPr id="66" name="matrix-line-0-1"/>
          <p:cNvCxnSpPr/>
          <p:nvPr/>
        </p:nvCxnSpPr>
        <p:spPr>
          <a:xfrm xmlns:a="http://schemas.openxmlformats.org/drawingml/2006/main">
            <a:off x="4724400" y="27432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2" name="matrix-bg-0-2">
            <a:extLst xmlns:a="http://schemas.openxmlformats.org/drawingml/2006/main">
              <a:ext uri="{FF2B5EF4-FFF2-40B4-BE49-F238E27FC236}">
                <a16:creationId xmlns:a16="http://schemas.microsoft.com/office/drawing/2014/main" id="{A38CF8E2-1DB2-4477-BA37-81E699A7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3695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trix-0-2">
            <a:extLst xmlns:a="http://schemas.openxmlformats.org/drawingml/2006/main">
              <a:ext uri="{FF2B5EF4-FFF2-40B4-BE49-F238E27FC236}">
                <a16:creationId xmlns:a16="http://schemas.microsoft.com/office/drawing/2014/main" id="{605EF0B9-4B93-417A-94F1-C455B321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treat as data</a:t>
            </a:r>
          </a:p>
        </p:txBody>
      </p:sp>
      <p:cxnSp>
        <p:nvCxnSpPr>
          <p:cNvPr id="69" name="matrix-line-0-2"/>
          <p:cNvCxnSpPr/>
          <p:nvPr/>
        </p:nvCxnSpPr>
        <p:spPr>
          <a:xfrm xmlns:a="http://schemas.openxmlformats.org/drawingml/2006/main">
            <a:off x="7962900" y="27432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5" name="matrix-1-0">
            <a:extLst xmlns:a="http://schemas.openxmlformats.org/drawingml/2006/main">
              <a:ext uri="{FF2B5EF4-FFF2-40B4-BE49-F238E27FC236}">
                <a16:creationId xmlns:a16="http://schemas.microsoft.com/office/drawing/2014/main" id="{E363126B-DDC6-4BF5-BC43-CD99D6D8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Excess agency</a:t>
            </a:r>
          </a:p>
        </p:txBody>
      </p:sp>
      <p:cxnSp>
        <p:nvCxnSpPr>
          <p:cNvPr id="71" name="matrix-line-1-0"/>
          <p:cNvCxnSpPr/>
          <p:nvPr/>
        </p:nvCxnSpPr>
        <p:spPr>
          <a:xfrm xmlns:a="http://schemas.openxmlformats.org/drawingml/2006/main">
            <a:off x="533400" y="333375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7" name="matrix-bg-1-1">
            <a:extLst xmlns:a="http://schemas.openxmlformats.org/drawingml/2006/main">
              <a:ext uri="{FF2B5EF4-FFF2-40B4-BE49-F238E27FC236}">
                <a16:creationId xmlns:a16="http://schemas.microsoft.com/office/drawing/2014/main" id="{680DA98A-E823-4F86-9810-B2209960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432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trix-1-1">
            <a:extLst xmlns:a="http://schemas.openxmlformats.org/drawingml/2006/main">
              <a:ext uri="{FF2B5EF4-FFF2-40B4-BE49-F238E27FC236}">
                <a16:creationId xmlns:a16="http://schemas.microsoft.com/office/drawing/2014/main" id="{4E26A05D-9799-4F45-85C2-550BFD0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broad tools</a:t>
            </a:r>
          </a:p>
        </p:txBody>
      </p:sp>
      <p:cxnSp>
        <p:nvCxnSpPr>
          <p:cNvPr id="74" name="matrix-line-1-1"/>
          <p:cNvCxnSpPr/>
          <p:nvPr/>
        </p:nvCxnSpPr>
        <p:spPr>
          <a:xfrm xmlns:a="http://schemas.openxmlformats.org/drawingml/2006/main">
            <a:off x="4724400" y="33337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0" name="matrix-1-2">
            <a:extLst xmlns:a="http://schemas.openxmlformats.org/drawingml/2006/main">
              <a:ext uri="{FF2B5EF4-FFF2-40B4-BE49-F238E27FC236}">
                <a16:creationId xmlns:a16="http://schemas.microsoft.com/office/drawing/2014/main" id="{64C22CED-B082-48A3-9797-A718A44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least capability</a:t>
            </a:r>
          </a:p>
        </p:txBody>
      </p:sp>
      <p:cxnSp>
        <p:nvCxnSpPr>
          <p:cNvPr id="76" name="matrix-line-1-2"/>
          <p:cNvCxnSpPr/>
          <p:nvPr/>
        </p:nvCxnSpPr>
        <p:spPr>
          <a:xfrm xmlns:a="http://schemas.openxmlformats.org/drawingml/2006/main">
            <a:off x="7962900" y="333375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2" name="matrix-bg-2-0">
            <a:extLst xmlns:a="http://schemas.openxmlformats.org/drawingml/2006/main">
              <a:ext uri="{FF2B5EF4-FFF2-40B4-BE49-F238E27FC236}">
                <a16:creationId xmlns:a16="http://schemas.microsoft.com/office/drawing/2014/main" id="{91B0A1C7-CFB6-4253-911F-8080275B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atrix-2-0">
            <a:extLst xmlns:a="http://schemas.openxmlformats.org/drawingml/2006/main">
              <a:ext uri="{FF2B5EF4-FFF2-40B4-BE49-F238E27FC236}">
                <a16:creationId xmlns:a16="http://schemas.microsoft.com/office/drawing/2014/main" id="{F7B810C1-ED9C-4422-9C1B-9F4C308D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Bad output</a:t>
            </a:r>
          </a:p>
        </p:txBody>
      </p:sp>
      <p:cxnSp>
        <p:nvCxnSpPr>
          <p:cNvPr id="79" name="matrix-line-2-0"/>
          <p:cNvCxnSpPr/>
          <p:nvPr/>
        </p:nvCxnSpPr>
        <p:spPr>
          <a:xfrm xmlns:a="http://schemas.openxmlformats.org/drawingml/2006/main">
            <a:off x="533400" y="39243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5" name="matrix-2-1">
            <a:extLst xmlns:a="http://schemas.openxmlformats.org/drawingml/2006/main">
              <a:ext uri="{FF2B5EF4-FFF2-40B4-BE49-F238E27FC236}">
                <a16:creationId xmlns:a16="http://schemas.microsoft.com/office/drawing/2014/main" id="{06D35D5F-CB57-4C78-85E8-C36F3502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tool result</a:t>
            </a:r>
          </a:p>
        </p:txBody>
      </p:sp>
      <p:cxnSp>
        <p:nvCxnSpPr>
          <p:cNvPr id="81" name="matrix-line-2-1"/>
          <p:cNvCxnSpPr/>
          <p:nvPr/>
        </p:nvCxnSpPr>
        <p:spPr>
          <a:xfrm xmlns:a="http://schemas.openxmlformats.org/drawingml/2006/main">
            <a:off x="4724400" y="39243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7" name="matrix-bg-2-2">
            <a:extLst xmlns:a="http://schemas.openxmlformats.org/drawingml/2006/main">
              <a:ext uri="{FF2B5EF4-FFF2-40B4-BE49-F238E27FC236}">
                <a16:creationId xmlns:a16="http://schemas.microsoft.com/office/drawing/2014/main" id="{DFC034C6-18F9-4A24-A4B8-9B99F52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695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atrix-2-2">
            <a:extLst xmlns:a="http://schemas.openxmlformats.org/drawingml/2006/main">
              <a:ext uri="{FF2B5EF4-FFF2-40B4-BE49-F238E27FC236}">
                <a16:creationId xmlns:a16="http://schemas.microsoft.com/office/drawing/2014/main" id="{4E2CB298-D3F2-478E-9F03-4EC507B5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validate + encode</a:t>
            </a:r>
          </a:p>
        </p:txBody>
      </p:sp>
      <p:cxnSp>
        <p:nvCxnSpPr>
          <p:cNvPr id="84" name="matrix-line-2-2"/>
          <p:cNvCxnSpPr/>
          <p:nvPr/>
        </p:nvCxnSpPr>
        <p:spPr>
          <a:xfrm xmlns:a="http://schemas.openxmlformats.org/drawingml/2006/main">
            <a:off x="7962900" y="3924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0" name="matrix-3-0">
            <a:extLst xmlns:a="http://schemas.openxmlformats.org/drawingml/2006/main">
              <a:ext uri="{FF2B5EF4-FFF2-40B4-BE49-F238E27FC236}">
                <a16:creationId xmlns:a16="http://schemas.microsoft.com/office/drawing/2014/main" id="{2F8B703F-3844-4381-B30E-B42CA091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cxnSp>
        <p:nvCxnSpPr>
          <p:cNvPr id="86" name="matrix-line-3-0"/>
          <p:cNvCxnSpPr/>
          <p:nvPr/>
        </p:nvCxnSpPr>
        <p:spPr>
          <a:xfrm xmlns:a="http://schemas.openxmlformats.org/drawingml/2006/main">
            <a:off x="533400" y="451485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2" name="matrix-bg-3-1">
            <a:extLst xmlns:a="http://schemas.openxmlformats.org/drawingml/2006/main">
              <a:ext uri="{FF2B5EF4-FFF2-40B4-BE49-F238E27FC236}">
                <a16:creationId xmlns:a16="http://schemas.microsoft.com/office/drawing/2014/main" id="{C3035020-89B4-4662-AC21-5C8A565C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243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atrix-3-1">
            <a:extLst xmlns:a="http://schemas.openxmlformats.org/drawingml/2006/main">
              <a:ext uri="{FF2B5EF4-FFF2-40B4-BE49-F238E27FC236}">
                <a16:creationId xmlns:a16="http://schemas.microsoft.com/office/drawing/2014/main" id="{15C4AD09-8BA6-4F90-986C-AC832FE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cxnSp>
        <p:nvCxnSpPr>
          <p:cNvPr id="89" name="matrix-line-3-1"/>
          <p:cNvCxnSpPr/>
          <p:nvPr/>
        </p:nvCxnSpPr>
        <p:spPr>
          <a:xfrm xmlns:a="http://schemas.openxmlformats.org/drawingml/2006/main">
            <a:off x="4724400" y="45148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5" name="matrix-3-2">
            <a:extLst xmlns:a="http://schemas.openxmlformats.org/drawingml/2006/main">
              <a:ext uri="{FF2B5EF4-FFF2-40B4-BE49-F238E27FC236}">
                <a16:creationId xmlns:a16="http://schemas.microsoft.com/office/drawing/2014/main" id="{2320D367-F30B-4F92-8A35-BEBB4374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remove + redact</a:t>
            </a:r>
          </a:p>
        </p:txBody>
      </p:sp>
      <p:cxnSp>
        <p:nvCxnSpPr>
          <p:cNvPr id="91" name="matrix-line-3-2"/>
          <p:cNvCxnSpPr/>
          <p:nvPr/>
        </p:nvCxnSpPr>
        <p:spPr>
          <a:xfrm xmlns:a="http://schemas.openxmlformats.org/drawingml/2006/main">
            <a:off x="7962900" y="451485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37" name="matrix-bg-4-0">
            <a:extLst xmlns:a="http://schemas.openxmlformats.org/drawingml/2006/main">
              <a:ext uri="{FF2B5EF4-FFF2-40B4-BE49-F238E27FC236}">
                <a16:creationId xmlns:a16="http://schemas.microsoft.com/office/drawing/2014/main" id="{B0041B01-91EE-49FB-9ECC-FA2B544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atrix-4-0">
            <a:extLst xmlns:a="http://schemas.openxmlformats.org/drawingml/2006/main">
              <a:ext uri="{FF2B5EF4-FFF2-40B4-BE49-F238E27FC236}">
                <a16:creationId xmlns:a16="http://schemas.microsoft.com/office/drawing/2014/main" id="{FA727D5D-2883-45AE-801C-8C258AE6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Exhaustion</a:t>
            </a:r>
          </a:p>
        </p:txBody>
      </p:sp>
      <p:cxnSp>
        <p:nvCxnSpPr>
          <p:cNvPr id="94" name="matrix-line-4-0"/>
          <p:cNvCxnSpPr/>
          <p:nvPr/>
        </p:nvCxnSpPr>
        <p:spPr>
          <a:xfrm xmlns:a="http://schemas.openxmlformats.org/drawingml/2006/main">
            <a:off x="533400" y="51054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40" name="matrix-4-1">
            <a:extLst xmlns:a="http://schemas.openxmlformats.org/drawingml/2006/main">
              <a:ext uri="{FF2B5EF4-FFF2-40B4-BE49-F238E27FC236}">
                <a16:creationId xmlns:a16="http://schemas.microsoft.com/office/drawing/2014/main" id="{D49A1FBD-A19F-47B8-AE46-CAA4B00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148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loop/output</a:t>
            </a:r>
          </a:p>
        </p:txBody>
      </p:sp>
      <p:cxnSp>
        <p:nvCxnSpPr>
          <p:cNvPr id="96" name="matrix-line-4-1"/>
          <p:cNvCxnSpPr/>
          <p:nvPr/>
        </p:nvCxnSpPr>
        <p:spPr>
          <a:xfrm xmlns:a="http://schemas.openxmlformats.org/drawingml/2006/main">
            <a:off x="4724400" y="51054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42" name="matrix-bg-4-2">
            <a:extLst xmlns:a="http://schemas.openxmlformats.org/drawingml/2006/main">
              <a:ext uri="{FF2B5EF4-FFF2-40B4-BE49-F238E27FC236}">
                <a16:creationId xmlns:a16="http://schemas.microsoft.com/office/drawing/2014/main" id="{8F19CA04-7DC7-4B06-8B06-1A49DF20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3695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atrix-4-2">
            <a:extLst xmlns:a="http://schemas.openxmlformats.org/drawingml/2006/main">
              <a:ext uri="{FF2B5EF4-FFF2-40B4-BE49-F238E27FC236}">
                <a16:creationId xmlns:a16="http://schemas.microsoft.com/office/drawing/2014/main" id="{79CE3709-DE74-48D1-89D9-E30ECA5F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hard limits</a:t>
            </a:r>
          </a:p>
        </p:txBody>
      </p:sp>
      <p:cxnSp>
        <p:nvCxnSpPr>
          <p:cNvPr id="99" name="matrix-line-4-2"/>
          <p:cNvCxnSpPr/>
          <p:nvPr/>
        </p:nvCxnSpPr>
        <p:spPr>
          <a:xfrm xmlns:a="http://schemas.openxmlformats.org/drawingml/2006/main">
            <a:off x="7962900" y="51054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45" name="matrix-5-0">
            <a:extLst xmlns:a="http://schemas.openxmlformats.org/drawingml/2006/main">
              <a:ext uri="{FF2B5EF4-FFF2-40B4-BE49-F238E27FC236}">
                <a16:creationId xmlns:a16="http://schemas.microsoft.com/office/drawing/2014/main" id="{A5681329-6E58-4EE6-963F-CFAE4BF1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False success</a:t>
            </a:r>
          </a:p>
        </p:txBody>
      </p:sp>
      <p:cxnSp>
        <p:nvCxnSpPr>
          <p:cNvPr id="101" name="matrix-line-5-0"/>
          <p:cNvCxnSpPr/>
          <p:nvPr/>
        </p:nvCxnSpPr>
        <p:spPr>
          <a:xfrm xmlns:a="http://schemas.openxmlformats.org/drawingml/2006/main">
            <a:off x="533400" y="569595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47" name="matrix-bg-5-1">
            <a:extLst xmlns:a="http://schemas.openxmlformats.org/drawingml/2006/main">
              <a:ext uri="{FF2B5EF4-FFF2-40B4-BE49-F238E27FC236}">
                <a16:creationId xmlns:a16="http://schemas.microsoft.com/office/drawing/2014/main" id="{CCE23C6B-0CD9-47BB-8D80-CDE418E1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054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atrix-5-1">
            <a:extLst xmlns:a="http://schemas.openxmlformats.org/drawingml/2006/main">
              <a:ext uri="{FF2B5EF4-FFF2-40B4-BE49-F238E27FC236}">
                <a16:creationId xmlns:a16="http://schemas.microsoft.com/office/drawing/2014/main" id="{42D4538F-B0C3-4509-B133-067D994E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054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final claim</a:t>
            </a:r>
          </a:p>
        </p:txBody>
      </p:sp>
      <p:cxnSp>
        <p:nvCxnSpPr>
          <p:cNvPr id="104" name="matrix-line-5-1"/>
          <p:cNvCxnSpPr/>
          <p:nvPr/>
        </p:nvCxnSpPr>
        <p:spPr>
          <a:xfrm xmlns:a="http://schemas.openxmlformats.org/drawingml/2006/main">
            <a:off x="4724400" y="56959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50" name="matrix-5-2">
            <a:extLst xmlns:a="http://schemas.openxmlformats.org/drawingml/2006/main">
              <a:ext uri="{FF2B5EF4-FFF2-40B4-BE49-F238E27FC236}">
                <a16:creationId xmlns:a16="http://schemas.microsoft.com/office/drawing/2014/main" id="{BD8914CA-0255-47CE-8CE7-FD2521B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evidence gate</a:t>
            </a:r>
          </a:p>
        </p:txBody>
      </p:sp>
      <p:cxnSp>
        <p:nvCxnSpPr>
          <p:cNvPr id="106" name="matrix-line-5-2"/>
          <p:cNvCxnSpPr/>
          <p:nvPr/>
        </p:nvCxnSpPr>
        <p:spPr>
          <a:xfrm xmlns:a="http://schemas.openxmlformats.org/drawingml/2006/main">
            <a:off x="7962900" y="569595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52" name="eyebrow-59">
            <a:extLst xmlns:a="http://schemas.openxmlformats.org/drawingml/2006/main">
              <a:ext uri="{FF2B5EF4-FFF2-40B4-BE49-F238E27FC236}">
                <a16:creationId xmlns:a16="http://schemas.microsoft.com/office/drawing/2014/main" id="{34CD49EF-16A3-40DF-B788-39CB57CA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CH 7  /  SAFETY + EVALS</a:t>
            </a:r>
          </a:p>
        </p:txBody>
      </p:sp>
      <p:sp>
        <p:nvSpPr>
          <p:cNvPr id="53" name="title-59">
            <a:extLst xmlns:a="http://schemas.openxmlformats.org/drawingml/2006/main">
              <a:ext uri="{FF2B5EF4-FFF2-40B4-BE49-F238E27FC236}">
                <a16:creationId xmlns:a16="http://schemas.microsoft.com/office/drawing/2014/main" id="{FC7EE945-35EB-4E05-92A6-AF0C78AF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Threats differ by where they enter and what they affect</a:t>
            </a:r>
          </a:p>
        </p:txBody>
      </p:sp>
      <p:cxnSp>
        <p:nvCxnSpPr>
          <p:cNvPr id="109" name="header-rule-59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55" name="footer-59">
            <a:extLst xmlns:a="http://schemas.openxmlformats.org/drawingml/2006/main">
              <a:ext uri="{FF2B5EF4-FFF2-40B4-BE49-F238E27FC236}">
                <a16:creationId xmlns:a16="http://schemas.microsoft.com/office/drawing/2014/main" id="{F6E23EDF-F5E1-455E-AC6B-CD7E600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59   •   Safety architecture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44333059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our-num-0">
            <a:extLst xmlns:a="http://schemas.openxmlformats.org/drawingml/2006/main">
              <a:ext uri="{FF2B5EF4-FFF2-40B4-BE49-F238E27FC236}">
                <a16:creationId xmlns:a16="http://schemas.microsoft.com/office/drawing/2014/main" id="{0B875329-957A-4E18-A924-A93D9E5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2" name="four-rule-0"/>
          <p:cNvCxnSpPr/>
          <p:nvPr/>
        </p:nvCxnSpPr>
        <p:spPr>
          <a:xfrm xmlns:a="http://schemas.openxmlformats.org/drawingml/2006/main">
            <a:off x="533400" y="2143125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3" name="four-title-0">
            <a:extLst xmlns:a="http://schemas.openxmlformats.org/drawingml/2006/main">
              <a:ext uri="{FF2B5EF4-FFF2-40B4-BE49-F238E27FC236}">
                <a16:creationId xmlns:a16="http://schemas.microsoft.com/office/drawing/2014/main" id="{FCB03D6B-A489-46DA-9055-9DB7F6E5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4" name="four-body-0">
            <a:extLst xmlns:a="http://schemas.openxmlformats.org/drawingml/2006/main">
              <a:ext uri="{FF2B5EF4-FFF2-40B4-BE49-F238E27FC236}">
                <a16:creationId xmlns:a16="http://schemas.microsoft.com/office/drawing/2014/main" id="{99153373-82E1-4F04-AC89-78633FF7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5" name="four-num-1">
            <a:extLst xmlns:a="http://schemas.openxmlformats.org/drawingml/2006/main">
              <a:ext uri="{FF2B5EF4-FFF2-40B4-BE49-F238E27FC236}">
                <a16:creationId xmlns:a16="http://schemas.microsoft.com/office/drawing/2014/main" id="{FA94E99F-3C73-40CE-B15E-56B606F4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26" name="four-rule-1"/>
          <p:cNvCxnSpPr/>
          <p:nvPr/>
        </p:nvCxnSpPr>
        <p:spPr>
          <a:xfrm xmlns:a="http://schemas.openxmlformats.org/drawingml/2006/main">
            <a:off x="6381750" y="2143125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7" name="four-title-1">
            <a:extLst xmlns:a="http://schemas.openxmlformats.org/drawingml/2006/main">
              <a:ext uri="{FF2B5EF4-FFF2-40B4-BE49-F238E27FC236}">
                <a16:creationId xmlns:a16="http://schemas.microsoft.com/office/drawing/2014/main" id="{AE4AA980-8AE9-4140-8A76-4CA0395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AUTHORIZATION</a:t>
            </a:r>
          </a:p>
        </p:txBody>
      </p:sp>
      <p:sp>
        <p:nvSpPr>
          <p:cNvPr id="8" name="four-body-1">
            <a:extLst xmlns:a="http://schemas.openxmlformats.org/drawingml/2006/main">
              <a:ext uri="{FF2B5EF4-FFF2-40B4-BE49-F238E27FC236}">
                <a16:creationId xmlns:a16="http://schemas.microsoft.com/office/drawing/2014/main" id="{102CC225-5074-404E-B3DD-0A289ED1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is allowed now</a:t>
            </a:r>
          </a:p>
        </p:txBody>
      </p:sp>
      <p:sp>
        <p:nvSpPr>
          <p:cNvPr id="9" name="four-num-2">
            <a:extLst xmlns:a="http://schemas.openxmlformats.org/drawingml/2006/main">
              <a:ext uri="{FF2B5EF4-FFF2-40B4-BE49-F238E27FC236}">
                <a16:creationId xmlns:a16="http://schemas.microsoft.com/office/drawing/2014/main" id="{863721AC-9FB0-40E3-8271-C019D81B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0" name="four-rule-2"/>
          <p:cNvCxnSpPr/>
          <p:nvPr/>
        </p:nvCxnSpPr>
        <p:spPr>
          <a:xfrm xmlns:a="http://schemas.openxmlformats.org/drawingml/2006/main">
            <a:off x="533400" y="42862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11" name="four-title-2">
            <a:extLst xmlns:a="http://schemas.openxmlformats.org/drawingml/2006/main">
              <a:ext uri="{FF2B5EF4-FFF2-40B4-BE49-F238E27FC236}">
                <a16:creationId xmlns:a16="http://schemas.microsoft.com/office/drawing/2014/main" id="{33F9661E-C953-43B4-8309-37C9D198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ISOLATION</a:t>
            </a:r>
          </a:p>
        </p:txBody>
      </p:sp>
      <p:sp>
        <p:nvSpPr>
          <p:cNvPr id="12" name="four-body-2">
            <a:extLst xmlns:a="http://schemas.openxmlformats.org/drawingml/2006/main">
              <a:ext uri="{FF2B5EF4-FFF2-40B4-BE49-F238E27FC236}">
                <a16:creationId xmlns:a16="http://schemas.microsoft.com/office/drawing/2014/main" id="{DC5E1847-6D56-4EEA-9197-CF3BAA5F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244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how far effects reach</a:t>
            </a:r>
          </a:p>
        </p:txBody>
      </p:sp>
      <p:sp>
        <p:nvSpPr>
          <p:cNvPr id="13" name="four-num-3">
            <a:extLst xmlns:a="http://schemas.openxmlformats.org/drawingml/2006/main">
              <a:ext uri="{FF2B5EF4-FFF2-40B4-BE49-F238E27FC236}">
                <a16:creationId xmlns:a16="http://schemas.microsoft.com/office/drawing/2014/main" id="{6E5BD907-4B8F-4622-B718-FED9CF9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34" name="four-rule-3"/>
          <p:cNvCxnSpPr/>
          <p:nvPr/>
        </p:nvCxnSpPr>
        <p:spPr>
          <a:xfrm xmlns:a="http://schemas.openxmlformats.org/drawingml/2006/main">
            <a:off x="6381750" y="42862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15" name="four-title-3">
            <a:extLst xmlns:a="http://schemas.openxmlformats.org/drawingml/2006/main">
              <a:ext uri="{FF2B5EF4-FFF2-40B4-BE49-F238E27FC236}">
                <a16:creationId xmlns:a16="http://schemas.microsoft.com/office/drawing/2014/main" id="{DE4B45C1-D644-4F08-AF3B-B7890F9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6" name="four-body-3">
            <a:extLst xmlns:a="http://schemas.openxmlformats.org/drawingml/2006/main">
              <a:ext uri="{FF2B5EF4-FFF2-40B4-BE49-F238E27FC236}">
                <a16:creationId xmlns:a16="http://schemas.microsoft.com/office/drawing/2014/main" id="{F120B164-7AAA-4B84-9E63-7529F7F1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244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what evidence proves outcome</a:t>
            </a:r>
          </a:p>
        </p:txBody>
      </p:sp>
      <p:sp>
        <p:nvSpPr>
          <p:cNvPr id="17" name="eyebrow-60">
            <a:extLst xmlns:a="http://schemas.openxmlformats.org/drawingml/2006/main">
              <a:ext uri="{FF2B5EF4-FFF2-40B4-BE49-F238E27FC236}">
                <a16:creationId xmlns:a16="http://schemas.microsoft.com/office/drawing/2014/main" id="{25BBEA27-0FA2-484E-992D-B54D721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CH 7  /  SAFETY + EVALS</a:t>
            </a:r>
          </a:p>
        </p:txBody>
      </p:sp>
      <p:sp>
        <p:nvSpPr>
          <p:cNvPr id="18" name="title-60">
            <a:extLst xmlns:a="http://schemas.openxmlformats.org/drawingml/2006/main">
              <a:ext uri="{FF2B5EF4-FFF2-40B4-BE49-F238E27FC236}">
                <a16:creationId xmlns:a16="http://schemas.microsoft.com/office/drawing/2014/main" id="{A933E567-B1BD-41CB-B695-E5C87A56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Safety needs four reinforcing layers</a:t>
            </a:r>
          </a:p>
        </p:txBody>
      </p:sp>
      <p:cxnSp>
        <p:nvCxnSpPr>
          <p:cNvPr id="39" name="header-rule-60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20" name="footer-60">
            <a:extLst xmlns:a="http://schemas.openxmlformats.org/drawingml/2006/main">
              <a:ext uri="{FF2B5EF4-FFF2-40B4-BE49-F238E27FC236}">
                <a16:creationId xmlns:a16="http://schemas.microsoft.com/office/drawing/2014/main" id="{FC3FF860-D20B-432A-8924-1E1E6338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60   •   Safety architecture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8118609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4EA432DB-D9F4-4E1B-8D63-9F32D0B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8C34A4DF-D9DE-4595-86F6-BE437E2C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619A2FC4-1841-4FF3-AA37-9B0B6A36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B50D6293-D60C-4A55-883E-752C0FA2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read/list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5746FC2B-56AE-49C4-971E-7FF4120A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4F6751FA-06EA-40A6-ACC6-7BA0612B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FAC6B02F-3D53-48DA-94EE-B62C89AD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MUTATE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49410A01-C7EC-4E6A-B222-48BFA3B5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write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8FD7D9B2-36EC-4295-82C2-3BE6D658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E52A412D-F6DD-4781-A39A-515A0BFE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1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60668342-6DE5-4786-B9D4-EF2E9A4E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2734A4AB-27A0-4BFB-90EC-8E89F0F2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build/test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10760DF9-489D-4B0B-BD98-E8292C0E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6670958F-F401-41E9-A94B-27EF63B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FF1A8FBD-3B3B-483D-9478-FD61E149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EXTERNAL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D51A4C2D-85A9-4399-AA8D-5B09A25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publish/delete</a:t>
            </a:r>
          </a:p>
        </p:txBody>
      </p:sp>
      <p:sp>
        <p:nvSpPr>
          <p:cNvPr id="18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F291345E-A9B5-4508-97B2-BDBDAC0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More consequential effects need stronger isolation, confirmation, and evidence.</a:t>
            </a:r>
          </a:p>
        </p:txBody>
      </p:sp>
      <p:sp>
        <p:nvSpPr>
          <p:cNvPr id="19" name="eyebrow-61">
            <a:extLst xmlns:a="http://schemas.openxmlformats.org/drawingml/2006/main">
              <a:ext uri="{FF2B5EF4-FFF2-40B4-BE49-F238E27FC236}">
                <a16:creationId xmlns:a16="http://schemas.microsoft.com/office/drawing/2014/main" id="{B1CE015D-2978-4170-B338-F7286C2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CH 7  /  SAFETY + EVALS</a:t>
            </a:r>
          </a:p>
        </p:txBody>
      </p:sp>
      <p:sp>
        <p:nvSpPr>
          <p:cNvPr id="20" name="title-61">
            <a:extLst xmlns:a="http://schemas.openxmlformats.org/drawingml/2006/main">
              <a:ext uri="{FF2B5EF4-FFF2-40B4-BE49-F238E27FC236}">
                <a16:creationId xmlns:a16="http://schemas.microsoft.com/office/drawing/2014/main" id="{6223DFB1-8841-45E9-8DE8-42B8759B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Classify effects before granting authority</a:t>
            </a:r>
          </a:p>
        </p:txBody>
      </p:sp>
      <p:cxnSp>
        <p:nvCxnSpPr>
          <p:cNvPr id="43" name="header-rule-61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22" name="footer-61">
            <a:extLst xmlns:a="http://schemas.openxmlformats.org/drawingml/2006/main">
              <a:ext uri="{FF2B5EF4-FFF2-40B4-BE49-F238E27FC236}">
                <a16:creationId xmlns:a16="http://schemas.microsoft.com/office/drawing/2014/main" id="{98A28123-45AF-419E-BBE6-B82E2933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61   •   Safety architecture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110294381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9B571C19-7774-4BE3-BABA-6D34C515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EEF58BCD-8EE0-49F6-8CEE-2D880BCC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There is no upload tool and child processes do not inherit the provider key. What can the README directly exfiltrate?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A75D80BE-0F7D-4B22-BCCB-440565AB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D57590A4-82EC-405E-A757-B4F2956C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25EABB86-F027-4C02-9865-558935A9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key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B9631B18-FDA2-46FA-A18B-24F5B48F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3535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6BBCC5AA-F2F2-4E0D-92AF-CDFD3979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635ACBB5-39E4-4512-B5D2-DF4D8E50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Nothing through that path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968D7A02-C389-4432-B1ED-F03CF6F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13535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4EA18094-258F-48B4-B520-D3834170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72A9E9FA-2628-4CBF-9960-BDFCE7A9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Any local file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52F3D237-15F7-493F-96E6-9F9B8F60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D4E1D113-FEEE-4B5A-B8CC-CF1FEB3E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2DB71D33-C272-46E1-BD43-0BD73F2F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It lacks the capability path—but continue testing for hidden channels and logging.</a:t>
            </a:r>
          </a:p>
        </p:txBody>
      </p:sp>
      <p:sp>
        <p:nvSpPr>
          <p:cNvPr id="15" name="eyebrow-62">
            <a:extLst xmlns:a="http://schemas.openxmlformats.org/drawingml/2006/main">
              <a:ext uri="{FF2B5EF4-FFF2-40B4-BE49-F238E27FC236}">
                <a16:creationId xmlns:a16="http://schemas.microsoft.com/office/drawing/2014/main" id="{6238DF10-0C3F-4644-841B-B7B3724D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CH 7  /  SAFETY + EVALS</a:t>
            </a:r>
          </a:p>
        </p:txBody>
      </p:sp>
      <p:sp>
        <p:nvSpPr>
          <p:cNvPr id="16" name="title-62">
            <a:extLst xmlns:a="http://schemas.openxmlformats.org/drawingml/2006/main">
              <a:ext uri="{FF2B5EF4-FFF2-40B4-BE49-F238E27FC236}">
                <a16:creationId xmlns:a16="http://schemas.microsoft.com/office/drawing/2014/main" id="{96A72178-7A5E-4FA9-B04C-F512A73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Can a malicious README steal a key with no route out?</a:t>
            </a:r>
          </a:p>
        </p:txBody>
      </p:sp>
      <p:cxnSp>
        <p:nvCxnSpPr>
          <p:cNvPr id="35" name="header-rule-62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18" name="footer-62">
            <a:extLst xmlns:a="http://schemas.openxmlformats.org/drawingml/2006/main">
              <a:ext uri="{FF2B5EF4-FFF2-40B4-BE49-F238E27FC236}">
                <a16:creationId xmlns:a16="http://schemas.microsoft.com/office/drawing/2014/main" id="{55342B1B-23ED-4E6A-B1B1-4F19140A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62   •   Safety architecture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197696116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five-rule-0"/>
          <p:cNvCxnSpPr/>
          <p:nvPr/>
        </p:nvCxnSpPr>
        <p:spPr>
          <a:xfrm xmlns:a="http://schemas.openxmlformats.org/drawingml/2006/main">
            <a:off x="53340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13535"/>
            </a:solidFill>
            <a:prstDash val="solid"/>
          </a:ln>
        </p:spPr>
      </p:cxnSp>
      <p:sp>
        <p:nvSpPr>
          <p:cNvPr id="2" name="five-title-0">
            <a:extLst xmlns:a="http://schemas.openxmlformats.org/drawingml/2006/main">
              <a:ext uri="{FF2B5EF4-FFF2-40B4-BE49-F238E27FC236}">
                <a16:creationId xmlns:a16="http://schemas.microsoft.com/office/drawing/2014/main" id="{9E95083A-0AE1-41DD-8FF0-0C544704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FIXTURE</a:t>
            </a:r>
          </a:p>
        </p:txBody>
      </p:sp>
      <p:sp>
        <p:nvSpPr>
          <p:cNvPr id="3" name="five-body-0">
            <a:extLst xmlns:a="http://schemas.openxmlformats.org/drawingml/2006/main">
              <a:ext uri="{FF2B5EF4-FFF2-40B4-BE49-F238E27FC236}">
                <a16:creationId xmlns:a16="http://schemas.microsoft.com/office/drawing/2014/main" id="{A389A7C9-D410-470D-811D-5ECE1DE0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known state</a:t>
            </a:r>
          </a:p>
        </p:txBody>
      </p:sp>
      <p:sp>
        <p:nvSpPr>
          <p:cNvPr id="4" name="five-num-0">
            <a:extLst xmlns:a="http://schemas.openxmlformats.org/drawingml/2006/main">
              <a:ext uri="{FF2B5EF4-FFF2-40B4-BE49-F238E27FC236}">
                <a16:creationId xmlns:a16="http://schemas.microsoft.com/office/drawing/2014/main" id="{49471CEA-E958-49AE-9963-C2902F1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9" name="five-rule-1"/>
          <p:cNvCxnSpPr/>
          <p:nvPr/>
        </p:nvCxnSpPr>
        <p:spPr>
          <a:xfrm xmlns:a="http://schemas.openxmlformats.org/drawingml/2006/main">
            <a:off x="279273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13535"/>
            </a:solidFill>
            <a:prstDash val="solid"/>
          </a:ln>
        </p:spPr>
      </p:cxnSp>
      <p:sp>
        <p:nvSpPr>
          <p:cNvPr id="6" name="five-title-1">
            <a:extLst xmlns:a="http://schemas.openxmlformats.org/drawingml/2006/main">
              <a:ext uri="{FF2B5EF4-FFF2-40B4-BE49-F238E27FC236}">
                <a16:creationId xmlns:a16="http://schemas.microsoft.com/office/drawing/2014/main" id="{381629BB-F7AC-4EA0-8EF8-E461ED49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five-body-1">
            <a:extLst xmlns:a="http://schemas.openxmlformats.org/drawingml/2006/main">
              <a:ext uri="{FF2B5EF4-FFF2-40B4-BE49-F238E27FC236}">
                <a16:creationId xmlns:a16="http://schemas.microsoft.com/office/drawing/2014/main" id="{EC8A843E-1B20-47ED-8851-8E74182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task/call</a:t>
            </a:r>
          </a:p>
        </p:txBody>
      </p:sp>
      <p:sp>
        <p:nvSpPr>
          <p:cNvPr id="8" name="five-num-1">
            <a:extLst xmlns:a="http://schemas.openxmlformats.org/drawingml/2006/main">
              <a:ext uri="{FF2B5EF4-FFF2-40B4-BE49-F238E27FC236}">
                <a16:creationId xmlns:a16="http://schemas.microsoft.com/office/drawing/2014/main" id="{3A82C3D2-55D2-4BBC-A71D-6ED814B5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33" name="five-rule-2"/>
          <p:cNvCxnSpPr/>
          <p:nvPr/>
        </p:nvCxnSpPr>
        <p:spPr>
          <a:xfrm xmlns:a="http://schemas.openxmlformats.org/drawingml/2006/main">
            <a:off x="505206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13535"/>
            </a:solidFill>
            <a:prstDash val="solid"/>
          </a:ln>
        </p:spPr>
      </p:cxnSp>
      <p:sp>
        <p:nvSpPr>
          <p:cNvPr id="10" name="five-title-2">
            <a:extLst xmlns:a="http://schemas.openxmlformats.org/drawingml/2006/main">
              <a:ext uri="{FF2B5EF4-FFF2-40B4-BE49-F238E27FC236}">
                <a16:creationId xmlns:a16="http://schemas.microsoft.com/office/drawing/2014/main" id="{D9D2C99A-07A0-42DB-9AA0-46CCE0AA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ASSERTION</a:t>
            </a:r>
          </a:p>
        </p:txBody>
      </p:sp>
      <p:sp>
        <p:nvSpPr>
          <p:cNvPr id="11" name="five-body-2">
            <a:extLst xmlns:a="http://schemas.openxmlformats.org/drawingml/2006/main">
              <a:ext uri="{FF2B5EF4-FFF2-40B4-BE49-F238E27FC236}">
                <a16:creationId xmlns:a16="http://schemas.microsoft.com/office/drawing/2014/main" id="{7DE1B9B7-4512-47E4-8BB7-C73C55C3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observable</a:t>
            </a:r>
          </a:p>
        </p:txBody>
      </p:sp>
      <p:sp>
        <p:nvSpPr>
          <p:cNvPr id="12" name="five-num-2">
            <a:extLst xmlns:a="http://schemas.openxmlformats.org/drawingml/2006/main">
              <a:ext uri="{FF2B5EF4-FFF2-40B4-BE49-F238E27FC236}">
                <a16:creationId xmlns:a16="http://schemas.microsoft.com/office/drawing/2014/main" id="{5B70D103-F3D5-474C-9C9C-86295298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7" name="five-rule-3"/>
          <p:cNvCxnSpPr/>
          <p:nvPr/>
        </p:nvCxnSpPr>
        <p:spPr>
          <a:xfrm xmlns:a="http://schemas.openxmlformats.org/drawingml/2006/main">
            <a:off x="731139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13535"/>
            </a:solidFill>
            <a:prstDash val="solid"/>
          </a:ln>
        </p:spPr>
      </p:cxnSp>
      <p:sp>
        <p:nvSpPr>
          <p:cNvPr id="14" name="five-title-3">
            <a:extLst xmlns:a="http://schemas.openxmlformats.org/drawingml/2006/main">
              <a:ext uri="{FF2B5EF4-FFF2-40B4-BE49-F238E27FC236}">
                <a16:creationId xmlns:a16="http://schemas.microsoft.com/office/drawing/2014/main" id="{E97E2884-33B6-4100-BF67-70FE82B1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15" name="five-body-3">
            <a:extLst xmlns:a="http://schemas.openxmlformats.org/drawingml/2006/main">
              <a:ext uri="{FF2B5EF4-FFF2-40B4-BE49-F238E27FC236}">
                <a16:creationId xmlns:a16="http://schemas.microsoft.com/office/drawing/2014/main" id="{70550B26-90F6-4485-8A01-3D2FC69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failure type</a:t>
            </a:r>
          </a:p>
        </p:txBody>
      </p:sp>
      <p:sp>
        <p:nvSpPr>
          <p:cNvPr id="16" name="five-num-3">
            <a:extLst xmlns:a="http://schemas.openxmlformats.org/drawingml/2006/main">
              <a:ext uri="{FF2B5EF4-FFF2-40B4-BE49-F238E27FC236}">
                <a16:creationId xmlns:a16="http://schemas.microsoft.com/office/drawing/2014/main" id="{0D5B9605-9408-41D5-81A4-F040F224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41" name="five-rule-4"/>
          <p:cNvCxnSpPr/>
          <p:nvPr/>
        </p:nvCxnSpPr>
        <p:spPr>
          <a:xfrm xmlns:a="http://schemas.openxmlformats.org/drawingml/2006/main">
            <a:off x="957072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13535"/>
            </a:solidFill>
            <a:prstDash val="solid"/>
          </a:ln>
        </p:spPr>
      </p:cxnSp>
      <p:sp>
        <p:nvSpPr>
          <p:cNvPr id="18" name="five-title-4">
            <a:extLst xmlns:a="http://schemas.openxmlformats.org/drawingml/2006/main">
              <a:ext uri="{FF2B5EF4-FFF2-40B4-BE49-F238E27FC236}">
                <a16:creationId xmlns:a16="http://schemas.microsoft.com/office/drawing/2014/main" id="{9955D155-2AE3-4D91-B946-519B5BD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9" name="five-body-4">
            <a:extLst xmlns:a="http://schemas.openxmlformats.org/drawingml/2006/main">
              <a:ext uri="{FF2B5EF4-FFF2-40B4-BE49-F238E27FC236}">
                <a16:creationId xmlns:a16="http://schemas.microsoft.com/office/drawing/2014/main" id="{18454FF8-35E1-4046-B357-233880E8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diagnosis</a:t>
            </a:r>
          </a:p>
        </p:txBody>
      </p:sp>
      <p:sp>
        <p:nvSpPr>
          <p:cNvPr id="20" name="five-num-4">
            <a:extLst xmlns:a="http://schemas.openxmlformats.org/drawingml/2006/main">
              <a:ext uri="{FF2B5EF4-FFF2-40B4-BE49-F238E27FC236}">
                <a16:creationId xmlns:a16="http://schemas.microsoft.com/office/drawing/2014/main" id="{4B8B5234-6847-40D0-A5BA-CA98D150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eyebrow-63">
            <a:extLst xmlns:a="http://schemas.openxmlformats.org/drawingml/2006/main">
              <a:ext uri="{FF2B5EF4-FFF2-40B4-BE49-F238E27FC236}">
                <a16:creationId xmlns:a16="http://schemas.microsoft.com/office/drawing/2014/main" id="{1E9A3038-AC9A-4C2F-BD07-EFE32706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CH 7  /  SAFETY + EVALS</a:t>
            </a:r>
          </a:p>
        </p:txBody>
      </p:sp>
      <p:sp>
        <p:nvSpPr>
          <p:cNvPr id="22" name="title-63">
            <a:extLst xmlns:a="http://schemas.openxmlformats.org/drawingml/2006/main">
              <a:ext uri="{FF2B5EF4-FFF2-40B4-BE49-F238E27FC236}">
                <a16:creationId xmlns:a16="http://schemas.microsoft.com/office/drawing/2014/main" id="{5FC6A74C-6E83-4848-B4DC-A3E5E406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An evaluation is a reproducible evidence package</a:t>
            </a:r>
          </a:p>
        </p:txBody>
      </p:sp>
      <p:cxnSp>
        <p:nvCxnSpPr>
          <p:cNvPr id="47" name="header-rule-63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24" name="footer-63">
            <a:extLst xmlns:a="http://schemas.openxmlformats.org/drawingml/2006/main">
              <a:ext uri="{FF2B5EF4-FFF2-40B4-BE49-F238E27FC236}">
                <a16:creationId xmlns:a16="http://schemas.microsoft.com/office/drawing/2014/main" id="{CC368E4D-A90C-4CA3-8B39-0EA256D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63   •   Safety architecture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145382611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xit-statement">
            <a:extLst xmlns:a="http://schemas.openxmlformats.org/drawingml/2006/main">
              <a:ext uri="{FF2B5EF4-FFF2-40B4-BE49-F238E27FC236}">
                <a16:creationId xmlns:a16="http://schemas.microsoft.com/office/drawing/2014/main" id="{283EF37B-EEF9-41DE-964B-46556D76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Operator proposes an attack. Auditor checks fixture, trace, effect, and classification. Both preserve the failed attempt.</a:t>
            </a:r>
          </a:p>
        </p:txBody>
      </p:sp>
      <p:cxnSp>
        <p:nvCxnSpPr>
          <p:cNvPr id="10" name="exit-rule"/>
          <p:cNvCxnSpPr/>
          <p:nvPr/>
        </p:nvCxnSpPr>
        <p:spPr>
          <a:xfrm xmlns:a="http://schemas.openxmlformats.org/drawingml/2006/main">
            <a:off x="2571750" y="4000500"/>
            <a:ext cx="704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13535"/>
            </a:solidFill>
            <a:prstDash val="solid"/>
          </a:ln>
        </p:spPr>
      </p:cxnSp>
      <p:sp>
        <p:nvSpPr>
          <p:cNvPr id="3" name="exit-box">
            <a:extLst xmlns:a="http://schemas.openxmlformats.org/drawingml/2006/main">
              <a:ext uri="{FF2B5EF4-FFF2-40B4-BE49-F238E27FC236}">
                <a16:creationId xmlns:a16="http://schemas.microsoft.com/office/drawing/2014/main" id="{AF54EBF5-25DD-4310-8879-F722DA58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xit-question">
            <a:extLst xmlns:a="http://schemas.openxmlformats.org/drawingml/2006/main">
              <a:ext uri="{FF2B5EF4-FFF2-40B4-BE49-F238E27FC236}">
                <a16:creationId xmlns:a16="http://schemas.microsoft.com/office/drawing/2014/main" id="{5B405536-0019-4269-94A1-572EFA34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Exit evidence: which assertion proves the private file stayed unread?</a:t>
            </a:r>
          </a:p>
        </p:txBody>
      </p:sp>
      <p:sp>
        <p:nvSpPr>
          <p:cNvPr id="5" name="eyebrow-64">
            <a:extLst xmlns:a="http://schemas.openxmlformats.org/drawingml/2006/main">
              <a:ext uri="{FF2B5EF4-FFF2-40B4-BE49-F238E27FC236}">
                <a16:creationId xmlns:a16="http://schemas.microsoft.com/office/drawing/2014/main" id="{78024ED4-2713-46C7-BC28-87BE4CF1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35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13535"/>
                </a:solidFill>
                <a:latin typeface="Aptos"/>
                <a:ea typeface="Aptos"/>
                <a:cs typeface="Aptos"/>
              </a:rPr>
              <a:t>CH 7  /  SAFETY + EVALS</a:t>
            </a:r>
          </a:p>
        </p:txBody>
      </p:sp>
      <p:sp>
        <p:nvSpPr>
          <p:cNvPr id="6" name="title-64">
            <a:extLst xmlns:a="http://schemas.openxmlformats.org/drawingml/2006/main">
              <a:ext uri="{FF2B5EF4-FFF2-40B4-BE49-F238E27FC236}">
                <a16:creationId xmlns:a16="http://schemas.microsoft.com/office/drawing/2014/main" id="{0C2A74FC-089F-425E-B0F5-94160C40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Red team and audit are paired roles</a:t>
            </a:r>
          </a:p>
        </p:txBody>
      </p:sp>
      <p:cxnSp>
        <p:nvCxnSpPr>
          <p:cNvPr id="15" name="header-rule-64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13535"/>
            </a:solidFill>
            <a:prstDash val="solid"/>
          </a:ln>
        </p:spPr>
      </p:cxnSp>
      <p:sp>
        <p:nvSpPr>
          <p:cNvPr id="8" name="footer-64">
            <a:extLst xmlns:a="http://schemas.openxmlformats.org/drawingml/2006/main">
              <a:ext uri="{FF2B5EF4-FFF2-40B4-BE49-F238E27FC236}">
                <a16:creationId xmlns:a16="http://schemas.microsoft.com/office/drawing/2014/main" id="{335F7B26-9828-4EB9-A8AE-8FA934E0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64   •   Safety architecture and evaluations</a:t>
            </a:r>
          </a:p>
        </p:txBody>
      </p:sp>
    </p:spTree>
    <p:extLst>
      <p:ext uri="{BB962C8B-B14F-4D97-AF65-F5344CB8AC3E}">
        <p14:creationId xmlns:p14="http://schemas.microsoft.com/office/powerpoint/2010/main" val="212755397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1B984E77-4120-4D74-BCDA-46BF0F04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2F40577C-1391-406A-8E9B-634CE40F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When the agent edits its repository, what changes first?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5378101C-2D1F-4BFF-ADE3-A8BF2777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5EADF5BD-2468-4FE8-B30C-60DDBED9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454CCAC3-28D7-4A00-80A7-FF5385F7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running process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69700BD5-20EF-4A21-9833-35D56A7A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F9B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1565557F-3B8B-4A7C-AF72-B00C0D75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5AABC967-0412-40DC-A14A-B08AA51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Source files in an isolated worktree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1A321556-DD8E-4271-9ECC-0AE7E410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7E1352EC-E0B4-43DD-AB82-69D371D3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CCA0D196-F7B5-49E5-9E42-F06AE5A0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provider model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5B7E6F91-1925-4EC0-B4AA-1E3EBC02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3548EC0E-84E1-4321-A4D3-820104F6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0FEA314D-81B3-4A76-B7A7-196FF736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Source files in an isolated worktree; a later build creates a new binary.</a:t>
            </a:r>
          </a:p>
        </p:txBody>
      </p:sp>
      <p:sp>
        <p:nvSpPr>
          <p:cNvPr id="15" name="eyebrow-65">
            <a:extLst xmlns:a="http://schemas.openxmlformats.org/drawingml/2006/main">
              <a:ext uri="{FF2B5EF4-FFF2-40B4-BE49-F238E27FC236}">
                <a16:creationId xmlns:a16="http://schemas.microsoft.com/office/drawing/2014/main" id="{70E5DDA7-D59C-4194-B6DA-61997956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CH 8  /  CAPSTONE</a:t>
            </a:r>
          </a:p>
        </p:txBody>
      </p:sp>
      <p:sp>
        <p:nvSpPr>
          <p:cNvPr id="16" name="title-65">
            <a:extLst xmlns:a="http://schemas.openxmlformats.org/drawingml/2006/main">
              <a:ext uri="{FF2B5EF4-FFF2-40B4-BE49-F238E27FC236}">
                <a16:creationId xmlns:a16="http://schemas.microsoft.com/office/drawing/2014/main" id="{7C76C994-182E-49B4-8B9C-2247C66E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running agent does not rewrite its own binary</a:t>
            </a:r>
          </a:p>
        </p:txBody>
      </p:sp>
      <p:cxnSp>
        <p:nvCxnSpPr>
          <p:cNvPr id="35" name="header-rule-65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F9B"/>
            </a:solidFill>
            <a:prstDash val="solid"/>
          </a:ln>
        </p:spPr>
      </p:cxnSp>
      <p:sp>
        <p:nvSpPr>
          <p:cNvPr id="18" name="footer-65">
            <a:extLst xmlns:a="http://schemas.openxmlformats.org/drawingml/2006/main">
              <a:ext uri="{FF2B5EF4-FFF2-40B4-BE49-F238E27FC236}">
                <a16:creationId xmlns:a16="http://schemas.microsoft.com/office/drawing/2014/main" id="{A79C0C59-3650-4C34-BCD3-F729CFEE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65   •   Self-modification capstone</a:t>
            </a:r>
          </a:p>
        </p:txBody>
      </p:sp>
    </p:spTree>
    <p:extLst>
      <p:ext uri="{BB962C8B-B14F-4D97-AF65-F5344CB8AC3E}">
        <p14:creationId xmlns:p14="http://schemas.microsoft.com/office/powerpoint/2010/main" val="179493619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timeline-line"/>
          <p:cNvCxnSpPr/>
          <p:nvPr/>
        </p:nvCxnSpPr>
        <p:spPr>
          <a:xfrm xmlns:a="http://schemas.openxmlformats.org/drawingml/2006/main">
            <a:off x="1190625" y="32004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2DC"/>
            </a:solidFill>
            <a:prstDash val="solid"/>
          </a:ln>
        </p:spPr>
      </p:cxnSp>
      <p:sp>
        <p:nvSpPr>
          <p:cNvPr id="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20A3653D-B60A-48B8-AAFF-4646C7F3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F9B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3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BAC6163A-B597-461A-82F4-1601B061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F5137427-CB57-44CC-B75F-95158AD7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5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8AF3F3A5-8178-44E7-B32A-C54DF603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worktree</a:t>
            </a:r>
          </a:p>
        </p:txBody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AD0553CD-AE7A-475A-9960-6C9FFD1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F9B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662D5D93-1EF5-42E0-B444-042144F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52B60964-FBB2-48EC-A40D-3DF8FDA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38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9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9FB0488C-5F4E-40F5-A336-A3761B67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38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C8A5B14B-8CA3-47EE-BAC4-FBE999D1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F9B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1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85A1ADD1-7288-43A0-AD19-2214A95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C7939154-2563-4A12-8618-0D2967E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EDIT</a:t>
            </a:r>
          </a:p>
        </p:txBody>
      </p:sp>
      <p:sp>
        <p:nvSpPr>
          <p:cNvPr id="1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AABD5D2B-1EA2-46DC-87A4-D3280147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narrow diff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899DF02F-B7C0-4ACD-848F-E197802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F9B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0A77D444-72D9-4705-8CB9-BD590DB8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688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0D250EDF-B5FC-4711-A7D8-761598E7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13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7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5C303778-421F-45E4-A01B-9E117AEC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13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new binary</a:t>
            </a:r>
          </a:p>
        </p:txBody>
      </p:sp>
      <p:sp>
        <p:nvSpPr>
          <p:cNvPr id="18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C346EE7E-E598-42FE-8432-F023892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0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F9B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19" name="timeline-label-4">
            <a:extLst xmlns:a="http://schemas.openxmlformats.org/drawingml/2006/main">
              <a:ext uri="{FF2B5EF4-FFF2-40B4-BE49-F238E27FC236}">
                <a16:creationId xmlns:a16="http://schemas.microsoft.com/office/drawing/2014/main" id="{959E4451-9B78-4D69-9598-4ED5CA35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837E4CF4-2E0A-4DD5-930A-C13C6C37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1" name="timeline-body-4">
            <a:extLst xmlns:a="http://schemas.openxmlformats.org/drawingml/2006/main">
              <a:ext uri="{FF2B5EF4-FFF2-40B4-BE49-F238E27FC236}">
                <a16:creationId xmlns:a16="http://schemas.microsoft.com/office/drawing/2014/main" id="{8A050045-2ECE-4A70-92CD-9A95092D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2" name="timeline-caption">
            <a:extLst xmlns:a="http://schemas.openxmlformats.org/drawingml/2006/main">
              <a:ext uri="{FF2B5EF4-FFF2-40B4-BE49-F238E27FC236}">
                <a16:creationId xmlns:a16="http://schemas.microsoft.com/office/drawing/2014/main" id="{8FA39F82-AD0C-4F9C-A1C8-91B84032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current process remains the orchestrator of a separate candidate change.</a:t>
            </a:r>
          </a:p>
        </p:txBody>
      </p:sp>
      <p:sp>
        <p:nvSpPr>
          <p:cNvPr id="23" name="eyebrow-66">
            <a:extLst xmlns:a="http://schemas.openxmlformats.org/drawingml/2006/main">
              <a:ext uri="{FF2B5EF4-FFF2-40B4-BE49-F238E27FC236}">
                <a16:creationId xmlns:a16="http://schemas.microsoft.com/office/drawing/2014/main" id="{E12722E2-1081-4B62-8408-F0DF9ED4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CH 8  /  CAPSTONE</a:t>
            </a:r>
          </a:p>
        </p:txBody>
      </p:sp>
      <p:sp>
        <p:nvSpPr>
          <p:cNvPr id="24" name="title-66">
            <a:extLst xmlns:a="http://schemas.openxmlformats.org/drawingml/2006/main">
              <a:ext uri="{FF2B5EF4-FFF2-40B4-BE49-F238E27FC236}">
                <a16:creationId xmlns:a16="http://schemas.microsoft.com/office/drawing/2014/main" id="{F4A88A2E-B21F-4321-899F-B2444522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Self-change uses ordinary development mechanisms</a:t>
            </a:r>
          </a:p>
        </p:txBody>
      </p:sp>
      <p:cxnSp>
        <p:nvCxnSpPr>
          <p:cNvPr id="51" name="header-rule-66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F9B"/>
            </a:solidFill>
            <a:prstDash val="solid"/>
          </a:ln>
        </p:spPr>
      </p:cxnSp>
      <p:sp>
        <p:nvSpPr>
          <p:cNvPr id="26" name="footer-66">
            <a:extLst xmlns:a="http://schemas.openxmlformats.org/drawingml/2006/main">
              <a:ext uri="{FF2B5EF4-FFF2-40B4-BE49-F238E27FC236}">
                <a16:creationId xmlns:a16="http://schemas.microsoft.com/office/drawing/2014/main" id="{DE31CE84-4947-465A-8633-82B61723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66   •   Self-modification capstone</a:t>
            </a:r>
          </a:p>
        </p:txBody>
      </p:sp>
    </p:spTree>
    <p:extLst>
      <p:ext uri="{BB962C8B-B14F-4D97-AF65-F5344CB8AC3E}">
        <p14:creationId xmlns:p14="http://schemas.microsoft.com/office/powerpoint/2010/main" val="428114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five-rule-0"/>
          <p:cNvCxnSpPr/>
          <p:nvPr/>
        </p:nvCxnSpPr>
        <p:spPr>
          <a:xfrm xmlns:a="http://schemas.openxmlformats.org/drawingml/2006/main">
            <a:off x="53340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5F9B"/>
            </a:solidFill>
            <a:prstDash val="solid"/>
          </a:ln>
        </p:spPr>
      </p:cxnSp>
      <p:sp>
        <p:nvSpPr>
          <p:cNvPr id="2" name="five-title-0">
            <a:extLst xmlns:a="http://schemas.openxmlformats.org/drawingml/2006/main">
              <a:ext uri="{FF2B5EF4-FFF2-40B4-BE49-F238E27FC236}">
                <a16:creationId xmlns:a16="http://schemas.microsoft.com/office/drawing/2014/main" id="{78EC501D-F206-4D38-BF18-EAA1CF4C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3" name="five-body-0">
            <a:extLst xmlns:a="http://schemas.openxmlformats.org/drawingml/2006/main">
              <a:ext uri="{FF2B5EF4-FFF2-40B4-BE49-F238E27FC236}">
                <a16:creationId xmlns:a16="http://schemas.microsoft.com/office/drawing/2014/main" id="{3E96EE41-F9A6-4613-9A73-2179514E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4" name="five-num-0">
            <a:extLst xmlns:a="http://schemas.openxmlformats.org/drawingml/2006/main">
              <a:ext uri="{FF2B5EF4-FFF2-40B4-BE49-F238E27FC236}">
                <a16:creationId xmlns:a16="http://schemas.microsoft.com/office/drawing/2014/main" id="{DE98D164-5473-47E5-9E04-47A0EB3A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cxnSp>
        <p:nvCxnSpPr>
          <p:cNvPr id="29" name="five-rule-1"/>
          <p:cNvCxnSpPr/>
          <p:nvPr/>
        </p:nvCxnSpPr>
        <p:spPr>
          <a:xfrm xmlns:a="http://schemas.openxmlformats.org/drawingml/2006/main">
            <a:off x="279273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5F9B"/>
            </a:solidFill>
            <a:prstDash val="solid"/>
          </a:ln>
        </p:spPr>
      </p:cxnSp>
      <p:sp>
        <p:nvSpPr>
          <p:cNvPr id="6" name="five-title-1">
            <a:extLst xmlns:a="http://schemas.openxmlformats.org/drawingml/2006/main">
              <a:ext uri="{FF2B5EF4-FFF2-40B4-BE49-F238E27FC236}">
                <a16:creationId xmlns:a16="http://schemas.microsoft.com/office/drawing/2014/main" id="{BC7F0059-2FB1-4A2D-AD1C-876785AF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7" name="five-body-1">
            <a:extLst xmlns:a="http://schemas.openxmlformats.org/drawingml/2006/main">
              <a:ext uri="{FF2B5EF4-FFF2-40B4-BE49-F238E27FC236}">
                <a16:creationId xmlns:a16="http://schemas.microsoft.com/office/drawing/2014/main" id="{C3D19191-D59B-4D17-9647-83D73C0D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wire format</a:t>
            </a:r>
          </a:p>
        </p:txBody>
      </p:sp>
      <p:sp>
        <p:nvSpPr>
          <p:cNvPr id="8" name="five-num-1">
            <a:extLst xmlns:a="http://schemas.openxmlformats.org/drawingml/2006/main">
              <a:ext uri="{FF2B5EF4-FFF2-40B4-BE49-F238E27FC236}">
                <a16:creationId xmlns:a16="http://schemas.microsoft.com/office/drawing/2014/main" id="{136150AD-F1FA-4ACD-B61F-67EEF2DF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33" name="five-rule-2"/>
          <p:cNvCxnSpPr/>
          <p:nvPr/>
        </p:nvCxnSpPr>
        <p:spPr>
          <a:xfrm xmlns:a="http://schemas.openxmlformats.org/drawingml/2006/main">
            <a:off x="505206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5F9B"/>
            </a:solidFill>
            <a:prstDash val="solid"/>
          </a:ln>
        </p:spPr>
      </p:cxnSp>
      <p:sp>
        <p:nvSpPr>
          <p:cNvPr id="10" name="five-title-2">
            <a:extLst xmlns:a="http://schemas.openxmlformats.org/drawingml/2006/main">
              <a:ext uri="{FF2B5EF4-FFF2-40B4-BE49-F238E27FC236}">
                <a16:creationId xmlns:a16="http://schemas.microsoft.com/office/drawing/2014/main" id="{404A3B5C-FDFC-48D4-A9A8-8574D7C3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DISPATCH</a:t>
            </a:r>
          </a:p>
        </p:txBody>
      </p:sp>
      <p:sp>
        <p:nvSpPr>
          <p:cNvPr id="11" name="five-body-2">
            <a:extLst xmlns:a="http://schemas.openxmlformats.org/drawingml/2006/main">
              <a:ext uri="{FF2B5EF4-FFF2-40B4-BE49-F238E27FC236}">
                <a16:creationId xmlns:a16="http://schemas.microsoft.com/office/drawing/2014/main" id="{DDACDAC2-429B-4F0F-A7A2-B8B2C21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12" name="five-num-2">
            <a:extLst xmlns:a="http://schemas.openxmlformats.org/drawingml/2006/main">
              <a:ext uri="{FF2B5EF4-FFF2-40B4-BE49-F238E27FC236}">
                <a16:creationId xmlns:a16="http://schemas.microsoft.com/office/drawing/2014/main" id="{B6FD4CB3-B892-4BAE-BC67-A1EC0C9E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7" name="five-rule-3"/>
          <p:cNvCxnSpPr/>
          <p:nvPr/>
        </p:nvCxnSpPr>
        <p:spPr>
          <a:xfrm xmlns:a="http://schemas.openxmlformats.org/drawingml/2006/main">
            <a:off x="731139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5F9B"/>
            </a:solidFill>
            <a:prstDash val="solid"/>
          </a:ln>
        </p:spPr>
      </p:cxnSp>
      <p:sp>
        <p:nvSpPr>
          <p:cNvPr id="14" name="five-title-3">
            <a:extLst xmlns:a="http://schemas.openxmlformats.org/drawingml/2006/main">
              <a:ext uri="{FF2B5EF4-FFF2-40B4-BE49-F238E27FC236}">
                <a16:creationId xmlns:a16="http://schemas.microsoft.com/office/drawing/2014/main" id="{8C2F88E7-B410-4535-9A93-75D9256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ENVELOPE</a:t>
            </a:r>
          </a:p>
        </p:txBody>
      </p:sp>
      <p:sp>
        <p:nvSpPr>
          <p:cNvPr id="15" name="five-body-3">
            <a:extLst xmlns:a="http://schemas.openxmlformats.org/drawingml/2006/main">
              <a:ext uri="{FF2B5EF4-FFF2-40B4-BE49-F238E27FC236}">
                <a16:creationId xmlns:a16="http://schemas.microsoft.com/office/drawing/2014/main" id="{1185639A-0F8F-4E3C-B139-90D1367C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6" name="five-num-3">
            <a:extLst xmlns:a="http://schemas.openxmlformats.org/drawingml/2006/main">
              <a:ext uri="{FF2B5EF4-FFF2-40B4-BE49-F238E27FC236}">
                <a16:creationId xmlns:a16="http://schemas.microsoft.com/office/drawing/2014/main" id="{CF0BCA53-6735-41EC-9826-F4177F81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41" name="five-rule-4"/>
          <p:cNvCxnSpPr/>
          <p:nvPr/>
        </p:nvCxnSpPr>
        <p:spPr>
          <a:xfrm xmlns:a="http://schemas.openxmlformats.org/drawingml/2006/main">
            <a:off x="9570720" y="2076450"/>
            <a:ext cx="208788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5F9B"/>
            </a:solidFill>
            <a:prstDash val="solid"/>
          </a:ln>
        </p:spPr>
      </p:cxnSp>
      <p:sp>
        <p:nvSpPr>
          <p:cNvPr id="18" name="five-title-4">
            <a:extLst xmlns:a="http://schemas.openxmlformats.org/drawingml/2006/main">
              <a:ext uri="{FF2B5EF4-FFF2-40B4-BE49-F238E27FC236}">
                <a16:creationId xmlns:a16="http://schemas.microsoft.com/office/drawing/2014/main" id="{E75A9404-FEF9-4131-A138-E37D525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400300"/>
            <a:ext cx="20878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TRACE + TEST</a:t>
            </a:r>
          </a:p>
        </p:txBody>
      </p:sp>
      <p:sp>
        <p:nvSpPr>
          <p:cNvPr id="19" name="five-body-4">
            <a:extLst xmlns:a="http://schemas.openxmlformats.org/drawingml/2006/main">
              <a:ext uri="{FF2B5EF4-FFF2-40B4-BE49-F238E27FC236}">
                <a16:creationId xmlns:a16="http://schemas.microsoft.com/office/drawing/2014/main" id="{850CE56F-B131-4B83-BAA9-A2AE9F43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3143250"/>
            <a:ext cx="208788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five-num-4">
            <a:extLst xmlns:a="http://schemas.openxmlformats.org/drawingml/2006/main">
              <a:ext uri="{FF2B5EF4-FFF2-40B4-BE49-F238E27FC236}">
                <a16:creationId xmlns:a16="http://schemas.microsoft.com/office/drawing/2014/main" id="{44DE52BD-DAF7-441C-B033-91AE9EE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5143500"/>
            <a:ext cx="20878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eyebrow-67">
            <a:extLst xmlns:a="http://schemas.openxmlformats.org/drawingml/2006/main">
              <a:ext uri="{FF2B5EF4-FFF2-40B4-BE49-F238E27FC236}">
                <a16:creationId xmlns:a16="http://schemas.microsoft.com/office/drawing/2014/main" id="{B3C82540-5B90-44F1-B9C4-E96938A5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CH 8  /  CAPSTONE</a:t>
            </a:r>
          </a:p>
        </p:txBody>
      </p:sp>
      <p:sp>
        <p:nvSpPr>
          <p:cNvPr id="22" name="title-67">
            <a:extLst xmlns:a="http://schemas.openxmlformats.org/drawingml/2006/main">
              <a:ext uri="{FF2B5EF4-FFF2-40B4-BE49-F238E27FC236}">
                <a16:creationId xmlns:a16="http://schemas.microsoft.com/office/drawing/2014/main" id="{165E31D1-1FB4-4F41-B8B7-9DB787F6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 feature is a vertical slice through the whole harness</a:t>
            </a:r>
          </a:p>
        </p:txBody>
      </p:sp>
      <p:cxnSp>
        <p:nvCxnSpPr>
          <p:cNvPr id="47" name="header-rule-67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F9B"/>
            </a:solidFill>
            <a:prstDash val="solid"/>
          </a:ln>
        </p:spPr>
      </p:cxnSp>
      <p:sp>
        <p:nvSpPr>
          <p:cNvPr id="24" name="footer-67">
            <a:extLst xmlns:a="http://schemas.openxmlformats.org/drawingml/2006/main">
              <a:ext uri="{FF2B5EF4-FFF2-40B4-BE49-F238E27FC236}">
                <a16:creationId xmlns:a16="http://schemas.microsoft.com/office/drawing/2014/main" id="{93C16C8F-8AE7-4983-91A0-E96267F4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67   •   Self-modification capstone</a:t>
            </a:r>
          </a:p>
        </p:txBody>
      </p:sp>
    </p:spTree>
    <p:extLst>
      <p:ext uri="{BB962C8B-B14F-4D97-AF65-F5344CB8AC3E}">
        <p14:creationId xmlns:p14="http://schemas.microsoft.com/office/powerpoint/2010/main" val="65596335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F4CFCA16-3F6A-42A8-AB80-402026BC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PREDICT BEFORE THE REVEAL</a:t>
            </a:r>
          </a:p>
        </p:txBody>
      </p:sp>
      <p:sp>
        <p:nvSpPr>
          <p:cNvPr id="2" name="prediction-question">
            <a:extLst xmlns:a="http://schemas.openxmlformats.org/drawingml/2006/main">
              <a:ext uri="{FF2B5EF4-FFF2-40B4-BE49-F238E27FC236}">
                <a16:creationId xmlns:a16="http://schemas.microsoft.com/office/drawing/2014/main" id="{6E7B75BC-AABB-418D-97D2-46C3CC8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The new list_files tool compiles. Is the feature complete?</a:t>
            </a:r>
          </a:p>
        </p:txBody>
      </p:sp>
      <p:sp>
        <p:nvSpPr>
          <p:cNvPr id="3" name="vote-dot-0">
            <a:extLst xmlns:a="http://schemas.openxmlformats.org/drawingml/2006/main">
              <a:ext uri="{FF2B5EF4-FFF2-40B4-BE49-F238E27FC236}">
                <a16:creationId xmlns:a16="http://schemas.microsoft.com/office/drawing/2014/main" id="{AC3232A6-5D9A-4090-9309-4898E7CA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4" name="vote-num-0">
            <a:extLst xmlns:a="http://schemas.openxmlformats.org/drawingml/2006/main">
              <a:ext uri="{FF2B5EF4-FFF2-40B4-BE49-F238E27FC236}">
                <a16:creationId xmlns:a16="http://schemas.microsoft.com/office/drawing/2014/main" id="{B1DB7B9E-68A4-4E82-A5B0-CEC8CF00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vote-opt-0">
            <a:extLst xmlns:a="http://schemas.openxmlformats.org/drawingml/2006/main">
              <a:ext uri="{FF2B5EF4-FFF2-40B4-BE49-F238E27FC236}">
                <a16:creationId xmlns:a16="http://schemas.microsoft.com/office/drawing/2014/main" id="{B88E3DA4-F200-419D-965C-C3204B9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" name="vote-dot-1">
            <a:extLst xmlns:a="http://schemas.openxmlformats.org/drawingml/2006/main">
              <a:ext uri="{FF2B5EF4-FFF2-40B4-BE49-F238E27FC236}">
                <a16:creationId xmlns:a16="http://schemas.microsoft.com/office/drawing/2014/main" id="{276D668E-A3A2-4A6E-894B-B5FC85B4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7" name="vote-num-1">
            <a:extLst xmlns:a="http://schemas.openxmlformats.org/drawingml/2006/main">
              <a:ext uri="{FF2B5EF4-FFF2-40B4-BE49-F238E27FC236}">
                <a16:creationId xmlns:a16="http://schemas.microsoft.com/office/drawing/2014/main" id="{8D6FCEDD-6BDC-4B42-9232-AFA9775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" name="vote-opt-1">
            <a:extLst xmlns:a="http://schemas.openxmlformats.org/drawingml/2006/main">
              <a:ext uri="{FF2B5EF4-FFF2-40B4-BE49-F238E27FC236}">
                <a16:creationId xmlns:a16="http://schemas.microsoft.com/office/drawing/2014/main" id="{3F23CFCA-07AC-43C3-9029-F337D15B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Only if model calls it</a:t>
            </a:r>
          </a:p>
        </p:txBody>
      </p:sp>
      <p:sp>
        <p:nvSpPr>
          <p:cNvPr id="9" name="vote-dot-2">
            <a:extLst xmlns:a="http://schemas.openxmlformats.org/drawingml/2006/main">
              <a:ext uri="{FF2B5EF4-FFF2-40B4-BE49-F238E27FC236}">
                <a16:creationId xmlns:a16="http://schemas.microsoft.com/office/drawing/2014/main" id="{1AF17159-22BE-4F1E-A43C-536D1EBE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F9B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10" name="vote-num-2">
            <a:extLst xmlns:a="http://schemas.openxmlformats.org/drawingml/2006/main">
              <a:ext uri="{FF2B5EF4-FFF2-40B4-BE49-F238E27FC236}">
                <a16:creationId xmlns:a16="http://schemas.microsoft.com/office/drawing/2014/main" id="{C533C841-7C90-4E4F-A105-9C73350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vote-opt-2">
            <a:extLst xmlns:a="http://schemas.openxmlformats.org/drawingml/2006/main">
              <a:ext uri="{FF2B5EF4-FFF2-40B4-BE49-F238E27FC236}">
                <a16:creationId xmlns:a16="http://schemas.microsoft.com/office/drawing/2014/main" id="{E3429E17-0A2B-4F9C-8879-4720A5F6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No; behavior and safety need tests</a:t>
            </a:r>
          </a:p>
        </p:txBody>
      </p:sp>
      <p:sp>
        <p:nvSpPr>
          <p:cNvPr id="12" name="reveal-band">
            <a:extLst xmlns:a="http://schemas.openxmlformats.org/drawingml/2006/main">
              <a:ext uri="{FF2B5EF4-FFF2-40B4-BE49-F238E27FC236}">
                <a16:creationId xmlns:a16="http://schemas.microsoft.com/office/drawing/2014/main" id="{4A4B0A0C-DDAF-4EB7-8BE7-21F78ED4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eal-label">
            <a:extLst xmlns:a="http://schemas.openxmlformats.org/drawingml/2006/main">
              <a:ext uri="{FF2B5EF4-FFF2-40B4-BE49-F238E27FC236}">
                <a16:creationId xmlns:a16="http://schemas.microsoft.com/office/drawing/2014/main" id="{D58D3B66-395F-4009-9110-E3BC0732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REVEAL</a:t>
            </a:r>
          </a:p>
        </p:txBody>
      </p:sp>
      <p:sp>
        <p:nvSpPr>
          <p:cNvPr id="14" name="reveal-text">
            <a:extLst xmlns:a="http://schemas.openxmlformats.org/drawingml/2006/main">
              <a:ext uri="{FF2B5EF4-FFF2-40B4-BE49-F238E27FC236}">
                <a16:creationId xmlns:a16="http://schemas.microsoft.com/office/drawing/2014/main" id="{F8FD3F41-0EF5-4A21-A628-EBC2BCA1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No. A green build proves syntax/linkage, not behavior, boundary safety, or trace quality.</a:t>
            </a:r>
          </a:p>
        </p:txBody>
      </p:sp>
      <p:sp>
        <p:nvSpPr>
          <p:cNvPr id="15" name="eyebrow-68">
            <a:extLst xmlns:a="http://schemas.openxmlformats.org/drawingml/2006/main">
              <a:ext uri="{FF2B5EF4-FFF2-40B4-BE49-F238E27FC236}">
                <a16:creationId xmlns:a16="http://schemas.microsoft.com/office/drawing/2014/main" id="{CA6338C7-ECE2-4CAE-9FF0-BBC444E3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CH 8  /  CAPSTONE</a:t>
            </a:r>
          </a:p>
        </p:txBody>
      </p:sp>
      <p:sp>
        <p:nvSpPr>
          <p:cNvPr id="16" name="title-68">
            <a:extLst xmlns:a="http://schemas.openxmlformats.org/drawingml/2006/main">
              <a:ext uri="{FF2B5EF4-FFF2-40B4-BE49-F238E27FC236}">
                <a16:creationId xmlns:a16="http://schemas.microsoft.com/office/drawing/2014/main" id="{23365F62-457E-446B-9E5E-2934A34E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Compilation is necessary—and insufficient</a:t>
            </a:r>
          </a:p>
        </p:txBody>
      </p:sp>
      <p:cxnSp>
        <p:nvCxnSpPr>
          <p:cNvPr id="35" name="header-rule-68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F9B"/>
            </a:solidFill>
            <a:prstDash val="solid"/>
          </a:ln>
        </p:spPr>
      </p:cxnSp>
      <p:sp>
        <p:nvSpPr>
          <p:cNvPr id="18" name="footer-68">
            <a:extLst xmlns:a="http://schemas.openxmlformats.org/drawingml/2006/main">
              <a:ext uri="{FF2B5EF4-FFF2-40B4-BE49-F238E27FC236}">
                <a16:creationId xmlns:a16="http://schemas.microsoft.com/office/drawing/2014/main" id="{3CB95FCB-CE0F-4E2A-91EF-AC9C6E1D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68   •   Self-modification capstone</a:t>
            </a:r>
          </a:p>
        </p:txBody>
      </p:sp>
    </p:spTree>
    <p:extLst>
      <p:ext uri="{BB962C8B-B14F-4D97-AF65-F5344CB8AC3E}">
        <p14:creationId xmlns:p14="http://schemas.microsoft.com/office/powerpoint/2010/main" val="203351215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adder-0">
            <a:extLst xmlns:a="http://schemas.openxmlformats.org/drawingml/2006/main">
              <a:ext uri="{FF2B5EF4-FFF2-40B4-BE49-F238E27FC236}">
                <a16:creationId xmlns:a16="http://schemas.microsoft.com/office/drawing/2014/main" id="{0D54F208-EADF-4CB1-89D0-4C70B66F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67350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2" name="ladder-num-0">
            <a:extLst xmlns:a="http://schemas.openxmlformats.org/drawingml/2006/main">
              <a:ext uri="{FF2B5EF4-FFF2-40B4-BE49-F238E27FC236}">
                <a16:creationId xmlns:a16="http://schemas.microsoft.com/office/drawing/2014/main" id="{3A6FF7CB-00A0-43FC-9C4A-4C39568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467350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" name="ladder-name-0">
            <a:extLst xmlns:a="http://schemas.openxmlformats.org/drawingml/2006/main">
              <a:ext uri="{FF2B5EF4-FFF2-40B4-BE49-F238E27FC236}">
                <a16:creationId xmlns:a16="http://schemas.microsoft.com/office/drawing/2014/main" id="{D0E19D6C-5AFC-46DF-943A-D42343C8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DIFF</a:t>
            </a:r>
          </a:p>
        </p:txBody>
      </p:sp>
      <p:sp>
        <p:nvSpPr>
          <p:cNvPr id="4" name="ladder-body-0">
            <a:extLst xmlns:a="http://schemas.openxmlformats.org/drawingml/2006/main">
              <a:ext uri="{FF2B5EF4-FFF2-40B4-BE49-F238E27FC236}">
                <a16:creationId xmlns:a16="http://schemas.microsoft.com/office/drawing/2014/main" id="{AB8BD290-7301-4036-BC56-29C3090F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intended scope</a:t>
            </a:r>
          </a:p>
        </p:txBody>
      </p:sp>
      <p:sp>
        <p:nvSpPr>
          <p:cNvPr id="5" name="ladder-1">
            <a:extLst xmlns:a="http://schemas.openxmlformats.org/drawingml/2006/main">
              <a:ext uri="{FF2B5EF4-FFF2-40B4-BE49-F238E27FC236}">
                <a16:creationId xmlns:a16="http://schemas.microsoft.com/office/drawing/2014/main" id="{027EFE44-68F5-44D0-8A95-4B444D8D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29175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6" name="ladder-num-1">
            <a:extLst xmlns:a="http://schemas.openxmlformats.org/drawingml/2006/main">
              <a:ext uri="{FF2B5EF4-FFF2-40B4-BE49-F238E27FC236}">
                <a16:creationId xmlns:a16="http://schemas.microsoft.com/office/drawing/2014/main" id="{D16334C2-3059-43B3-B049-6A995907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2917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ladder-name-1">
            <a:extLst xmlns:a="http://schemas.openxmlformats.org/drawingml/2006/main">
              <a:ext uri="{FF2B5EF4-FFF2-40B4-BE49-F238E27FC236}">
                <a16:creationId xmlns:a16="http://schemas.microsoft.com/office/drawing/2014/main" id="{CAAA43F3-6BB3-4574-8645-202C5138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291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8" name="ladder-body-1">
            <a:extLst xmlns:a="http://schemas.openxmlformats.org/drawingml/2006/main">
              <a:ext uri="{FF2B5EF4-FFF2-40B4-BE49-F238E27FC236}">
                <a16:creationId xmlns:a16="http://schemas.microsoft.com/office/drawing/2014/main" id="{116B68B1-FC6A-40C9-B071-B1C14B5B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291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compiles</a:t>
            </a:r>
          </a:p>
        </p:txBody>
      </p:sp>
      <p:sp>
        <p:nvSpPr>
          <p:cNvPr id="9" name="ladder-2">
            <a:extLst xmlns:a="http://schemas.openxmlformats.org/drawingml/2006/main">
              <a:ext uri="{FF2B5EF4-FFF2-40B4-BE49-F238E27FC236}">
                <a16:creationId xmlns:a16="http://schemas.microsoft.com/office/drawing/2014/main" id="{7F410324-6B8C-4E9C-BFE1-B91DD3A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91000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10" name="ladder-num-2">
            <a:extLst xmlns:a="http://schemas.openxmlformats.org/drawingml/2006/main">
              <a:ext uri="{FF2B5EF4-FFF2-40B4-BE49-F238E27FC236}">
                <a16:creationId xmlns:a16="http://schemas.microsoft.com/office/drawing/2014/main" id="{6B690529-C004-41D3-93B3-14AE001D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191000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ladder-name-2">
            <a:extLst xmlns:a="http://schemas.openxmlformats.org/drawingml/2006/main">
              <a:ext uri="{FF2B5EF4-FFF2-40B4-BE49-F238E27FC236}">
                <a16:creationId xmlns:a16="http://schemas.microsoft.com/office/drawing/2014/main" id="{65A8C7E6-EA3B-469D-9CD6-86667CD2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91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EXISTING TESTS</a:t>
            </a:r>
          </a:p>
        </p:txBody>
      </p:sp>
      <p:sp>
        <p:nvSpPr>
          <p:cNvPr id="12" name="ladder-body-2">
            <a:extLst xmlns:a="http://schemas.openxmlformats.org/drawingml/2006/main">
              <a:ext uri="{FF2B5EF4-FFF2-40B4-BE49-F238E27FC236}">
                <a16:creationId xmlns:a16="http://schemas.microsoft.com/office/drawing/2014/main" id="{BA053F66-891C-4842-BF2D-5706927F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no regressions</a:t>
            </a:r>
          </a:p>
        </p:txBody>
      </p:sp>
      <p:sp>
        <p:nvSpPr>
          <p:cNvPr id="13" name="ladder-3">
            <a:extLst xmlns:a="http://schemas.openxmlformats.org/drawingml/2006/main">
              <a:ext uri="{FF2B5EF4-FFF2-40B4-BE49-F238E27FC236}">
                <a16:creationId xmlns:a16="http://schemas.microsoft.com/office/drawing/2014/main" id="{BB6361D9-E359-43DF-8C05-F8E723FB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52825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14" name="ladder-num-3">
            <a:extLst xmlns:a="http://schemas.openxmlformats.org/drawingml/2006/main">
              <a:ext uri="{FF2B5EF4-FFF2-40B4-BE49-F238E27FC236}">
                <a16:creationId xmlns:a16="http://schemas.microsoft.com/office/drawing/2014/main" id="{37CBC4A4-87D3-4A7B-B71D-3B3602D3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5282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ladder-name-3">
            <a:extLst xmlns:a="http://schemas.openxmlformats.org/drawingml/2006/main">
              <a:ext uri="{FF2B5EF4-FFF2-40B4-BE49-F238E27FC236}">
                <a16:creationId xmlns:a16="http://schemas.microsoft.com/office/drawing/2014/main" id="{3B47189D-5452-402F-862D-14DA6A5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FOCUSED TEST</a:t>
            </a:r>
          </a:p>
        </p:txBody>
      </p:sp>
      <p:sp>
        <p:nvSpPr>
          <p:cNvPr id="16" name="ladder-body-3">
            <a:extLst xmlns:a="http://schemas.openxmlformats.org/drawingml/2006/main">
              <a:ext uri="{FF2B5EF4-FFF2-40B4-BE49-F238E27FC236}">
                <a16:creationId xmlns:a16="http://schemas.microsoft.com/office/drawing/2014/main" id="{F2E61385-6C79-44C6-A7A1-B228F060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528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new behavior</a:t>
            </a:r>
          </a:p>
        </p:txBody>
      </p:sp>
      <p:sp>
        <p:nvSpPr>
          <p:cNvPr id="17" name="ladder-4">
            <a:extLst xmlns:a="http://schemas.openxmlformats.org/drawingml/2006/main">
              <a:ext uri="{FF2B5EF4-FFF2-40B4-BE49-F238E27FC236}">
                <a16:creationId xmlns:a16="http://schemas.microsoft.com/office/drawing/2014/main" id="{FDA2B4C7-BC31-4558-96C5-C21A9998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146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18" name="ladder-num-4">
            <a:extLst xmlns:a="http://schemas.openxmlformats.org/drawingml/2006/main">
              <a:ext uri="{FF2B5EF4-FFF2-40B4-BE49-F238E27FC236}">
                <a16:creationId xmlns:a16="http://schemas.microsoft.com/office/drawing/2014/main" id="{298FC77D-B1DE-49F4-9740-5989BC2C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14650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ladder-name-4">
            <a:extLst xmlns:a="http://schemas.openxmlformats.org/drawingml/2006/main">
              <a:ext uri="{FF2B5EF4-FFF2-40B4-BE49-F238E27FC236}">
                <a16:creationId xmlns:a16="http://schemas.microsoft.com/office/drawing/2014/main" id="{EA67A687-F8E7-45FE-97EC-B7D037B8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146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SAFETY TEST</a:t>
            </a:r>
          </a:p>
        </p:txBody>
      </p:sp>
      <p:sp>
        <p:nvSpPr>
          <p:cNvPr id="20" name="ladder-body-4">
            <a:extLst xmlns:a="http://schemas.openxmlformats.org/drawingml/2006/main">
              <a:ext uri="{FF2B5EF4-FFF2-40B4-BE49-F238E27FC236}">
                <a16:creationId xmlns:a16="http://schemas.microsoft.com/office/drawing/2014/main" id="{F45542EA-8A7A-4022-8544-508E309C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boundary holds</a:t>
            </a:r>
          </a:p>
        </p:txBody>
      </p:sp>
      <p:sp>
        <p:nvSpPr>
          <p:cNvPr id="21" name="ladder-5">
            <a:extLst xmlns:a="http://schemas.openxmlformats.org/drawingml/2006/main">
              <a:ext uri="{FF2B5EF4-FFF2-40B4-BE49-F238E27FC236}">
                <a16:creationId xmlns:a16="http://schemas.microsoft.com/office/drawing/2014/main" id="{5F9A3A57-C11D-47AC-ABCA-D2BF8A5F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76475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F9B"/>
          </a:solidFill>
          <a:ln xmlns:a="http://schemas.openxmlformats.org/drawingml/2006/main" w="9525">
            <a:solidFill>
              <a:srgbClr val="3D5F9B"/>
            </a:solidFill>
            <a:prstDash val="solid"/>
          </a:ln>
        </p:spPr>
      </p:sp>
      <p:sp>
        <p:nvSpPr>
          <p:cNvPr id="22" name="ladder-num-5">
            <a:extLst xmlns:a="http://schemas.openxmlformats.org/drawingml/2006/main">
              <a:ext uri="{FF2B5EF4-FFF2-40B4-BE49-F238E27FC236}">
                <a16:creationId xmlns:a16="http://schemas.microsoft.com/office/drawing/2014/main" id="{777FB5EC-7451-47A9-83F7-60472FB2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7647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ladder-name-5">
            <a:extLst xmlns:a="http://schemas.openxmlformats.org/drawingml/2006/main">
              <a:ext uri="{FF2B5EF4-FFF2-40B4-BE49-F238E27FC236}">
                <a16:creationId xmlns:a16="http://schemas.microsoft.com/office/drawing/2014/main" id="{57D20D92-BB10-4C63-8837-5D47DD8D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764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DECISION</a:t>
            </a:r>
          </a:p>
        </p:txBody>
      </p:sp>
      <p:sp>
        <p:nvSpPr>
          <p:cNvPr id="24" name="ladder-body-5">
            <a:extLst xmlns:a="http://schemas.openxmlformats.org/drawingml/2006/main">
              <a:ext uri="{FF2B5EF4-FFF2-40B4-BE49-F238E27FC236}">
                <a16:creationId xmlns:a16="http://schemas.microsoft.com/office/drawing/2014/main" id="{5226C74B-5964-4832-9CAB-47BF3991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/ amend / discard</a:t>
            </a:r>
          </a:p>
        </p:txBody>
      </p:sp>
      <p:sp>
        <p:nvSpPr>
          <p:cNvPr id="25" name="eyebrow-69">
            <a:extLst xmlns:a="http://schemas.openxmlformats.org/drawingml/2006/main">
              <a:ext uri="{FF2B5EF4-FFF2-40B4-BE49-F238E27FC236}">
                <a16:creationId xmlns:a16="http://schemas.microsoft.com/office/drawing/2014/main" id="{3376C56E-992B-430C-9FFC-CDA0F0D0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CH 8  /  CAPSTONE</a:t>
            </a:r>
          </a:p>
        </p:txBody>
      </p:sp>
      <p:sp>
        <p:nvSpPr>
          <p:cNvPr id="26" name="title-69">
            <a:extLst xmlns:a="http://schemas.openxmlformats.org/drawingml/2006/main">
              <a:ext uri="{FF2B5EF4-FFF2-40B4-BE49-F238E27FC236}">
                <a16:creationId xmlns:a16="http://schemas.microsoft.com/office/drawing/2014/main" id="{C8A2B214-F030-4DBD-8183-03F56F74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Evidence gets stronger as it climbs</a:t>
            </a:r>
          </a:p>
        </p:txBody>
      </p:sp>
      <p:cxnSp>
        <p:nvCxnSpPr>
          <p:cNvPr id="55" name="header-rule-69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F9B"/>
            </a:solidFill>
            <a:prstDash val="solid"/>
          </a:ln>
        </p:spPr>
      </p:cxnSp>
      <p:sp>
        <p:nvSpPr>
          <p:cNvPr id="28" name="footer-69">
            <a:extLst xmlns:a="http://schemas.openxmlformats.org/drawingml/2006/main">
              <a:ext uri="{FF2B5EF4-FFF2-40B4-BE49-F238E27FC236}">
                <a16:creationId xmlns:a16="http://schemas.microsoft.com/office/drawing/2014/main" id="{BEE2CB66-5D2B-4DDA-BE2D-13016FA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69   •   Self-modification capstone</a:t>
            </a:r>
          </a:p>
        </p:txBody>
      </p:sp>
    </p:spTree>
    <p:extLst>
      <p:ext uri="{BB962C8B-B14F-4D97-AF65-F5344CB8AC3E}">
        <p14:creationId xmlns:p14="http://schemas.microsoft.com/office/powerpoint/2010/main" val="104794301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ubric-num-0">
            <a:extLst xmlns:a="http://schemas.openxmlformats.org/drawingml/2006/main">
              <a:ext uri="{FF2B5EF4-FFF2-40B4-BE49-F238E27FC236}">
                <a16:creationId xmlns:a16="http://schemas.microsoft.com/office/drawing/2014/main" id="{833DB455-683C-453B-BEE7-8AC2CC39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" name="rubric-label-0">
            <a:extLst xmlns:a="http://schemas.openxmlformats.org/drawingml/2006/main">
              <a:ext uri="{FF2B5EF4-FFF2-40B4-BE49-F238E27FC236}">
                <a16:creationId xmlns:a16="http://schemas.microsoft.com/office/drawing/2014/main" id="{8C70FBBB-D76A-4DE4-B09B-E14F8A4D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3" name="rubric-body-0">
            <a:extLst xmlns:a="http://schemas.openxmlformats.org/drawingml/2006/main">
              <a:ext uri="{FF2B5EF4-FFF2-40B4-BE49-F238E27FC236}">
                <a16:creationId xmlns:a16="http://schemas.microsoft.com/office/drawing/2014/main" id="{D7827D26-FF1D-45E0-BF5B-27C0B642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19250"/>
            <a:ext cx="779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small diff; isolated workspace</a:t>
            </a:r>
          </a:p>
        </p:txBody>
      </p:sp>
      <p:cxnSp>
        <p:nvCxnSpPr>
          <p:cNvPr id="30" name="rubric-line-0"/>
          <p:cNvCxnSpPr/>
          <p:nvPr/>
        </p:nvCxnSpPr>
        <p:spPr>
          <a:xfrm xmlns:a="http://schemas.openxmlformats.org/drawingml/2006/main">
            <a:off x="533400" y="23241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5" name="rubric-num-1">
            <a:extLst xmlns:a="http://schemas.openxmlformats.org/drawingml/2006/main">
              <a:ext uri="{FF2B5EF4-FFF2-40B4-BE49-F238E27FC236}">
                <a16:creationId xmlns:a16="http://schemas.microsoft.com/office/drawing/2014/main" id="{2365C7FF-53A2-4155-9CC8-028B4F1D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ubric-label-1">
            <a:extLst xmlns:a="http://schemas.openxmlformats.org/drawingml/2006/main">
              <a:ext uri="{FF2B5EF4-FFF2-40B4-BE49-F238E27FC236}">
                <a16:creationId xmlns:a16="http://schemas.microsoft.com/office/drawing/2014/main" id="{F22826C3-CF44-4160-A482-6E2B1434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7" name="rubric-body-1">
            <a:extLst xmlns:a="http://schemas.openxmlformats.org/drawingml/2006/main">
              <a:ext uri="{FF2B5EF4-FFF2-40B4-BE49-F238E27FC236}">
                <a16:creationId xmlns:a16="http://schemas.microsoft.com/office/drawing/2014/main" id="{1C7917A1-A54D-4A38-B661-99B74879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24100"/>
            <a:ext cx="779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focused test passes</a:t>
            </a:r>
          </a:p>
        </p:txBody>
      </p:sp>
      <p:cxnSp>
        <p:nvCxnSpPr>
          <p:cNvPr id="34" name="rubric-line-1"/>
          <p:cNvCxnSpPr/>
          <p:nvPr/>
        </p:nvCxnSpPr>
        <p:spPr>
          <a:xfrm xmlns:a="http://schemas.openxmlformats.org/drawingml/2006/main">
            <a:off x="533400" y="3028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9" name="rubric-num-2">
            <a:extLst xmlns:a="http://schemas.openxmlformats.org/drawingml/2006/main">
              <a:ext uri="{FF2B5EF4-FFF2-40B4-BE49-F238E27FC236}">
                <a16:creationId xmlns:a16="http://schemas.microsoft.com/office/drawing/2014/main" id="{AABB1149-8539-4FDC-8F0C-80E48441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rubric-label-2">
            <a:extLst xmlns:a="http://schemas.openxmlformats.org/drawingml/2006/main">
              <a:ext uri="{FF2B5EF4-FFF2-40B4-BE49-F238E27FC236}">
                <a16:creationId xmlns:a16="http://schemas.microsoft.com/office/drawing/2014/main" id="{AAD9D8FF-36B5-428F-B738-679DC7A0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289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1" name="rubric-body-2">
            <a:extLst xmlns:a="http://schemas.openxmlformats.org/drawingml/2006/main">
              <a:ext uri="{FF2B5EF4-FFF2-40B4-BE49-F238E27FC236}">
                <a16:creationId xmlns:a16="http://schemas.microsoft.com/office/drawing/2014/main" id="{7C52EEE1-A38E-447B-B510-43AC7C8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779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escape and misuse fail closed</a:t>
            </a:r>
          </a:p>
        </p:txBody>
      </p:sp>
      <p:cxnSp>
        <p:nvCxnSpPr>
          <p:cNvPr id="38" name="rubric-line-2"/>
          <p:cNvCxnSpPr/>
          <p:nvPr/>
        </p:nvCxnSpPr>
        <p:spPr>
          <a:xfrm xmlns:a="http://schemas.openxmlformats.org/drawingml/2006/main">
            <a:off x="533400" y="3733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3" name="rubric-num-3">
            <a:extLst xmlns:a="http://schemas.openxmlformats.org/drawingml/2006/main">
              <a:ext uri="{FF2B5EF4-FFF2-40B4-BE49-F238E27FC236}">
                <a16:creationId xmlns:a16="http://schemas.microsoft.com/office/drawing/2014/main" id="{4E012236-87AF-4B6D-B8A0-1B511352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rubric-label-3">
            <a:extLst xmlns:a="http://schemas.openxmlformats.org/drawingml/2006/main">
              <a:ext uri="{FF2B5EF4-FFF2-40B4-BE49-F238E27FC236}">
                <a16:creationId xmlns:a16="http://schemas.microsoft.com/office/drawing/2014/main" id="{420796C8-F28F-41F9-B724-D424487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5" name="rubric-body-3">
            <a:extLst xmlns:a="http://schemas.openxmlformats.org/drawingml/2006/main">
              <a:ext uri="{FF2B5EF4-FFF2-40B4-BE49-F238E27FC236}">
                <a16:creationId xmlns:a16="http://schemas.microsoft.com/office/drawing/2014/main" id="{929283E2-47A4-4E4C-88E9-1D71EE5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779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calls, results, limits visible</a:t>
            </a:r>
          </a:p>
        </p:txBody>
      </p:sp>
      <p:cxnSp>
        <p:nvCxnSpPr>
          <p:cNvPr id="42" name="rubric-line-3"/>
          <p:cNvCxnSpPr/>
          <p:nvPr/>
        </p:nvCxnSpPr>
        <p:spPr>
          <a:xfrm xmlns:a="http://schemas.openxmlformats.org/drawingml/2006/main">
            <a:off x="533400" y="4438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17" name="rubric-num-4">
            <a:extLst xmlns:a="http://schemas.openxmlformats.org/drawingml/2006/main">
              <a:ext uri="{FF2B5EF4-FFF2-40B4-BE49-F238E27FC236}">
                <a16:creationId xmlns:a16="http://schemas.microsoft.com/office/drawing/2014/main" id="{78F8FA76-850E-4B21-B62C-11AE85F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8" name="rubric-label-4">
            <a:extLst xmlns:a="http://schemas.openxmlformats.org/drawingml/2006/main">
              <a:ext uri="{FF2B5EF4-FFF2-40B4-BE49-F238E27FC236}">
                <a16:creationId xmlns:a16="http://schemas.microsoft.com/office/drawing/2014/main" id="{B4D3B157-BBC8-4C3D-BC0D-49C5CE7D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9" name="rubric-body-4">
            <a:extLst xmlns:a="http://schemas.openxmlformats.org/drawingml/2006/main">
              <a:ext uri="{FF2B5EF4-FFF2-40B4-BE49-F238E27FC236}">
                <a16:creationId xmlns:a16="http://schemas.microsoft.com/office/drawing/2014/main" id="{09CAB7BC-1BE0-4810-9A06-C4537392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38650"/>
            <a:ext cx="779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keep, amend, or discard with reasons</a:t>
            </a:r>
          </a:p>
        </p:txBody>
      </p:sp>
      <p:cxnSp>
        <p:nvCxnSpPr>
          <p:cNvPr id="46" name="rubric-line-4"/>
          <p:cNvCxnSpPr/>
          <p:nvPr/>
        </p:nvCxnSpPr>
        <p:spPr>
          <a:xfrm xmlns:a="http://schemas.openxmlformats.org/drawingml/2006/main">
            <a:off x="533400" y="51435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2DC"/>
            </a:solidFill>
            <a:prstDash val="solid"/>
          </a:ln>
        </p:spPr>
      </p:cxnSp>
      <p:sp>
        <p:nvSpPr>
          <p:cNvPr id="21" name="rubric-close">
            <a:extLst xmlns:a="http://schemas.openxmlformats.org/drawingml/2006/main">
              <a:ext uri="{FF2B5EF4-FFF2-40B4-BE49-F238E27FC236}">
                <a16:creationId xmlns:a16="http://schemas.microsoft.com/office/drawing/2014/main" id="{8856EF28-91DE-4238-90BA-DCF71AB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ubric-close-text">
            <a:extLst xmlns:a="http://schemas.openxmlformats.org/drawingml/2006/main">
              <a:ext uri="{FF2B5EF4-FFF2-40B4-BE49-F238E27FC236}">
                <a16:creationId xmlns:a16="http://schemas.microsoft.com/office/drawing/2014/main" id="{A05690F5-798C-4C94-9174-DEE11365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goal is not autonomous magic. It is controlled engineering with evidence.</a:t>
            </a:r>
          </a:p>
        </p:txBody>
      </p:sp>
      <p:sp>
        <p:nvSpPr>
          <p:cNvPr id="23" name="eyebrow-70">
            <a:extLst xmlns:a="http://schemas.openxmlformats.org/drawingml/2006/main">
              <a:ext uri="{FF2B5EF4-FFF2-40B4-BE49-F238E27FC236}">
                <a16:creationId xmlns:a16="http://schemas.microsoft.com/office/drawing/2014/main" id="{1E554E13-3E5A-498E-9169-CA96C848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F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5F9B"/>
                </a:solidFill>
                <a:latin typeface="Aptos"/>
                <a:ea typeface="Aptos"/>
                <a:cs typeface="Aptos"/>
              </a:rPr>
              <a:t>CH 8  /  CAPSTONE</a:t>
            </a:r>
          </a:p>
        </p:txBody>
      </p:sp>
      <p:sp>
        <p:nvSpPr>
          <p:cNvPr id="24" name="title-70">
            <a:extLst xmlns:a="http://schemas.openxmlformats.org/drawingml/2006/main">
              <a:ext uri="{FF2B5EF4-FFF2-40B4-BE49-F238E27FC236}">
                <a16:creationId xmlns:a16="http://schemas.microsoft.com/office/drawing/2014/main" id="{08850BF3-F911-4E54-96A3-D1F653E1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Ship only a narrow, evidenced change</a:t>
            </a:r>
          </a:p>
        </p:txBody>
      </p:sp>
      <p:cxnSp>
        <p:nvCxnSpPr>
          <p:cNvPr id="51" name="header-rule-70"/>
          <p:cNvCxnSpPr/>
          <p:nvPr/>
        </p:nvCxn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F9B"/>
            </a:solidFill>
            <a:prstDash val="solid"/>
          </a:ln>
        </p:spPr>
      </p:cxnSp>
      <p:sp>
        <p:nvSpPr>
          <p:cNvPr id="26" name="footer-70">
            <a:extLst xmlns:a="http://schemas.openxmlformats.org/drawingml/2006/main">
              <a:ext uri="{FF2B5EF4-FFF2-40B4-BE49-F238E27FC236}">
                <a16:creationId xmlns:a16="http://schemas.microsoft.com/office/drawing/2014/main" id="{C293C59F-767C-4418-9AAC-0E04AC3C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70   •   Self-modification capstone</a:t>
            </a:r>
          </a:p>
        </p:txBody>
      </p:sp>
    </p:spTree>
    <p:extLst>
      <p:ext uri="{BB962C8B-B14F-4D97-AF65-F5344CB8AC3E}">
        <p14:creationId xmlns:p14="http://schemas.microsoft.com/office/powerpoint/2010/main" val="1136317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2026-08-09T14:46:31.8320000Z</dcterms:created>
  <dcterms:modified xsi:type="dcterms:W3CDTF">2026-08-09T14:46:31.8320000Z</dcterms:modified>
</coreProperties>
</file>